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66504B3-B1AE-7962-3EB9-96521921A261}">
          <p14:sldIdLst>
            <p14:sldId id="256"/>
            <p14:sldId id="257"/>
            <p14:sldId id="258"/>
            <p14:sldId id="259"/>
          </p14:sldIdLst>
        </p14:section>
        <p14:section name="MCP" id="{947ED89C-5546-FC6E-B41D-FDA953BAA593}">
          <p14:sldIdLst>
            <p14:sldId id="260"/>
            <p14:sldId id="261"/>
          </p14:sldIdLst>
        </p14:section>
        <p14:section name="Building the map" id="{93060B63-9639-33C7-662B-25D4FC74FC84}">
          <p14:sldIdLst>
            <p14:sldId id="262"/>
            <p14:sldId id="263"/>
            <p14:sldId id="264"/>
          </p14:sldIdLst>
        </p14:section>
        <p14:section name="Demo" id="{08DA9C14-3060-0F72-5BD8-7A2079516688}">
          <p14:sldIdLst>
            <p14:sldId id="265"/>
          </p14:sldIdLst>
        </p14:section>
        <p14:section name="Safeguards" id="{6D76FCDB-E10B-492A-1016-5465A5BA296E}">
          <p14:sldIdLst>
            <p14:sldId id="266"/>
            <p14:sldId id="267"/>
            <p14:sldId id="268"/>
            <p14:sldId id="269"/>
          </p14:sldIdLst>
        </p14:section>
        <p14:section name="Wrap-up" id="{61FB5D8C-1878-1330-06F4-C900FC4D23FE}">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01399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(45 sec)]
Good evening everyone, and welcome to Security and AI with the Microsoft Azure Community User Group. A big thank you to Nicholas for having me tonight.
My session is called See Your Attack Surface: Mapping Azure with an MCP Server.
Over the next thirty minutes I want to show you something simple but powerful. We are going to point an AI assistant at an Azure subscription, let it draw the whole environment as a graph, and then read that graph the way an attacker would, to find what is exposed. Let's get into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(1 min)]
Quickly about me. I'm Konstantinos Lianos, a cloud security specialist focused on Microsoft Security and Microsoft Sentinel. I'm a Microsoft Global Community Initiative Regional Leader, a Senior Microsoft Student Ambassador, and I hold the CISA certification.
Most of my time goes into building tools. Sentinel data connectors with the Codeless Connector Framework, scanners, and lately MCP servers.
Everything I show tonight follows one rule I apply to every tool I build. If the tool says something about your environment, it has to have seen it. Keep that in mind, because it comes back later.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[1:45 (1.5 min)]
Let's start with a question. Could you draw your Azure subscription from memory right now? Every public IP, every network security group, every resource that can reach another resource?
Most of us can't. And that is not a skills problem. It is a tooling problem. The portal shows us resources as lists. Resource groups, blades, tables. Great for managing things. Terrible for understanding exposure.
John Lambert from Microsoft said it years ago. Defenders think in lists. Attackers think in graphs.
An attacker does not care that a VM sits in resource group B. They care that a public IP leads to a network interface, which leads to that VM, which can reach a storage account. That is a path. And you only see paths in a graph. So tonight, let's give defenders the graph.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[3:15 (30 sec)]
Here is the plan. First, a quick intro to MCP, the Model Context Protocol, and why it fits security tooling. Second, how I built an MCP server that maps a subscription. Third, a live demo. Fourth, the part I think matters most: the safeguards you need when you point AI at a real tenant. And finally, where this goes next.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[3:45 (2 min)]
So what is MCP? The Model Context Protocol is an open standard for connecting AI assistants to tools and data. Think of it as a USB port for AI.
On one side you have the host, the AI assistant you chat with. On the other side you have an MCP server. That is just a program that exposes a set of tools. Each tool has a name, a description, and a defined input.
The assistant reads those descriptions, decides which tool to call, and the server does the real work. In our case, the server is the one talking to Azure.
Here is the key point. The model never touches Azure directly. It only sees what the server chooses to return. That separation is the whole reason this works for security.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[5:45 (1.5 min)]
Why does that matter for security people? Four reasons.
One, the tools are scoped. You decide exactly which operations exist. If there is no delete tool, the model cannot delete anything, no matter what anyone asks it.
Two, the output is structured. You control what data goes back to the model, so you control what could leak.
Three, it is reusable. Write the server once and it works with any MCP client.
Four, it is conversational. Instead of writing a new query for every question, you ask what is exposed to the internet and the assistant chains the right tools. You get the speed of AI with guardrails written in code.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[7:15 (2 min)]
Here is how the server is built. It is written in Python.
On the left are the data sources. Azure Resource Graph is the workhorse. It lets you query every resource in a subscription with KQL, and it is fast. Where Resource Graph does not give enough detail, the server calls the Azure Management API.
In the middle is the MCP server. It scans, normalizes everything into one consistent model, and builds the graph. Resources become nodes. Relationships become edges.
On the right is the output: an interactive graph rendered with Cytoscape.js as a self-contained HTML file. It works offline, so you never upload your topology anywhere just to look at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[9:15 (1.5 min)]
What does building edges actually mean? Resource Graph gives you inventory, but the relationships are hidden inside properties.
A public IP has a property pointing to the network interface configuration it is attached to. That network interface has a property pointing to the virtual machine that owns it, and another pointing to its subnet.
The server walks those references and turns them into edges. This query is a simple example. It finds every public IP and what it is attached to. Each row becomes an edge from something facing the internet to something inside your network.
Do that for every reference type and the list becomes a map.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[10:45 (1.5 min)]
Once you have the map, you read it differently. I look for three things.
First, exposed edges. Anything that connects the internet to your resources. Public IPs, open inbound NSG rules, public network access on PaaS services.
Second, blast radius. Pick any node and ask: if this is compromised, what can it reach? In a graph that is a traversal, not a guess.
Third, the forgotten stuff. Orphaned public IPs, disks with no VM, NSGs attached to nothing. Things nobody owns are things nobody patches.
Enough slides. Let me show you.
DO: press Alt+Tab to VS Code.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[12:15 (4 min, 3 to 5)]
DO = what you do. SAY = what you say.
DO: Before speaking, the demo chat and the map are already open from the 19:30 prep. On "Let me show you", press Alt+Tab to VS Code.
1. SCAN (about 1 min)
DO: scroll to the answer to prompt 1.
SAY: "This is a lab I built for tonight. I already asked the assistant to scan it. Every tool here is read-only, and the identity behind it only has Reader on one resource group."
2. ZOOM OUT (about 1 min)
DO: switch to the map tab in the browser and zoom out.
SAY: "This is the whole lab. Every dot is a resource, every line is a relationship."
3. FOLLOW A PATH (about 1 min)
DO: scroll to the answer to prompt 3, then on the map click pip-web-01 and follow it to vm-web-01VMNic and vm-web-01.
SAY: "That is an exposure path. I didn't write a single query to find it."
DO: type live in Claude Code: What allows port 22 from the Internet?
SAY: "And there's the rule that opens it: default-allow-ssh on nsg-app."
4. PRECISION RULE (about 1 min)
DO: scroll to the answer to prompt 4.
SAY: "It didn't guess from the name. It shows the exact fields behind the verdict, and anything it can't read stays unknown."
SAY: "Let's go back to the slides, because how this stays safe matters more than how it looks."
DO: press Alt+Tab to PowerPoint, then the right arrow to go to slide 11.
Short on time: skip the live prompt in step 3. Anything stalls for more than 30 seconds: say "live demos, right?", play the backup recording, and narrate the same four steps.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[16:15 (1.5 min)]
Now the most important part. When you point AI at a real tenant, the first question is: what can it break?
My answer is nothing, by design. The identity behind the server has the Reader role. The server only exposes read tools. There is no create, update or delete anywhere in it.
That is enforced in two layers. Azure RBAC on the identity, and the tool list in the server. If someone tries a prompt injection that says "delete this resource group", there is simply no tool to do it.
Don't rely on the model to behave. Rely on the model not having the capability.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[17:45 (1.5 min)]
Second safeguard: leak detection. A subscription scan is full of sensitive data. Subscription IDs, tenant IDs, IP addresses, resource names that reveal clients or projects, and sometimes secrets hiding in tags.
That data can leak in two places. Into the prompt, which means into a model's context. And into a public repo, when you share your tool or its output.
So I built leak-detection checks that run before anything leaves. If they find an ID, a key, or anything that looks like a secret, the release stops.
Treat your topology as sensitive data. To an attacker, it is a blueprint.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[19:15 (1.5 min)]
Third, the precision rule. Every finding must come from actual scan data. If the scanner did not see it, the answer is unknown. Never guessed.
Here is why. Imagine a storage account called prod-backup-private. Ask an AI model and it will happily tell you it is private. The name says so!
But a name is just a string someone typed. The only thing that tells you the truth is the network setting on the resource itself. If the scanner can read it, report it. If it can't, say unknown.
A wrong "safe" is worse than no answer. An unknown makes you go and check. A wrong "safe" makes you stop looking.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[20:45 (1.5 min)]
A few lessons from validating this against a live subscription.
It took around fifteen rounds of bug fixes before I trusted the output. Every one of them came from comparing the graph against what was really there. Synthetic test data would never have found them.
Large subscriptions need paging. Resource Graph returns results in pages, and if you don't follow the continuation token you silently miss resources. Silent misses are the worst bug a security tool can have.
And noise is real. A raw graph of a big subscription is a hairball, so grouping and filtering matter as much as collecting.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[22:15 (1 min)]
Where does this go next? The same map can answer two more security questions, and that is the next phase on my roadmap.
First, Defender for Cloud coverage. Overlay which Defender plans protect which resources, so gaps in protection show up as gaps in the graph.
Second, log flow into Sentinel. Check which resources actually send logs to your Sentinel workspace, so you can see where your SOC is blind.
To be clear, this phase is designed but not built yet. I would love to hear from this community what you'd want to see in it.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[23:15 (1 min)]
Three things to take home.
One. Attackers think in graphs, so give your defenders a graph.
Two. MCP lets you put AI on top of your environment with guardrails written in code, not in prompts.
Three. Read-only, leak detection and the precision rule are not optional extras. They are what makes the tool trustworthy.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[24:15 (about 5 min with Q&amp;A)]
That's it from me. Thank you all for being here, and a big thank you again to Nicholas and the Microsoft Azure Community User Group for the opportunity.
You can find me on LinkedIn, and on GitHub as KanenasCS. Happy to take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6126480"/>
            <a:ext cx="5486400" cy="365760"/>
          </a:xfrm>
          <a:prstGeom prst="rect">
            <a:avLst/>
          </a:prstGeom>
          <a:noFill/>
          <a:ln/>
        </p:spPr>
        <p:txBody>
          <a:bodyPr wrap="square" lIns="0" tIns="0" rIns="0" bIns="0" rtlCol="0" anchor="ctr"/>
          <a:lstStyle/>
          <a:p>
            <a:pPr marL="0" indent="0">
              <a:buNone/>
            </a:pPr>
            <a:r>
              <a:rPr lang="en-US" sz="1600" b="1" kern="0" spc="100" dirty="0">
                <a:solidFill>
                  <a:schemeClr val="accent1"/>
                </a:solidFill>
                <a:latin typeface="Arial" pitchFamily="34" charset="0"/>
                <a:ea typeface="Arial" pitchFamily="34" charset="-122"/>
                <a:cs typeface="Arial" pitchFamily="34" charset="-120"/>
              </a:rPr>
              <a:t>LEARN. CONNECT. GROW.</a:t>
            </a:r>
            <a:endParaRPr lang="en-US" sz="1600" dirty="0"/>
          </a:p>
        </p:txBody>
      </p:sp>
      <p:sp>
        <p:nvSpPr>
          <p:cNvPr id="3" name="Text 1"/>
          <p:cNvSpPr>
            <a:spLocks noGrp="1"/>
          </p:cNvSpPr>
          <p:nvPr>
            <p:ph type="title" idx="101" hasCustomPrompt="1"/>
          </p:nvPr>
        </p:nvSpPr>
        <p:spPr>
          <a:xfrm>
            <a:off x="640080" y="1280160"/>
            <a:ext cx="6583680" cy="914400"/>
          </a:xfrm>
          <a:prstGeom prst="rect">
            <a:avLst/>
          </a:prstGeom>
          <a:noFill/>
          <a:ln/>
        </p:spPr>
        <p:txBody>
          <a:bodyPr wrap="square" rtlCol="0"/>
          <a:lstStyle>
            <a:lvl1pPr marL="0" indent="0" algn="l">
              <a:buNone/>
              <a:defRPr lang="en-US" sz="5400" b="1" dirty="0">
                <a:solidFill>
                  <a:schemeClr val="bg1"/>
                </a:solidFill>
              </a:defRPr>
            </a:lvl1pPr>
          </a:lstStyle>
          <a:p>
            <a:pPr marL="0" indent="0" algn="l">
              <a:buNone/>
            </a:pPr>
            <a:endParaRPr lang="en-US" sz="5400" dirty="0"/>
          </a:p>
        </p:txBody>
      </p:sp>
      <p:sp>
        <p:nvSpPr>
          <p:cNvPr id="4" name="Text 1"/>
          <p:cNvSpPr>
            <a:spLocks noGrp="1"/>
          </p:cNvSpPr>
          <p:nvPr>
            <p:ph type="body" idx="102" hasCustomPrompt="1"/>
          </p:nvPr>
        </p:nvSpPr>
        <p:spPr>
          <a:xfrm>
            <a:off x="640080" y="2468880"/>
            <a:ext cx="6217920" cy="1097280"/>
          </a:xfrm>
          <a:prstGeom prst="rect">
            <a:avLst/>
          </a:prstGeom>
          <a:noFill/>
          <a:ln/>
        </p:spPr>
        <p:txBody>
          <a:bodyPr wrap="square" rtlCol="0"/>
          <a:lstStyle>
            <a:lvl1pPr marL="0" indent="0" algn="l">
              <a:buNone/>
              <a:defRPr lang="en-US" sz="2400" b="1" dirty="0">
                <a:solidFill>
                  <a:schemeClr val="bg1"/>
                </a:solidFill>
                <a:latin typeface="Arial" pitchFamily="34" charset="0"/>
                <a:ea typeface="Arial" pitchFamily="34" charset="-122"/>
                <a:cs typeface="Arial" pitchFamily="34" charset="-120"/>
              </a:defRPr>
            </a:lvl1pPr>
          </a:lstStyle>
          <a:p>
            <a:pPr marL="0" indent="0" algn="l">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502920"/>
            <a:ext cx="594360" cy="0"/>
          </a:xfrm>
          <a:prstGeom prst="line">
            <a:avLst/>
          </a:prstGeom>
          <a:noFill/>
          <a:ln w="12700">
            <a:solidFill>
              <a:schemeClr val="accent1"/>
            </a:solidFill>
            <a:prstDash val="solid"/>
          </a:ln>
        </p:spPr>
      </p:sp>
      <p:sp>
        <p:nvSpPr>
          <p:cNvPr id="3" name="Text 1"/>
          <p:cNvSpPr>
            <a:spLocks noGrp="1"/>
          </p:cNvSpPr>
          <p:nvPr>
            <p:ph type="body" idx="102" hasCustomPrompt="1"/>
          </p:nvPr>
        </p:nvSpPr>
        <p:spPr>
          <a:xfrm>
            <a:off x="1371600" y="365760"/>
            <a:ext cx="7315200" cy="274320"/>
          </a:xfrm>
          <a:prstGeom prst="rect">
            <a:avLst/>
          </a:prstGeom>
          <a:noFill/>
          <a:ln/>
        </p:spPr>
        <p:txBody>
          <a:bodyPr wrap="square" rtlCol="0"/>
          <a:lstStyle>
            <a:lvl1pPr marL="0" indent="0" algn="l">
              <a:buNone/>
              <a:defRPr lang="en-US" sz="1200" b="1" kern="0" spc="200" dirty="0">
                <a:solidFill>
                  <a:schemeClr val="accent1"/>
                </a:solidFill>
                <a:latin typeface="Arial" pitchFamily="34" charset="0"/>
                <a:ea typeface="Arial" pitchFamily="34" charset="-122"/>
                <a:cs typeface="Arial" pitchFamily="34" charset="-120"/>
              </a:defRPr>
            </a:lvl1pPr>
          </a:lstStyle>
          <a:p>
            <a:pPr marL="0" indent="0" algn="l">
              <a:buNone/>
            </a:pPr>
            <a:endParaRPr lang="en-US" sz="1200" dirty="0"/>
          </a:p>
        </p:txBody>
      </p:sp>
      <p:sp>
        <p:nvSpPr>
          <p:cNvPr id="4" name="Text 1"/>
          <p:cNvSpPr>
            <a:spLocks noGrp="1"/>
          </p:cNvSpPr>
          <p:nvPr>
            <p:ph type="title" idx="103" hasCustomPrompt="1"/>
          </p:nvPr>
        </p:nvSpPr>
        <p:spPr>
          <a:xfrm>
            <a:off x="548640" y="777240"/>
            <a:ext cx="11064240" cy="822960"/>
          </a:xfrm>
          <a:prstGeom prst="rect">
            <a:avLst/>
          </a:prstGeom>
          <a:noFill/>
          <a:ln/>
        </p:spPr>
        <p:txBody>
          <a:bodyPr wrap="square" rtlCol="0"/>
          <a:lstStyle>
            <a:lvl1pPr marL="0" indent="0" algn="l">
              <a:buNone/>
              <a:defRPr lang="en-US" sz="3000" b="1" dirty="0">
                <a:solidFill>
                  <a:schemeClr val="bg1"/>
                </a:solidFill>
              </a:defRPr>
            </a:lvl1pPr>
          </a:lstStyle>
          <a:p>
            <a:pPr marL="0" indent="0" algn="l">
              <a:buNone/>
            </a:pPr>
            <a:endParaRPr lang="en-US" sz="3000" dirty="0"/>
          </a:p>
        </p:txBody>
      </p:sp>
      <p:sp>
        <p:nvSpPr>
          <p:cNvPr id="5" name="Text 1"/>
          <p:cNvSpPr/>
          <p:nvPr/>
        </p:nvSpPr>
        <p:spPr>
          <a:xfrm>
            <a:off x="548640" y="6382512"/>
            <a:ext cx="7315200" cy="228600"/>
          </a:xfrm>
          <a:prstGeom prst="rect">
            <a:avLst/>
          </a:prstGeom>
          <a:noFill/>
          <a:ln/>
        </p:spPr>
        <p:txBody>
          <a:bodyPr wrap="square" lIns="0" tIns="0" rIns="0" bIns="0" rtlCol="0" anchor="ctr"/>
          <a:lstStyle/>
          <a:p>
            <a:pPr marL="0" indent="0">
              <a:buNone/>
            </a:pPr>
            <a:r>
              <a:rPr lang="en-US" sz="900" kern="0" spc="100" dirty="0">
                <a:solidFill>
                  <a:schemeClr val="accent5"/>
                </a:solidFill>
                <a:latin typeface="Arial" pitchFamily="34" charset="0"/>
                <a:ea typeface="Arial" pitchFamily="34" charset="-122"/>
                <a:cs typeface="Arial" pitchFamily="34" charset="-120"/>
              </a:rPr>
              <a:t>MICROSOFT AZURE COMMUNITY USER GROUP  ·  SECURITY AND AI</a:t>
            </a:r>
            <a:endParaRPr lang="en-US" sz="900" dirty="0"/>
          </a:p>
        </p:txBody>
      </p:sp>
      <p:sp>
        <p:nvSpPr>
          <p:cNvPr id="25" name="Slide Number Placeholder 0"/>
          <p:cNvSpPr>
            <a:spLocks noGrp="1"/>
          </p:cNvSpPr>
          <p:nvPr>
            <p:ph type="sldNum" sz="quarter" idx="4294967295"/>
          </p:nvPr>
        </p:nvSpPr>
        <p:spPr>
          <a:xfrm>
            <a:off x="11155680" y="6382512"/>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latin typeface="Arial"/>
                <a:ea typeface="Arial"/>
                <a:cs typeface="Aria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latin typeface="Arial"/>
                <a:ea typeface="Arial"/>
                <a:cs typeface="Aria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640080"/>
            <a:ext cx="6400800" cy="320040"/>
          </a:xfrm>
          <a:prstGeom prst="rect">
            <a:avLst/>
          </a:prstGeom>
          <a:noFill/>
          <a:ln/>
        </p:spPr>
        <p:txBody>
          <a:bodyPr wrap="square" lIns="0" tIns="0" rIns="0" bIns="0" rtlCol="0" anchor="t"/>
          <a:lstStyle/>
          <a:p>
            <a:pPr marL="0" indent="0">
              <a:buNone/>
            </a:pPr>
            <a:r>
              <a:rPr lang="en-US" sz="1400" b="1" kern="0" spc="100" dirty="0">
                <a:solidFill>
                  <a:schemeClr val="bg1"/>
                </a:solidFill>
                <a:latin typeface="Arial" pitchFamily="34" charset="0"/>
                <a:ea typeface="Arial" pitchFamily="34" charset="-122"/>
                <a:cs typeface="Arial" pitchFamily="34" charset="-120"/>
              </a:rPr>
              <a:t>LIVE  ·  MON 12 OCTOBER 2026  ·  8:00 PM EEST</a:t>
            </a:r>
            <a:endParaRPr lang="en-US" sz="1400" dirty="0"/>
          </a:p>
        </p:txBody>
      </p:sp>
      <p:sp>
        <p:nvSpPr>
          <p:cNvPr id="3" name="Text 1"/>
          <p:cNvSpPr>
            <a:spLocks noGrp="1"/>
          </p:cNvSpPr>
          <p:nvPr>
            <p:ph type="title" idx="101" hasCustomPrompt="1"/>
          </p:nvPr>
        </p:nvSpPr>
        <p:spPr>
          <a:xfrm>
            <a:off x="640080" y="1280160"/>
            <a:ext cx="6583680" cy="914400"/>
          </a:xfrm>
          <a:prstGeom prst="rect">
            <a:avLst/>
          </a:prstGeom>
          <a:noFill/>
          <a:ln/>
        </p:spPr>
        <p:txBody>
          <a:bodyPr wrap="square" lIns="0" tIns="0" rIns="0" bIns="0" rtlCol="0" anchor="t"/>
          <a:lstStyle/>
          <a:p>
            <a:pPr marL="0" indent="0" algn="l">
              <a:buNone/>
            </a:pPr>
            <a:r>
              <a:rPr lang="en-US" sz="5400" b="1" dirty="0">
                <a:solidFill>
                  <a:schemeClr val="accent1"/>
                </a:solidFill>
              </a:rPr>
              <a:t>SECURITY </a:t>
            </a:r>
            <a:r>
              <a:rPr lang="en-US" sz="5400" b="1" dirty="0">
                <a:solidFill>
                  <a:schemeClr val="bg1"/>
                </a:solidFill>
              </a:rPr>
              <a:t>AND AI</a:t>
            </a:r>
            <a:endParaRPr lang="en-US" sz="5400" dirty="0"/>
          </a:p>
        </p:txBody>
      </p:sp>
      <p:sp>
        <p:nvSpPr>
          <p:cNvPr id="4" name="Text 1"/>
          <p:cNvSpPr>
            <a:spLocks noGrp="1"/>
          </p:cNvSpPr>
          <p:nvPr>
            <p:ph type="body" idx="102" hasCustomPrompt="1"/>
          </p:nvPr>
        </p:nvSpPr>
        <p:spPr>
          <a:xfrm>
            <a:off x="640080" y="2468880"/>
            <a:ext cx="6217920" cy="1097280"/>
          </a:xfrm>
          <a:prstGeom prst="rect">
            <a:avLst/>
          </a:prstGeom>
          <a:noFill/>
          <a:ln/>
        </p:spPr>
        <p:txBody>
          <a:bodyPr wrap="square" lIns="0" tIns="0" rIns="0" bIns="0" rtlCol="0" anchor="t"/>
          <a:lstStyle/>
          <a:p>
            <a:pPr marL="0" indent="0" algn="l">
              <a:buNone/>
            </a:pPr>
            <a:r>
              <a:rPr lang="en-US" sz="2400" b="1" dirty="0">
                <a:solidFill>
                  <a:schemeClr val="bg1"/>
                </a:solidFill>
                <a:latin typeface="Arial" pitchFamily="34" charset="0"/>
                <a:ea typeface="Arial" pitchFamily="34" charset="-122"/>
                <a:cs typeface="Arial" pitchFamily="34" charset="-120"/>
              </a:rPr>
              <a:t>See Your Attack Surface: Mapping Azure with an MCP Server</a:t>
            </a:r>
            <a:endParaRPr lang="en-US" sz="2400" dirty="0"/>
          </a:p>
        </p:txBody>
      </p:sp>
      <p:sp>
        <p:nvSpPr>
          <p:cNvPr id="5" name="title dot"/>
          <p:cNvSpPr/>
          <p:nvPr/>
        </p:nvSpPr>
        <p:spPr>
          <a:xfrm>
            <a:off x="640080" y="3840480"/>
            <a:ext cx="91440" cy="91440"/>
          </a:xfrm>
          <a:prstGeom prst="ellipse">
            <a:avLst/>
          </a:prstGeom>
          <a:solidFill>
            <a:schemeClr val="accent1"/>
          </a:solidFill>
          <a:ln w="25400">
            <a:solidFill>
              <a:schemeClr val="accent1"/>
            </a:solidFill>
            <a:prstDash val="solid"/>
          </a:ln>
        </p:spPr>
      </p:sp>
      <p:sp>
        <p:nvSpPr>
          <p:cNvPr id="6" name="title rule"/>
          <p:cNvSpPr/>
          <p:nvPr/>
        </p:nvSpPr>
        <p:spPr>
          <a:xfrm>
            <a:off x="731520" y="3886200"/>
            <a:ext cx="2560320" cy="914"/>
          </a:xfrm>
          <a:prstGeom prst="line">
            <a:avLst/>
          </a:prstGeom>
          <a:noFill/>
          <a:ln w="12700">
            <a:solidFill>
              <a:schemeClr val="accent1"/>
            </a:solidFill>
            <a:prstDash val="solid"/>
          </a:ln>
        </p:spPr>
      </p:sp>
      <p:sp>
        <p:nvSpPr>
          <p:cNvPr id="7" name="speaker tag"/>
          <p:cNvSpPr/>
          <p:nvPr/>
        </p:nvSpPr>
        <p:spPr>
          <a:xfrm>
            <a:off x="640080" y="4160520"/>
            <a:ext cx="3108960" cy="457200"/>
          </a:xfrm>
          <a:prstGeom prst="roundRect">
            <a:avLst>
              <a:gd name="adj" fmla="val 10000"/>
            </a:avLst>
          </a:prstGeom>
          <a:solidFill>
            <a:schemeClr val="accent2"/>
          </a:solidFill>
          <a:ln w="12700">
            <a:solidFill>
              <a:schemeClr val="accent1"/>
            </a:solidFill>
            <a:prstDash val="solid"/>
          </a:ln>
        </p:spPr>
      </p:sp>
      <p:sp>
        <p:nvSpPr>
          <p:cNvPr id="8" name="speaker tag text"/>
          <p:cNvSpPr txBox="1"/>
          <p:nvPr/>
        </p:nvSpPr>
        <p:spPr>
          <a:xfrm>
            <a:off x="640080" y="4160520"/>
            <a:ext cx="3108960" cy="457200"/>
          </a:xfrm>
          <a:prstGeom prst="rect">
            <a:avLst/>
          </a:prstGeom>
          <a:noFill/>
          <a:ln/>
        </p:spPr>
        <p:txBody>
          <a:bodyPr wrap="square" lIns="0" tIns="0" rIns="0" bIns="0" rtlCol="0" anchor="ctr"/>
          <a:lstStyle/>
          <a:p>
            <a:pPr marL="0" indent="0" algn="ctr">
              <a:buNone/>
            </a:pPr>
            <a:r>
              <a:rPr lang="en-US" sz="1600" b="1" dirty="0">
                <a:solidFill>
                  <a:schemeClr val="bg1"/>
                </a:solidFill>
                <a:latin typeface="Arial" pitchFamily="34" charset="0"/>
                <a:ea typeface="Arial" pitchFamily="34" charset="-122"/>
                <a:cs typeface="Arial" pitchFamily="34" charset="-120"/>
              </a:rPr>
              <a:t>Konstantinos Lianos</a:t>
            </a:r>
            <a:endParaRPr lang="en-US" sz="1600" dirty="0"/>
          </a:p>
        </p:txBody>
      </p:sp>
      <p:sp>
        <p:nvSpPr>
          <p:cNvPr id="9" name="motif edge 0"/>
          <p:cNvSpPr/>
          <p:nvPr/>
        </p:nvSpPr>
        <p:spPr>
          <a:xfrm flipV="1">
            <a:off x="7223760" y="1476756"/>
            <a:ext cx="1344168" cy="1056132"/>
          </a:xfrm>
          <a:prstGeom prst="line">
            <a:avLst/>
          </a:prstGeom>
          <a:noFill/>
          <a:ln w="15875">
            <a:solidFill>
              <a:schemeClr val="accent4"/>
            </a:solidFill>
            <a:prstDash val="solid"/>
          </a:ln>
        </p:spPr>
      </p:sp>
      <p:sp>
        <p:nvSpPr>
          <p:cNvPr id="10" name="motif edge 1"/>
          <p:cNvSpPr/>
          <p:nvPr/>
        </p:nvSpPr>
        <p:spPr>
          <a:xfrm>
            <a:off x="7223760" y="2532888"/>
            <a:ext cx="1440180" cy="672084"/>
          </a:xfrm>
          <a:prstGeom prst="line">
            <a:avLst/>
          </a:prstGeom>
          <a:noFill/>
          <a:ln w="38100">
            <a:solidFill>
              <a:schemeClr val="accent1"/>
            </a:solidFill>
            <a:prstDash val="solid"/>
          </a:ln>
        </p:spPr>
      </p:sp>
      <p:sp>
        <p:nvSpPr>
          <p:cNvPr id="11" name="motif edge 2"/>
          <p:cNvSpPr/>
          <p:nvPr/>
        </p:nvSpPr>
        <p:spPr>
          <a:xfrm>
            <a:off x="8567928" y="1476756"/>
            <a:ext cx="1440180" cy="768096"/>
          </a:xfrm>
          <a:prstGeom prst="line">
            <a:avLst/>
          </a:prstGeom>
          <a:noFill/>
          <a:ln w="15875">
            <a:solidFill>
              <a:schemeClr val="accent4"/>
            </a:solidFill>
            <a:prstDash val="solid"/>
          </a:ln>
        </p:spPr>
      </p:sp>
      <p:sp>
        <p:nvSpPr>
          <p:cNvPr id="12" name="motif edge 3"/>
          <p:cNvSpPr/>
          <p:nvPr/>
        </p:nvSpPr>
        <p:spPr>
          <a:xfrm flipV="1">
            <a:off x="8663940" y="2244852"/>
            <a:ext cx="1344168" cy="960120"/>
          </a:xfrm>
          <a:prstGeom prst="line">
            <a:avLst/>
          </a:prstGeom>
          <a:noFill/>
          <a:ln w="38100">
            <a:solidFill>
              <a:schemeClr val="accent1"/>
            </a:solidFill>
            <a:prstDash val="solid"/>
          </a:ln>
        </p:spPr>
      </p:sp>
      <p:sp>
        <p:nvSpPr>
          <p:cNvPr id="13" name="motif edge 4"/>
          <p:cNvSpPr/>
          <p:nvPr/>
        </p:nvSpPr>
        <p:spPr>
          <a:xfrm flipH="1">
            <a:off x="8471916" y="3204972"/>
            <a:ext cx="192024" cy="1344168"/>
          </a:xfrm>
          <a:prstGeom prst="line">
            <a:avLst/>
          </a:prstGeom>
          <a:noFill/>
          <a:ln w="15875">
            <a:solidFill>
              <a:schemeClr val="accent4"/>
            </a:solidFill>
            <a:prstDash val="solid"/>
          </a:ln>
        </p:spPr>
      </p:sp>
      <p:sp>
        <p:nvSpPr>
          <p:cNvPr id="14" name="motif edge 5"/>
          <p:cNvSpPr/>
          <p:nvPr/>
        </p:nvSpPr>
        <p:spPr>
          <a:xfrm flipV="1">
            <a:off x="10008108" y="1380744"/>
            <a:ext cx="1248156" cy="864108"/>
          </a:xfrm>
          <a:prstGeom prst="line">
            <a:avLst/>
          </a:prstGeom>
          <a:noFill/>
          <a:ln w="15875">
            <a:solidFill>
              <a:schemeClr val="accent4"/>
            </a:solidFill>
            <a:prstDash val="solid"/>
          </a:ln>
        </p:spPr>
      </p:sp>
      <p:sp>
        <p:nvSpPr>
          <p:cNvPr id="15" name="motif edge 6"/>
          <p:cNvSpPr/>
          <p:nvPr/>
        </p:nvSpPr>
        <p:spPr>
          <a:xfrm>
            <a:off x="10008108" y="2244852"/>
            <a:ext cx="1440180" cy="864108"/>
          </a:xfrm>
          <a:prstGeom prst="line">
            <a:avLst/>
          </a:prstGeom>
          <a:noFill/>
          <a:ln w="38100">
            <a:solidFill>
              <a:schemeClr val="accent1"/>
            </a:solidFill>
            <a:prstDash val="solid"/>
          </a:ln>
        </p:spPr>
      </p:sp>
      <p:sp>
        <p:nvSpPr>
          <p:cNvPr id="16" name="motif edge 7"/>
          <p:cNvSpPr/>
          <p:nvPr/>
        </p:nvSpPr>
        <p:spPr>
          <a:xfrm flipV="1">
            <a:off x="10104120" y="3108960"/>
            <a:ext cx="1344168" cy="864108"/>
          </a:xfrm>
          <a:prstGeom prst="line">
            <a:avLst/>
          </a:prstGeom>
          <a:noFill/>
          <a:ln w="15875">
            <a:solidFill>
              <a:schemeClr val="accent4"/>
            </a:solidFill>
            <a:prstDash val="solid"/>
          </a:ln>
        </p:spPr>
      </p:sp>
      <p:sp>
        <p:nvSpPr>
          <p:cNvPr id="17" name="motif edge 8"/>
          <p:cNvSpPr/>
          <p:nvPr/>
        </p:nvSpPr>
        <p:spPr>
          <a:xfrm>
            <a:off x="10104120" y="3973068"/>
            <a:ext cx="672084" cy="768096"/>
          </a:xfrm>
          <a:prstGeom prst="line">
            <a:avLst/>
          </a:prstGeom>
          <a:noFill/>
          <a:ln w="15875">
            <a:solidFill>
              <a:schemeClr val="accent4"/>
            </a:solidFill>
            <a:prstDash val="solid"/>
          </a:ln>
        </p:spPr>
      </p:sp>
      <p:sp>
        <p:nvSpPr>
          <p:cNvPr id="18" name="motif edge 9"/>
          <p:cNvSpPr/>
          <p:nvPr/>
        </p:nvSpPr>
        <p:spPr>
          <a:xfrm flipV="1">
            <a:off x="8471916" y="3973068"/>
            <a:ext cx="1632204" cy="576072"/>
          </a:xfrm>
          <a:prstGeom prst="line">
            <a:avLst/>
          </a:prstGeom>
          <a:noFill/>
          <a:ln w="15875">
            <a:solidFill>
              <a:schemeClr val="accent4"/>
            </a:solidFill>
            <a:prstDash val="solid"/>
          </a:ln>
        </p:spPr>
      </p:sp>
      <p:sp>
        <p:nvSpPr>
          <p:cNvPr id="19" name="motif edge 10"/>
          <p:cNvSpPr/>
          <p:nvPr/>
        </p:nvSpPr>
        <p:spPr>
          <a:xfrm flipV="1">
            <a:off x="8567928" y="1380744"/>
            <a:ext cx="2688336" cy="96012"/>
          </a:xfrm>
          <a:prstGeom prst="line">
            <a:avLst/>
          </a:prstGeom>
          <a:noFill/>
          <a:ln w="15875">
            <a:solidFill>
              <a:schemeClr val="accent4"/>
            </a:solidFill>
            <a:prstDash val="solid"/>
          </a:ln>
        </p:spPr>
      </p:sp>
      <p:sp>
        <p:nvSpPr>
          <p:cNvPr id="20" name="motif edge 11"/>
          <p:cNvSpPr/>
          <p:nvPr/>
        </p:nvSpPr>
        <p:spPr>
          <a:xfrm>
            <a:off x="11448288" y="3108960"/>
            <a:ext cx="192024" cy="1152144"/>
          </a:xfrm>
          <a:prstGeom prst="line">
            <a:avLst/>
          </a:prstGeom>
          <a:noFill/>
          <a:ln w="15875">
            <a:solidFill>
              <a:schemeClr val="accent4"/>
            </a:solidFill>
            <a:prstDash val="solid"/>
          </a:ln>
        </p:spPr>
      </p:sp>
      <p:sp>
        <p:nvSpPr>
          <p:cNvPr id="21" name="motif edge 12"/>
          <p:cNvSpPr/>
          <p:nvPr/>
        </p:nvSpPr>
        <p:spPr>
          <a:xfrm flipV="1">
            <a:off x="10776204" y="4261104"/>
            <a:ext cx="864108" cy="480060"/>
          </a:xfrm>
          <a:prstGeom prst="line">
            <a:avLst/>
          </a:prstGeom>
          <a:noFill/>
          <a:ln w="15875">
            <a:solidFill>
              <a:schemeClr val="accent4"/>
            </a:solidFill>
            <a:prstDash val="solid"/>
          </a:ln>
        </p:spPr>
      </p:sp>
      <p:sp>
        <p:nvSpPr>
          <p:cNvPr id="22" name="motif node 0"/>
          <p:cNvSpPr/>
          <p:nvPr/>
        </p:nvSpPr>
        <p:spPr>
          <a:xfrm>
            <a:off x="7031736" y="2340864"/>
            <a:ext cx="384048" cy="384048"/>
          </a:xfrm>
          <a:prstGeom prst="ellipse">
            <a:avLst/>
          </a:prstGeom>
          <a:solidFill>
            <a:schemeClr val="accent1"/>
          </a:solidFill>
          <a:ln w="25400">
            <a:solidFill>
              <a:schemeClr val="accent1"/>
            </a:solidFill>
            <a:prstDash val="solid"/>
          </a:ln>
        </p:spPr>
      </p:sp>
      <p:sp>
        <p:nvSpPr>
          <p:cNvPr id="23" name="motif node 1"/>
          <p:cNvSpPr/>
          <p:nvPr/>
        </p:nvSpPr>
        <p:spPr>
          <a:xfrm>
            <a:off x="8443112" y="1351940"/>
            <a:ext cx="249631" cy="249631"/>
          </a:xfrm>
          <a:prstGeom prst="ellipse">
            <a:avLst/>
          </a:prstGeom>
          <a:solidFill>
            <a:schemeClr val="tx1"/>
          </a:solidFill>
          <a:ln w="25400">
            <a:solidFill>
              <a:schemeClr val="accent3"/>
            </a:solidFill>
            <a:prstDash val="solid"/>
          </a:ln>
        </p:spPr>
      </p:sp>
      <p:sp>
        <p:nvSpPr>
          <p:cNvPr id="24" name="motif node 2"/>
          <p:cNvSpPr/>
          <p:nvPr/>
        </p:nvSpPr>
        <p:spPr>
          <a:xfrm>
            <a:off x="8539124" y="3080156"/>
            <a:ext cx="249631" cy="249631"/>
          </a:xfrm>
          <a:prstGeom prst="ellipse">
            <a:avLst/>
          </a:prstGeom>
          <a:solidFill>
            <a:schemeClr val="tx1"/>
          </a:solidFill>
          <a:ln w="25400">
            <a:solidFill>
              <a:schemeClr val="accent1"/>
            </a:solidFill>
            <a:prstDash val="solid"/>
          </a:ln>
        </p:spPr>
      </p:sp>
      <p:sp>
        <p:nvSpPr>
          <p:cNvPr id="25" name="motif node 3"/>
          <p:cNvSpPr/>
          <p:nvPr/>
        </p:nvSpPr>
        <p:spPr>
          <a:xfrm>
            <a:off x="9883292" y="2120036"/>
            <a:ext cx="249631" cy="249631"/>
          </a:xfrm>
          <a:prstGeom prst="ellipse">
            <a:avLst/>
          </a:prstGeom>
          <a:solidFill>
            <a:schemeClr val="tx1"/>
          </a:solidFill>
          <a:ln w="25400">
            <a:solidFill>
              <a:schemeClr val="accent1"/>
            </a:solidFill>
            <a:prstDash val="solid"/>
          </a:ln>
        </p:spPr>
      </p:sp>
      <p:sp>
        <p:nvSpPr>
          <p:cNvPr id="26" name="motif node 4"/>
          <p:cNvSpPr/>
          <p:nvPr/>
        </p:nvSpPr>
        <p:spPr>
          <a:xfrm>
            <a:off x="9979304" y="3848252"/>
            <a:ext cx="249631" cy="249631"/>
          </a:xfrm>
          <a:prstGeom prst="ellipse">
            <a:avLst/>
          </a:prstGeom>
          <a:solidFill>
            <a:schemeClr val="tx1"/>
          </a:solidFill>
          <a:ln w="25400">
            <a:solidFill>
              <a:schemeClr val="accent3"/>
            </a:solidFill>
            <a:prstDash val="solid"/>
          </a:ln>
        </p:spPr>
      </p:sp>
      <p:sp>
        <p:nvSpPr>
          <p:cNvPr id="27" name="motif node 5"/>
          <p:cNvSpPr/>
          <p:nvPr/>
        </p:nvSpPr>
        <p:spPr>
          <a:xfrm>
            <a:off x="11131448" y="1255928"/>
            <a:ext cx="249631" cy="249631"/>
          </a:xfrm>
          <a:prstGeom prst="ellipse">
            <a:avLst/>
          </a:prstGeom>
          <a:solidFill>
            <a:schemeClr val="tx1"/>
          </a:solidFill>
          <a:ln w="25400">
            <a:solidFill>
              <a:schemeClr val="accent3"/>
            </a:solidFill>
            <a:prstDash val="solid"/>
          </a:ln>
        </p:spPr>
      </p:sp>
      <p:sp>
        <p:nvSpPr>
          <p:cNvPr id="28" name="motif node 6"/>
          <p:cNvSpPr/>
          <p:nvPr/>
        </p:nvSpPr>
        <p:spPr>
          <a:xfrm>
            <a:off x="11323472" y="2984144"/>
            <a:ext cx="249631" cy="249631"/>
          </a:xfrm>
          <a:prstGeom prst="ellipse">
            <a:avLst/>
          </a:prstGeom>
          <a:solidFill>
            <a:schemeClr val="accent1"/>
          </a:solidFill>
          <a:ln w="25400">
            <a:solidFill>
              <a:schemeClr val="accent1"/>
            </a:solidFill>
            <a:prstDash val="solid"/>
          </a:ln>
        </p:spPr>
      </p:sp>
      <p:sp>
        <p:nvSpPr>
          <p:cNvPr id="29" name="motif node 7"/>
          <p:cNvSpPr/>
          <p:nvPr/>
        </p:nvSpPr>
        <p:spPr>
          <a:xfrm>
            <a:off x="10651388" y="4616348"/>
            <a:ext cx="249631" cy="249631"/>
          </a:xfrm>
          <a:prstGeom prst="ellipse">
            <a:avLst/>
          </a:prstGeom>
          <a:solidFill>
            <a:schemeClr val="tx1"/>
          </a:solidFill>
          <a:ln w="25400">
            <a:solidFill>
              <a:schemeClr val="accent3"/>
            </a:solidFill>
            <a:prstDash val="solid"/>
          </a:ln>
        </p:spPr>
      </p:sp>
      <p:sp>
        <p:nvSpPr>
          <p:cNvPr id="30" name="motif node 8"/>
          <p:cNvSpPr/>
          <p:nvPr/>
        </p:nvSpPr>
        <p:spPr>
          <a:xfrm>
            <a:off x="8347100" y="4424324"/>
            <a:ext cx="249631" cy="249631"/>
          </a:xfrm>
          <a:prstGeom prst="ellipse">
            <a:avLst/>
          </a:prstGeom>
          <a:solidFill>
            <a:schemeClr val="tx1"/>
          </a:solidFill>
          <a:ln w="25400">
            <a:solidFill>
              <a:schemeClr val="accent3"/>
            </a:solidFill>
            <a:prstDash val="solid"/>
          </a:ln>
        </p:spPr>
      </p:sp>
      <p:sp>
        <p:nvSpPr>
          <p:cNvPr id="31" name="motif node 9"/>
          <p:cNvSpPr/>
          <p:nvPr/>
        </p:nvSpPr>
        <p:spPr>
          <a:xfrm>
            <a:off x="11515496" y="4136288"/>
            <a:ext cx="249631" cy="249631"/>
          </a:xfrm>
          <a:prstGeom prst="ellipse">
            <a:avLst/>
          </a:prstGeom>
          <a:solidFill>
            <a:schemeClr val="tx1"/>
          </a:solidFill>
          <a:ln w="25400">
            <a:solidFill>
              <a:schemeClr val="accent3"/>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1371600" y="365760"/>
            <a:ext cx="7315200" cy="274320"/>
          </a:xfrm>
          <a:prstGeom prst="rect">
            <a:avLst/>
          </a:prstGeom>
          <a:noFill/>
          <a:ln/>
        </p:spPr>
        <p:txBody>
          <a:bodyPr wrap="square" lIns="0" tIns="0" rIns="0" bIns="0" rtlCol="0" anchor="ctr"/>
          <a:lstStyle/>
          <a:p>
            <a:pPr marL="0" indent="0" algn="l">
              <a:buNone/>
            </a:pPr>
            <a:r>
              <a:rPr lang="en-US" sz="1200" b="1" kern="0" spc="200" dirty="0">
                <a:solidFill>
                  <a:schemeClr val="accent1"/>
                </a:solidFill>
                <a:latin typeface="Arial" pitchFamily="34" charset="0"/>
                <a:ea typeface="Arial" pitchFamily="34" charset="-122"/>
                <a:cs typeface="Arial" pitchFamily="34" charset="-120"/>
              </a:rPr>
              <a:t>01  ·  SPEAKER</a:t>
            </a:r>
            <a:endParaRPr lang="en-US" sz="1200" dirty="0"/>
          </a:p>
        </p:txBody>
      </p:sp>
      <p:sp>
        <p:nvSpPr>
          <p:cNvPr id="3" name="Text 1"/>
          <p:cNvSpPr>
            <a:spLocks noGrp="1"/>
          </p:cNvSpPr>
          <p:nvPr>
            <p:ph type="title" idx="103" hasCustomPrompt="1"/>
          </p:nvPr>
        </p:nvSpPr>
        <p:spPr>
          <a:xfrm>
            <a:off x="548640" y="777240"/>
            <a:ext cx="11064240" cy="822960"/>
          </a:xfrm>
          <a:prstGeom prst="rect">
            <a:avLst/>
          </a:prstGeom>
          <a:noFill/>
          <a:ln/>
        </p:spPr>
        <p:txBody>
          <a:bodyPr wrap="square" lIns="0" tIns="0" rIns="0" bIns="0" rtlCol="0" anchor="t"/>
          <a:lstStyle/>
          <a:p>
            <a:pPr marL="0" indent="0" algn="l">
              <a:buNone/>
            </a:pPr>
            <a:r>
              <a:rPr lang="en-US" sz="3000" b="1" dirty="0">
                <a:solidFill>
                  <a:schemeClr val="accent1"/>
                </a:solidFill>
              </a:rPr>
              <a:t>ABOUT </a:t>
            </a:r>
            <a:r>
              <a:rPr lang="en-US" sz="3000" b="1" dirty="0">
                <a:solidFill>
                  <a:schemeClr val="bg1"/>
                </a:solidFill>
              </a:rPr>
              <a:t>ME</a:t>
            </a:r>
            <a:endParaRPr lang="en-US" sz="3000" dirty="0"/>
          </a:p>
        </p:txBody>
      </p:sp>
      <p:pic>
        <p:nvPicPr>
          <p:cNvPr id="4" name="speaker photo" descr="preencoded.png"/>
          <p:cNvPicPr>
            <a:picLocks noChangeAspect="1"/>
          </p:cNvPicPr>
          <p:nvPr/>
        </p:nvPicPr>
        <p:blipFill>
          <a:blip r:embed="rId3"/>
          <a:stretch>
            <a:fillRect/>
          </a:stretch>
        </p:blipFill>
        <p:spPr>
          <a:xfrm>
            <a:off x="548640" y="1828800"/>
            <a:ext cx="2743200" cy="2487168"/>
          </a:xfrm>
          <a:prstGeom prst="rect">
            <a:avLst/>
          </a:prstGeom>
        </p:spPr>
      </p:pic>
      <p:sp>
        <p:nvSpPr>
          <p:cNvPr id="5" name="photo frame"/>
          <p:cNvSpPr/>
          <p:nvPr/>
        </p:nvSpPr>
        <p:spPr>
          <a:xfrm>
            <a:off x="548640" y="1828800"/>
            <a:ext cx="2743200" cy="2487168"/>
          </a:xfrm>
          <a:prstGeom prst="rect">
            <a:avLst/>
          </a:prstGeom>
          <a:solidFill>
            <a:schemeClr val="tx1">
              <a:alpha val="0"/>
            </a:schemeClr>
          </a:solidFill>
          <a:ln w="19050">
            <a:solidFill>
              <a:schemeClr val="accent1"/>
            </a:solidFill>
            <a:prstDash val="solid"/>
          </a:ln>
        </p:spPr>
      </p:sp>
      <p:sp>
        <p:nvSpPr>
          <p:cNvPr id="6" name="name tag"/>
          <p:cNvSpPr/>
          <p:nvPr/>
        </p:nvSpPr>
        <p:spPr>
          <a:xfrm>
            <a:off x="548640" y="4526280"/>
            <a:ext cx="2743200" cy="411480"/>
          </a:xfrm>
          <a:prstGeom prst="roundRect">
            <a:avLst>
              <a:gd name="adj" fmla="val 11111"/>
            </a:avLst>
          </a:prstGeom>
          <a:solidFill>
            <a:schemeClr val="accent2"/>
          </a:solidFill>
          <a:ln w="12700">
            <a:solidFill>
              <a:schemeClr val="accent1"/>
            </a:solidFill>
            <a:prstDash val="solid"/>
          </a:ln>
        </p:spPr>
      </p:sp>
      <p:sp>
        <p:nvSpPr>
          <p:cNvPr id="7" name="name tag text"/>
          <p:cNvSpPr txBox="1"/>
          <p:nvPr/>
        </p:nvSpPr>
        <p:spPr>
          <a:xfrm>
            <a:off x="548640" y="4526280"/>
            <a:ext cx="2743200" cy="411480"/>
          </a:xfrm>
          <a:prstGeom prst="rect">
            <a:avLst/>
          </a:prstGeom>
          <a:noFill/>
          <a:ln/>
        </p:spPr>
        <p:txBody>
          <a:bodyPr wrap="square" lIns="0" tIns="0" rIns="0" bIns="0" rtlCol="0" anchor="ctr"/>
          <a:lstStyle/>
          <a:p>
            <a:pPr marL="0" indent="0" algn="ctr">
              <a:buNone/>
            </a:pPr>
            <a:r>
              <a:rPr lang="en-US" sz="1400" b="1" dirty="0">
                <a:solidFill>
                  <a:schemeClr val="bg1"/>
                </a:solidFill>
                <a:latin typeface="Arial" pitchFamily="34" charset="0"/>
                <a:ea typeface="Arial" pitchFamily="34" charset="-122"/>
                <a:cs typeface="Arial" pitchFamily="34" charset="-120"/>
              </a:rPr>
              <a:t>Konstantinos Lianos</a:t>
            </a:r>
            <a:endParaRPr lang="en-US" sz="1400" dirty="0"/>
          </a:p>
        </p:txBody>
      </p:sp>
      <p:sp>
        <p:nvSpPr>
          <p:cNvPr id="8" name="Text 5"/>
          <p:cNvSpPr txBox="1"/>
          <p:nvPr/>
        </p:nvSpPr>
        <p:spPr>
          <a:xfrm>
            <a:off x="3931920" y="1856232"/>
            <a:ext cx="1463040" cy="274320"/>
          </a:xfrm>
          <a:prstGeom prst="rect">
            <a:avLst/>
          </a:prstGeom>
          <a:noFill/>
          <a:ln/>
        </p:spPr>
        <p:txBody>
          <a:bodyPr wrap="square" lIns="0" tIns="0" rIns="0" bIns="0" rtlCol="0" anchor="t"/>
          <a:lstStyle/>
          <a:p>
            <a:pPr marL="0" indent="0">
              <a:buNone/>
            </a:pPr>
            <a:r>
              <a:rPr lang="en-US" sz="1100" b="1" kern="0" spc="100" dirty="0">
                <a:solidFill>
                  <a:schemeClr val="accent1"/>
                </a:solidFill>
                <a:latin typeface="Arial" pitchFamily="34" charset="0"/>
                <a:ea typeface="Arial" pitchFamily="34" charset="-122"/>
                <a:cs typeface="Arial" pitchFamily="34" charset="-120"/>
              </a:rPr>
              <a:t>ROLE</a:t>
            </a:r>
            <a:endParaRPr lang="en-US" sz="1100" dirty="0"/>
          </a:p>
        </p:txBody>
      </p:sp>
      <p:sp>
        <p:nvSpPr>
          <p:cNvPr id="9" name="Text 6"/>
          <p:cNvSpPr txBox="1"/>
          <p:nvPr/>
        </p:nvSpPr>
        <p:spPr>
          <a:xfrm>
            <a:off x="5440680" y="1828800"/>
            <a:ext cx="6217920" cy="365760"/>
          </a:xfrm>
          <a:prstGeom prst="rect">
            <a:avLst/>
          </a:prstGeom>
          <a:noFill/>
          <a:ln/>
        </p:spPr>
        <p:txBody>
          <a:bodyPr wrap="square" lIns="0" tIns="0" rIns="0" bIns="0" rtlCol="0" anchor="t"/>
          <a:lstStyle/>
          <a:p>
            <a:pPr marL="0" indent="0">
              <a:buNone/>
            </a:pPr>
            <a:r>
              <a:rPr lang="en-US" sz="1600" dirty="0">
                <a:solidFill>
                  <a:schemeClr val="bg1"/>
                </a:solidFill>
                <a:latin typeface="Arial" pitchFamily="34" charset="0"/>
                <a:ea typeface="Arial" pitchFamily="34" charset="-122"/>
                <a:cs typeface="Arial" pitchFamily="34" charset="-120"/>
              </a:rPr>
              <a:t>Cloud Security Specialist, Microsoft Security and Sentinel</a:t>
            </a:r>
            <a:endParaRPr lang="en-US" sz="1600" dirty="0"/>
          </a:p>
        </p:txBody>
      </p:sp>
      <p:sp>
        <p:nvSpPr>
          <p:cNvPr id="10" name="Text 7"/>
          <p:cNvSpPr txBox="1"/>
          <p:nvPr/>
        </p:nvSpPr>
        <p:spPr>
          <a:xfrm>
            <a:off x="3931920" y="2423160"/>
            <a:ext cx="1463040" cy="274320"/>
          </a:xfrm>
          <a:prstGeom prst="rect">
            <a:avLst/>
          </a:prstGeom>
          <a:noFill/>
          <a:ln/>
        </p:spPr>
        <p:txBody>
          <a:bodyPr wrap="square" lIns="0" tIns="0" rIns="0" bIns="0" rtlCol="0" anchor="t"/>
          <a:lstStyle/>
          <a:p>
            <a:pPr marL="0" indent="0">
              <a:buNone/>
            </a:pPr>
            <a:r>
              <a:rPr lang="en-US" sz="1100" b="1" kern="0" spc="100" dirty="0">
                <a:solidFill>
                  <a:schemeClr val="accent1"/>
                </a:solidFill>
                <a:latin typeface="Arial" pitchFamily="34" charset="0"/>
                <a:ea typeface="Arial" pitchFamily="34" charset="-122"/>
                <a:cs typeface="Arial" pitchFamily="34" charset="-120"/>
              </a:rPr>
              <a:t>COMMUNITY</a:t>
            </a:r>
            <a:endParaRPr lang="en-US" sz="1100" dirty="0"/>
          </a:p>
        </p:txBody>
      </p:sp>
      <p:sp>
        <p:nvSpPr>
          <p:cNvPr id="11" name="Text 8"/>
          <p:cNvSpPr txBox="1"/>
          <p:nvPr/>
        </p:nvSpPr>
        <p:spPr>
          <a:xfrm>
            <a:off x="5440680" y="2395728"/>
            <a:ext cx="6217920" cy="365760"/>
          </a:xfrm>
          <a:prstGeom prst="rect">
            <a:avLst/>
          </a:prstGeom>
          <a:noFill/>
          <a:ln/>
        </p:spPr>
        <p:txBody>
          <a:bodyPr wrap="square" lIns="0" tIns="0" rIns="0" bIns="0" rtlCol="0" anchor="t"/>
          <a:lstStyle/>
          <a:p>
            <a:pPr marL="0" indent="0">
              <a:buNone/>
            </a:pPr>
            <a:r>
              <a:rPr lang="en-US" sz="1600" dirty="0">
                <a:solidFill>
                  <a:schemeClr val="bg1"/>
                </a:solidFill>
                <a:latin typeface="Arial" pitchFamily="34" charset="0"/>
                <a:ea typeface="Arial" pitchFamily="34" charset="-122"/>
                <a:cs typeface="Arial" pitchFamily="34" charset="-120"/>
              </a:rPr>
              <a:t>MGCI Regional Leader and Senior Microsoft Student Ambassador</a:t>
            </a:r>
            <a:endParaRPr lang="en-US" sz="1600" dirty="0"/>
          </a:p>
        </p:txBody>
      </p:sp>
      <p:sp>
        <p:nvSpPr>
          <p:cNvPr id="12" name="Text 9"/>
          <p:cNvSpPr txBox="1"/>
          <p:nvPr/>
        </p:nvSpPr>
        <p:spPr>
          <a:xfrm>
            <a:off x="3931920" y="2990088"/>
            <a:ext cx="1463040" cy="274320"/>
          </a:xfrm>
          <a:prstGeom prst="rect">
            <a:avLst/>
          </a:prstGeom>
          <a:noFill/>
          <a:ln/>
        </p:spPr>
        <p:txBody>
          <a:bodyPr wrap="square" lIns="0" tIns="0" rIns="0" bIns="0" rtlCol="0" anchor="t"/>
          <a:lstStyle/>
          <a:p>
            <a:pPr marL="0" indent="0">
              <a:buNone/>
            </a:pPr>
            <a:r>
              <a:rPr lang="en-US" sz="1100" b="1" kern="0" spc="100" dirty="0">
                <a:solidFill>
                  <a:schemeClr val="accent1"/>
                </a:solidFill>
                <a:latin typeface="Arial" pitchFamily="34" charset="0"/>
                <a:ea typeface="Arial" pitchFamily="34" charset="-122"/>
                <a:cs typeface="Arial" pitchFamily="34" charset="-120"/>
              </a:rPr>
              <a:t>BUILDS</a:t>
            </a:r>
            <a:endParaRPr lang="en-US" sz="1100" dirty="0"/>
          </a:p>
        </p:txBody>
      </p:sp>
      <p:sp>
        <p:nvSpPr>
          <p:cNvPr id="13" name="Text 10"/>
          <p:cNvSpPr txBox="1"/>
          <p:nvPr/>
        </p:nvSpPr>
        <p:spPr>
          <a:xfrm>
            <a:off x="5440680" y="2962656"/>
            <a:ext cx="6217920" cy="365760"/>
          </a:xfrm>
          <a:prstGeom prst="rect">
            <a:avLst/>
          </a:prstGeom>
          <a:noFill/>
          <a:ln/>
        </p:spPr>
        <p:txBody>
          <a:bodyPr wrap="square" lIns="0" tIns="0" rIns="0" bIns="0" rtlCol="0" anchor="t"/>
          <a:lstStyle/>
          <a:p>
            <a:pPr marL="0" indent="0">
              <a:buNone/>
            </a:pPr>
            <a:r>
              <a:rPr lang="en-US" sz="1600" dirty="0">
                <a:solidFill>
                  <a:schemeClr val="bg1"/>
                </a:solidFill>
                <a:latin typeface="Arial" pitchFamily="34" charset="0"/>
                <a:ea typeface="Arial" pitchFamily="34" charset="-122"/>
                <a:cs typeface="Arial" pitchFamily="34" charset="-120"/>
              </a:rPr>
              <a:t>Sentinel CCF connectors, scanners and MCP servers</a:t>
            </a:r>
            <a:endParaRPr lang="en-US" sz="1600" dirty="0"/>
          </a:p>
        </p:txBody>
      </p:sp>
      <p:sp>
        <p:nvSpPr>
          <p:cNvPr id="15" name="Text 12"/>
          <p:cNvSpPr txBox="1"/>
          <p:nvPr/>
        </p:nvSpPr>
        <p:spPr>
          <a:xfrm>
            <a:off x="5440680" y="3529584"/>
            <a:ext cx="6217920" cy="365760"/>
          </a:xfrm>
          <a:prstGeom prst="rect">
            <a:avLst/>
          </a:prstGeom>
          <a:noFill/>
          <a:ln/>
        </p:spPr>
        <p:txBody>
          <a:bodyPr wrap="square" lIns="0" tIns="0" rIns="0" bIns="0" rtlCol="0" anchor="t"/>
          <a:lstStyle/>
          <a:p>
            <a:pPr marL="0" indent="0">
              <a:buNone/>
            </a:pPr>
            <a:endParaRPr lang="en-US" sz="1600" dirty="0"/>
          </a:p>
        </p:txBody>
      </p:sp>
      <p:sp>
        <p:nvSpPr>
          <p:cNvPr id="16" name="Text 13"/>
          <p:cNvSpPr txBox="1"/>
          <p:nvPr/>
        </p:nvSpPr>
        <p:spPr>
          <a:xfrm>
            <a:off x="3931920" y="4434840"/>
            <a:ext cx="3657600" cy="274320"/>
          </a:xfrm>
          <a:prstGeom prst="rect">
            <a:avLst/>
          </a:prstGeom>
          <a:noFill/>
          <a:ln/>
        </p:spPr>
        <p:txBody>
          <a:bodyPr wrap="square" lIns="0" tIns="0" rIns="0" bIns="0" rtlCol="0" anchor="t"/>
          <a:lstStyle/>
          <a:p>
            <a:pPr marL="0" indent="0">
              <a:buNone/>
            </a:pPr>
            <a:r>
              <a:rPr lang="en-US" sz="1100" b="1" kern="0" spc="100" dirty="0">
                <a:solidFill>
                  <a:schemeClr val="accent1"/>
                </a:solidFill>
                <a:latin typeface="Arial" pitchFamily="34" charset="0"/>
                <a:ea typeface="Arial" pitchFamily="34" charset="-122"/>
                <a:cs typeface="Arial" pitchFamily="34" charset="-120"/>
              </a:rPr>
              <a:t>MY ONE RULE</a:t>
            </a:r>
            <a:endParaRPr lang="en-US" sz="1100" dirty="0"/>
          </a:p>
        </p:txBody>
      </p:sp>
      <p:sp>
        <p:nvSpPr>
          <p:cNvPr id="17" name="Text 14"/>
          <p:cNvSpPr txBox="1"/>
          <p:nvPr/>
        </p:nvSpPr>
        <p:spPr>
          <a:xfrm>
            <a:off x="3931920" y="4754880"/>
            <a:ext cx="7680960" cy="1097280"/>
          </a:xfrm>
          <a:prstGeom prst="rect">
            <a:avLst/>
          </a:prstGeom>
          <a:noFill/>
          <a:ln/>
        </p:spPr>
        <p:txBody>
          <a:bodyPr wrap="square" lIns="0" tIns="0" rIns="0" bIns="0" rtlCol="0" anchor="t"/>
          <a:lstStyle/>
          <a:p>
            <a:pPr marL="0" indent="0">
              <a:buNone/>
            </a:pPr>
            <a:r>
              <a:rPr lang="en-US" sz="2400" b="1" dirty="0">
                <a:solidFill>
                  <a:schemeClr val="bg1"/>
                </a:solidFill>
                <a:latin typeface="Arial" pitchFamily="34" charset="0"/>
                <a:ea typeface="Arial" pitchFamily="34" charset="-122"/>
                <a:cs typeface="Arial" pitchFamily="34" charset="-120"/>
              </a:rPr>
              <a:t>If the tool says something about your environment, </a:t>
            </a:r>
            <a:r>
              <a:rPr lang="en-US" sz="2400" b="1" dirty="0">
                <a:solidFill>
                  <a:schemeClr val="accent1"/>
                </a:solidFill>
                <a:latin typeface="Arial" pitchFamily="34" charset="0"/>
                <a:ea typeface="Arial" pitchFamily="34" charset="-122"/>
                <a:cs typeface="Arial" pitchFamily="34" charset="-120"/>
              </a:rPr>
              <a:t>it has to have seen it.</a:t>
            </a:r>
            <a:endParaRPr lang="en-US" sz="2400" dirty="0"/>
          </a:p>
        </p:txBody>
      </p:sp>
      <p:sp>
        <p:nvSpPr>
          <p:cNvPr id="25" name="Slide Number Placeholder 0"/>
          <p:cNvSpPr>
            <a:spLocks noGrp="1"/>
          </p:cNvSpPr>
          <p:nvPr>
            <p:ph type="sldNum" sz="quarter" idx="4294967295"/>
          </p:nvPr>
        </p:nvSpPr>
        <p:spPr>
          <a:xfrm>
            <a:off x="11155680" y="6382512"/>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latin typeface="Arial"/>
                <a:ea typeface="Arial"/>
                <a:cs typeface="Aria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1371600" y="365760"/>
            <a:ext cx="7315200" cy="274320"/>
          </a:xfrm>
          <a:prstGeom prst="rect">
            <a:avLst/>
          </a:prstGeom>
          <a:noFill/>
          <a:ln/>
        </p:spPr>
        <p:txBody>
          <a:bodyPr wrap="square" lIns="0" tIns="0" rIns="0" bIns="0" rtlCol="0" anchor="ctr"/>
          <a:lstStyle/>
          <a:p>
            <a:pPr marL="0" indent="0" algn="l">
              <a:buNone/>
            </a:pPr>
            <a:r>
              <a:rPr lang="en-US" sz="1200" b="1" kern="0" spc="200" dirty="0">
                <a:solidFill>
                  <a:schemeClr val="accent1"/>
                </a:solidFill>
                <a:latin typeface="Arial" pitchFamily="34" charset="0"/>
                <a:ea typeface="Arial" pitchFamily="34" charset="-122"/>
                <a:cs typeface="Arial" pitchFamily="34" charset="-120"/>
              </a:rPr>
              <a:t>02  ·  THE PROBLEM</a:t>
            </a:r>
            <a:endParaRPr lang="en-US" sz="1200" dirty="0"/>
          </a:p>
        </p:txBody>
      </p:sp>
      <p:sp>
        <p:nvSpPr>
          <p:cNvPr id="3" name="Text 1"/>
          <p:cNvSpPr>
            <a:spLocks noGrp="1"/>
          </p:cNvSpPr>
          <p:nvPr>
            <p:ph type="title" idx="103" hasCustomPrompt="1"/>
          </p:nvPr>
        </p:nvSpPr>
        <p:spPr>
          <a:xfrm>
            <a:off x="548640" y="777240"/>
            <a:ext cx="11064240" cy="822960"/>
          </a:xfrm>
          <a:prstGeom prst="rect">
            <a:avLst/>
          </a:prstGeom>
          <a:noFill/>
          <a:ln/>
        </p:spPr>
        <p:txBody>
          <a:bodyPr wrap="square" lIns="0" tIns="0" rIns="0" bIns="0" rtlCol="0" anchor="t"/>
          <a:lstStyle/>
          <a:p>
            <a:pPr marL="0" indent="0" algn="l">
              <a:buNone/>
            </a:pPr>
            <a:r>
              <a:rPr lang="en-US" sz="3000" b="1" dirty="0">
                <a:solidFill>
                  <a:schemeClr val="accent1"/>
                </a:solidFill>
              </a:rPr>
              <a:t>LISTS </a:t>
            </a:r>
            <a:r>
              <a:rPr lang="en-US" sz="3000" b="1" dirty="0">
                <a:solidFill>
                  <a:schemeClr val="bg1"/>
                </a:solidFill>
              </a:rPr>
              <a:t>VS GRAPHS</a:t>
            </a:r>
            <a:endParaRPr lang="en-US" sz="3000" dirty="0"/>
          </a:p>
        </p:txBody>
      </p:sp>
      <p:sp>
        <p:nvSpPr>
          <p:cNvPr id="4" name="Text 2"/>
          <p:cNvSpPr txBox="1"/>
          <p:nvPr/>
        </p:nvSpPr>
        <p:spPr>
          <a:xfrm>
            <a:off x="548640" y="1508760"/>
            <a:ext cx="11064240" cy="411480"/>
          </a:xfrm>
          <a:prstGeom prst="rect">
            <a:avLst/>
          </a:prstGeom>
          <a:noFill/>
          <a:ln/>
        </p:spPr>
        <p:txBody>
          <a:bodyPr wrap="square" lIns="0" tIns="0" rIns="0" bIns="0" rtlCol="0" anchor="t"/>
          <a:lstStyle/>
          <a:p>
            <a:pPr marL="0" indent="0">
              <a:buNone/>
            </a:pPr>
            <a:r>
              <a:rPr lang="en-US" sz="2000" i="1" dirty="0">
                <a:solidFill>
                  <a:schemeClr val="bg1"/>
                </a:solidFill>
                <a:latin typeface="Arial" pitchFamily="34" charset="0"/>
                <a:ea typeface="Arial" pitchFamily="34" charset="-122"/>
                <a:cs typeface="Arial" pitchFamily="34" charset="-120"/>
              </a:rPr>
              <a:t>“Defenders think in lists. Attackers think in graphs.”  </a:t>
            </a:r>
            <a:r>
              <a:rPr lang="en-US" sz="1400" i="1" dirty="0">
                <a:solidFill>
                  <a:schemeClr val="bg2"/>
                </a:solidFill>
                <a:latin typeface="Arial" pitchFamily="34" charset="0"/>
                <a:ea typeface="Arial" pitchFamily="34" charset="-122"/>
                <a:cs typeface="Arial" pitchFamily="34" charset="-120"/>
              </a:rPr>
              <a:t>John Lambert, Microsoft</a:t>
            </a:r>
            <a:endParaRPr lang="en-US" sz="2000" dirty="0"/>
          </a:p>
        </p:txBody>
      </p:sp>
      <p:sp>
        <p:nvSpPr>
          <p:cNvPr id="5" name="list tag"/>
          <p:cNvSpPr/>
          <p:nvPr/>
        </p:nvSpPr>
        <p:spPr>
          <a:xfrm>
            <a:off x="548640" y="2103120"/>
            <a:ext cx="2926080" cy="384048"/>
          </a:xfrm>
          <a:prstGeom prst="roundRect">
            <a:avLst>
              <a:gd name="adj" fmla="val 11905"/>
            </a:avLst>
          </a:prstGeom>
          <a:solidFill>
            <a:schemeClr val="accent2"/>
          </a:solidFill>
          <a:ln w="12700">
            <a:solidFill>
              <a:schemeClr val="accent1"/>
            </a:solidFill>
            <a:prstDash val="solid"/>
          </a:ln>
        </p:spPr>
      </p:sp>
      <p:sp>
        <p:nvSpPr>
          <p:cNvPr id="6" name="list tag text"/>
          <p:cNvSpPr txBox="1"/>
          <p:nvPr/>
        </p:nvSpPr>
        <p:spPr>
          <a:xfrm>
            <a:off x="548640" y="2103120"/>
            <a:ext cx="2926080" cy="384048"/>
          </a:xfrm>
          <a:prstGeom prst="rect">
            <a:avLst/>
          </a:prstGeom>
          <a:noFill/>
          <a:ln/>
        </p:spPr>
        <p:txBody>
          <a:bodyPr wrap="square" lIns="0" tIns="0" rIns="0" bIns="0" rtlCol="0" anchor="ctr"/>
          <a:lstStyle/>
          <a:p>
            <a:pPr marL="0" indent="0" algn="ctr">
              <a:buNone/>
            </a:pPr>
            <a:r>
              <a:rPr lang="en-US" sz="1200" b="1" dirty="0">
                <a:solidFill>
                  <a:schemeClr val="bg1"/>
                </a:solidFill>
                <a:latin typeface="Arial" pitchFamily="34" charset="0"/>
                <a:ea typeface="Arial" pitchFamily="34" charset="-122"/>
                <a:cs typeface="Arial" pitchFamily="34" charset="-120"/>
              </a:rPr>
              <a:t>WHAT THE PORTAL SHOWS</a:t>
            </a:r>
            <a:endParaRPr lang="en-US" sz="1200" dirty="0"/>
          </a:p>
        </p:txBody>
      </p:sp>
      <p:sp>
        <p:nvSpPr>
          <p:cNvPr id="7" name="row 0"/>
          <p:cNvSpPr/>
          <p:nvPr/>
        </p:nvSpPr>
        <p:spPr>
          <a:xfrm>
            <a:off x="548640" y="2743200"/>
            <a:ext cx="5120640" cy="493776"/>
          </a:xfrm>
          <a:prstGeom prst="rect">
            <a:avLst/>
          </a:prstGeom>
          <a:solidFill>
            <a:schemeClr val="tx2"/>
          </a:solidFill>
          <a:ln w="12700">
            <a:solidFill>
              <a:schemeClr val="accent4"/>
            </a:solidFill>
            <a:prstDash val="solid"/>
          </a:ln>
        </p:spPr>
      </p:sp>
      <p:sp>
        <p:nvSpPr>
          <p:cNvPr id="8" name="Text 6"/>
          <p:cNvSpPr txBox="1"/>
          <p:nvPr/>
        </p:nvSpPr>
        <p:spPr>
          <a:xfrm>
            <a:off x="731520" y="2852928"/>
            <a:ext cx="2194560" cy="292608"/>
          </a:xfrm>
          <a:prstGeom prst="rect">
            <a:avLst/>
          </a:prstGeom>
          <a:noFill/>
          <a:ln/>
        </p:spPr>
        <p:txBody>
          <a:bodyPr wrap="square" lIns="0" tIns="0" rIns="0" bIns="0" rtlCol="0" anchor="t"/>
          <a:lstStyle/>
          <a:p>
            <a:pPr marL="0" indent="0">
              <a:buNone/>
            </a:pPr>
            <a:r>
              <a:rPr lang="en-US" sz="1400" dirty="0">
                <a:solidFill>
                  <a:schemeClr val="bg1"/>
                </a:solidFill>
                <a:latin typeface="Courier New" pitchFamily="34" charset="0"/>
                <a:ea typeface="Courier New" pitchFamily="34" charset="-122"/>
                <a:cs typeface="Courier New" pitchFamily="34" charset="-120"/>
              </a:rPr>
              <a:t>pip-web-01</a:t>
            </a:r>
            <a:endParaRPr lang="en-US" sz="1400" dirty="0"/>
          </a:p>
        </p:txBody>
      </p:sp>
      <p:sp>
        <p:nvSpPr>
          <p:cNvPr id="9" name="Text 7"/>
          <p:cNvSpPr txBox="1"/>
          <p:nvPr/>
        </p:nvSpPr>
        <p:spPr>
          <a:xfrm>
            <a:off x="3017520" y="2852928"/>
            <a:ext cx="2560320" cy="292608"/>
          </a:xfrm>
          <a:prstGeom prst="rect">
            <a:avLst/>
          </a:prstGeom>
          <a:noFill/>
          <a:ln/>
        </p:spPr>
        <p:txBody>
          <a:bodyPr wrap="square" lIns="0" tIns="0" rIns="0" bIns="0" rtlCol="0" anchor="t"/>
          <a:lstStyle/>
          <a:p>
            <a:pPr marL="0" indent="0">
              <a:buNone/>
            </a:pPr>
            <a:r>
              <a:rPr lang="en-US" sz="1400" dirty="0">
                <a:solidFill>
                  <a:schemeClr val="bg2"/>
                </a:solidFill>
                <a:latin typeface="Arial" pitchFamily="34" charset="0"/>
                <a:ea typeface="Arial" pitchFamily="34" charset="-122"/>
                <a:cs typeface="Arial" pitchFamily="34" charset="-120"/>
              </a:rPr>
              <a:t>Public IP</a:t>
            </a:r>
            <a:endParaRPr lang="en-US" sz="1400" dirty="0"/>
          </a:p>
        </p:txBody>
      </p:sp>
      <p:sp>
        <p:nvSpPr>
          <p:cNvPr id="10" name="row 1"/>
          <p:cNvSpPr/>
          <p:nvPr/>
        </p:nvSpPr>
        <p:spPr>
          <a:xfrm>
            <a:off x="548640" y="3346704"/>
            <a:ext cx="5120640" cy="493776"/>
          </a:xfrm>
          <a:prstGeom prst="rect">
            <a:avLst/>
          </a:prstGeom>
          <a:solidFill>
            <a:schemeClr val="tx2"/>
          </a:solidFill>
          <a:ln w="12700">
            <a:solidFill>
              <a:schemeClr val="accent4"/>
            </a:solidFill>
            <a:prstDash val="solid"/>
          </a:ln>
        </p:spPr>
      </p:sp>
      <p:sp>
        <p:nvSpPr>
          <p:cNvPr id="11" name="Text 9"/>
          <p:cNvSpPr txBox="1"/>
          <p:nvPr/>
        </p:nvSpPr>
        <p:spPr>
          <a:xfrm>
            <a:off x="731520" y="3456432"/>
            <a:ext cx="2194560" cy="292608"/>
          </a:xfrm>
          <a:prstGeom prst="rect">
            <a:avLst/>
          </a:prstGeom>
          <a:noFill/>
          <a:ln/>
        </p:spPr>
        <p:txBody>
          <a:bodyPr wrap="square" lIns="0" tIns="0" rIns="0" bIns="0" rtlCol="0" anchor="t"/>
          <a:lstStyle/>
          <a:p>
            <a:pPr marL="0" indent="0">
              <a:buNone/>
            </a:pPr>
            <a:r>
              <a:rPr lang="en-US" sz="1400" dirty="0">
                <a:solidFill>
                  <a:schemeClr val="bg1"/>
                </a:solidFill>
                <a:latin typeface="Courier New" pitchFamily="34" charset="0"/>
                <a:ea typeface="Courier New" pitchFamily="34" charset="-122"/>
                <a:cs typeface="Courier New" pitchFamily="34" charset="-120"/>
              </a:rPr>
              <a:t>nic-web-01</a:t>
            </a:r>
            <a:endParaRPr lang="en-US" sz="1400" dirty="0"/>
          </a:p>
        </p:txBody>
      </p:sp>
      <p:sp>
        <p:nvSpPr>
          <p:cNvPr id="12" name="Text 10"/>
          <p:cNvSpPr txBox="1"/>
          <p:nvPr/>
        </p:nvSpPr>
        <p:spPr>
          <a:xfrm>
            <a:off x="3017520" y="3456432"/>
            <a:ext cx="2560320" cy="292608"/>
          </a:xfrm>
          <a:prstGeom prst="rect">
            <a:avLst/>
          </a:prstGeom>
          <a:noFill/>
          <a:ln/>
        </p:spPr>
        <p:txBody>
          <a:bodyPr wrap="square" lIns="0" tIns="0" rIns="0" bIns="0" rtlCol="0" anchor="t"/>
          <a:lstStyle/>
          <a:p>
            <a:pPr marL="0" indent="0">
              <a:buNone/>
            </a:pPr>
            <a:r>
              <a:rPr lang="en-US" sz="1400" dirty="0">
                <a:solidFill>
                  <a:schemeClr val="bg2"/>
                </a:solidFill>
                <a:latin typeface="Arial" pitchFamily="34" charset="0"/>
                <a:ea typeface="Arial" pitchFamily="34" charset="-122"/>
                <a:cs typeface="Arial" pitchFamily="34" charset="-120"/>
              </a:rPr>
              <a:t>Network interface</a:t>
            </a:r>
            <a:endParaRPr lang="en-US" sz="1400" dirty="0"/>
          </a:p>
        </p:txBody>
      </p:sp>
      <p:sp>
        <p:nvSpPr>
          <p:cNvPr id="13" name="row 2"/>
          <p:cNvSpPr/>
          <p:nvPr/>
        </p:nvSpPr>
        <p:spPr>
          <a:xfrm>
            <a:off x="548640" y="3950208"/>
            <a:ext cx="5120640" cy="493776"/>
          </a:xfrm>
          <a:prstGeom prst="rect">
            <a:avLst/>
          </a:prstGeom>
          <a:solidFill>
            <a:schemeClr val="tx2"/>
          </a:solidFill>
          <a:ln w="12700">
            <a:solidFill>
              <a:schemeClr val="accent4"/>
            </a:solidFill>
            <a:prstDash val="solid"/>
          </a:ln>
        </p:spPr>
      </p:sp>
      <p:sp>
        <p:nvSpPr>
          <p:cNvPr id="14" name="Text 12"/>
          <p:cNvSpPr txBox="1"/>
          <p:nvPr/>
        </p:nvSpPr>
        <p:spPr>
          <a:xfrm>
            <a:off x="731520" y="4059936"/>
            <a:ext cx="2194560" cy="292608"/>
          </a:xfrm>
          <a:prstGeom prst="rect">
            <a:avLst/>
          </a:prstGeom>
          <a:noFill/>
          <a:ln/>
        </p:spPr>
        <p:txBody>
          <a:bodyPr wrap="square" lIns="0" tIns="0" rIns="0" bIns="0" rtlCol="0" anchor="t"/>
          <a:lstStyle/>
          <a:p>
            <a:pPr marL="0" indent="0">
              <a:buNone/>
            </a:pPr>
            <a:r>
              <a:rPr lang="en-US" sz="1400" dirty="0">
                <a:solidFill>
                  <a:schemeClr val="bg1"/>
                </a:solidFill>
                <a:latin typeface="Courier New" pitchFamily="34" charset="0"/>
                <a:ea typeface="Courier New" pitchFamily="34" charset="-122"/>
                <a:cs typeface="Courier New" pitchFamily="34" charset="-120"/>
              </a:rPr>
              <a:t>vm-web-01</a:t>
            </a:r>
            <a:endParaRPr lang="en-US" sz="1400" dirty="0"/>
          </a:p>
        </p:txBody>
      </p:sp>
      <p:sp>
        <p:nvSpPr>
          <p:cNvPr id="15" name="Text 13"/>
          <p:cNvSpPr txBox="1"/>
          <p:nvPr/>
        </p:nvSpPr>
        <p:spPr>
          <a:xfrm>
            <a:off x="3017520" y="4059936"/>
            <a:ext cx="2560320" cy="292608"/>
          </a:xfrm>
          <a:prstGeom prst="rect">
            <a:avLst/>
          </a:prstGeom>
          <a:noFill/>
          <a:ln/>
        </p:spPr>
        <p:txBody>
          <a:bodyPr wrap="square" lIns="0" tIns="0" rIns="0" bIns="0" rtlCol="0" anchor="t"/>
          <a:lstStyle/>
          <a:p>
            <a:pPr marL="0" indent="0">
              <a:buNone/>
            </a:pPr>
            <a:r>
              <a:rPr lang="en-US" sz="1400" dirty="0">
                <a:solidFill>
                  <a:schemeClr val="bg2"/>
                </a:solidFill>
                <a:latin typeface="Arial" pitchFamily="34" charset="0"/>
                <a:ea typeface="Arial" pitchFamily="34" charset="-122"/>
                <a:cs typeface="Arial" pitchFamily="34" charset="-120"/>
              </a:rPr>
              <a:t>Virtual machine</a:t>
            </a:r>
            <a:endParaRPr lang="en-US" sz="1400" dirty="0"/>
          </a:p>
        </p:txBody>
      </p:sp>
      <p:sp>
        <p:nvSpPr>
          <p:cNvPr id="16" name="row 3"/>
          <p:cNvSpPr/>
          <p:nvPr/>
        </p:nvSpPr>
        <p:spPr>
          <a:xfrm>
            <a:off x="548640" y="4553712"/>
            <a:ext cx="5120640" cy="493776"/>
          </a:xfrm>
          <a:prstGeom prst="rect">
            <a:avLst/>
          </a:prstGeom>
          <a:solidFill>
            <a:schemeClr val="tx2"/>
          </a:solidFill>
          <a:ln w="12700">
            <a:solidFill>
              <a:schemeClr val="accent4"/>
            </a:solidFill>
            <a:prstDash val="solid"/>
          </a:ln>
        </p:spPr>
      </p:sp>
      <p:sp>
        <p:nvSpPr>
          <p:cNvPr id="17" name="Text 15"/>
          <p:cNvSpPr txBox="1"/>
          <p:nvPr/>
        </p:nvSpPr>
        <p:spPr>
          <a:xfrm>
            <a:off x="731520" y="4663440"/>
            <a:ext cx="2194560" cy="292608"/>
          </a:xfrm>
          <a:prstGeom prst="rect">
            <a:avLst/>
          </a:prstGeom>
          <a:noFill/>
          <a:ln/>
        </p:spPr>
        <p:txBody>
          <a:bodyPr wrap="square" lIns="0" tIns="0" rIns="0" bIns="0" rtlCol="0" anchor="t"/>
          <a:lstStyle/>
          <a:p>
            <a:pPr marL="0" indent="0">
              <a:buNone/>
            </a:pPr>
            <a:r>
              <a:rPr lang="en-US" sz="1400" dirty="0">
                <a:solidFill>
                  <a:schemeClr val="bg1"/>
                </a:solidFill>
                <a:latin typeface="Courier New" pitchFamily="34" charset="0"/>
                <a:ea typeface="Courier New" pitchFamily="34" charset="-122"/>
                <a:cs typeface="Courier New" pitchFamily="34" charset="-120"/>
              </a:rPr>
              <a:t>stprodbackup</a:t>
            </a:r>
            <a:endParaRPr lang="en-US" sz="1400" dirty="0"/>
          </a:p>
        </p:txBody>
      </p:sp>
      <p:sp>
        <p:nvSpPr>
          <p:cNvPr id="18" name="Text 16"/>
          <p:cNvSpPr txBox="1"/>
          <p:nvPr/>
        </p:nvSpPr>
        <p:spPr>
          <a:xfrm>
            <a:off x="3017520" y="4663440"/>
            <a:ext cx="2560320" cy="292608"/>
          </a:xfrm>
          <a:prstGeom prst="rect">
            <a:avLst/>
          </a:prstGeom>
          <a:noFill/>
          <a:ln/>
        </p:spPr>
        <p:txBody>
          <a:bodyPr wrap="square" lIns="0" tIns="0" rIns="0" bIns="0" rtlCol="0" anchor="t"/>
          <a:lstStyle/>
          <a:p>
            <a:pPr marL="0" indent="0">
              <a:buNone/>
            </a:pPr>
            <a:r>
              <a:rPr lang="en-US" sz="1400" dirty="0">
                <a:solidFill>
                  <a:schemeClr val="bg2"/>
                </a:solidFill>
                <a:latin typeface="Arial" pitchFamily="34" charset="0"/>
                <a:ea typeface="Arial" pitchFamily="34" charset="-122"/>
                <a:cs typeface="Arial" pitchFamily="34" charset="-120"/>
              </a:rPr>
              <a:t>Storage account</a:t>
            </a:r>
            <a:endParaRPr lang="en-US" sz="1400" dirty="0"/>
          </a:p>
        </p:txBody>
      </p:sp>
      <p:sp>
        <p:nvSpPr>
          <p:cNvPr id="19" name="row 4"/>
          <p:cNvSpPr/>
          <p:nvPr/>
        </p:nvSpPr>
        <p:spPr>
          <a:xfrm>
            <a:off x="548640" y="5157216"/>
            <a:ext cx="5120640" cy="493776"/>
          </a:xfrm>
          <a:prstGeom prst="rect">
            <a:avLst/>
          </a:prstGeom>
          <a:solidFill>
            <a:schemeClr val="tx2"/>
          </a:solidFill>
          <a:ln w="12700">
            <a:solidFill>
              <a:schemeClr val="accent4"/>
            </a:solidFill>
            <a:prstDash val="solid"/>
          </a:ln>
        </p:spPr>
      </p:sp>
      <p:sp>
        <p:nvSpPr>
          <p:cNvPr id="20" name="Text 18"/>
          <p:cNvSpPr txBox="1"/>
          <p:nvPr/>
        </p:nvSpPr>
        <p:spPr>
          <a:xfrm>
            <a:off x="731520" y="5266944"/>
            <a:ext cx="2194560" cy="292608"/>
          </a:xfrm>
          <a:prstGeom prst="rect">
            <a:avLst/>
          </a:prstGeom>
          <a:noFill/>
          <a:ln/>
        </p:spPr>
        <p:txBody>
          <a:bodyPr wrap="square" lIns="0" tIns="0" rIns="0" bIns="0" rtlCol="0" anchor="t"/>
          <a:lstStyle/>
          <a:p>
            <a:pPr marL="0" indent="0">
              <a:buNone/>
            </a:pPr>
            <a:r>
              <a:rPr lang="en-US" sz="1400" dirty="0">
                <a:solidFill>
                  <a:schemeClr val="bg1"/>
                </a:solidFill>
                <a:latin typeface="Courier New" pitchFamily="34" charset="0"/>
                <a:ea typeface="Courier New" pitchFamily="34" charset="-122"/>
                <a:cs typeface="Courier New" pitchFamily="34" charset="-120"/>
              </a:rPr>
              <a:t>nsg-app</a:t>
            </a:r>
            <a:endParaRPr lang="en-US" sz="1400" dirty="0"/>
          </a:p>
        </p:txBody>
      </p:sp>
      <p:sp>
        <p:nvSpPr>
          <p:cNvPr id="21" name="Text 19"/>
          <p:cNvSpPr txBox="1"/>
          <p:nvPr/>
        </p:nvSpPr>
        <p:spPr>
          <a:xfrm>
            <a:off x="3017520" y="5266944"/>
            <a:ext cx="2560320" cy="292608"/>
          </a:xfrm>
          <a:prstGeom prst="rect">
            <a:avLst/>
          </a:prstGeom>
          <a:noFill/>
          <a:ln/>
        </p:spPr>
        <p:txBody>
          <a:bodyPr wrap="square" lIns="0" tIns="0" rIns="0" bIns="0" rtlCol="0" anchor="t"/>
          <a:lstStyle/>
          <a:p>
            <a:pPr marL="0" indent="0">
              <a:buNone/>
            </a:pPr>
            <a:r>
              <a:rPr lang="en-US" sz="1400" dirty="0">
                <a:solidFill>
                  <a:schemeClr val="bg2"/>
                </a:solidFill>
                <a:latin typeface="Arial" pitchFamily="34" charset="0"/>
                <a:ea typeface="Arial" pitchFamily="34" charset="-122"/>
                <a:cs typeface="Arial" pitchFamily="34" charset="-120"/>
              </a:rPr>
              <a:t>Network security group</a:t>
            </a:r>
            <a:endParaRPr lang="en-US" sz="1400" dirty="0"/>
          </a:p>
        </p:txBody>
      </p:sp>
      <p:sp>
        <p:nvSpPr>
          <p:cNvPr id="22" name="graph tag"/>
          <p:cNvSpPr/>
          <p:nvPr/>
        </p:nvSpPr>
        <p:spPr>
          <a:xfrm>
            <a:off x="6492240" y="2103120"/>
            <a:ext cx="3108960" cy="384048"/>
          </a:xfrm>
          <a:prstGeom prst="roundRect">
            <a:avLst>
              <a:gd name="adj" fmla="val 11905"/>
            </a:avLst>
          </a:prstGeom>
          <a:solidFill>
            <a:schemeClr val="accent2"/>
          </a:solidFill>
          <a:ln w="12700">
            <a:solidFill>
              <a:schemeClr val="accent1"/>
            </a:solidFill>
            <a:prstDash val="solid"/>
          </a:ln>
        </p:spPr>
      </p:sp>
      <p:sp>
        <p:nvSpPr>
          <p:cNvPr id="23" name="graph tag text"/>
          <p:cNvSpPr txBox="1"/>
          <p:nvPr/>
        </p:nvSpPr>
        <p:spPr>
          <a:xfrm>
            <a:off x="6492240" y="2103120"/>
            <a:ext cx="3108960" cy="384048"/>
          </a:xfrm>
          <a:prstGeom prst="rect">
            <a:avLst/>
          </a:prstGeom>
          <a:noFill/>
          <a:ln/>
        </p:spPr>
        <p:txBody>
          <a:bodyPr wrap="square" lIns="0" tIns="0" rIns="0" bIns="0" rtlCol="0" anchor="ctr"/>
          <a:lstStyle/>
          <a:p>
            <a:pPr marL="0" indent="0" algn="ctr">
              <a:buNone/>
            </a:pPr>
            <a:r>
              <a:rPr lang="en-US" sz="1200" b="1" dirty="0">
                <a:solidFill>
                  <a:schemeClr val="bg1"/>
                </a:solidFill>
                <a:latin typeface="Arial" pitchFamily="34" charset="0"/>
                <a:ea typeface="Arial" pitchFamily="34" charset="-122"/>
                <a:cs typeface="Arial" pitchFamily="34" charset="-120"/>
              </a:rPr>
              <a:t>WHAT THE ATTACKER SEES</a:t>
            </a:r>
            <a:endParaRPr lang="en-US" sz="1200" dirty="0"/>
          </a:p>
        </p:txBody>
      </p:sp>
      <p:sp>
        <p:nvSpPr>
          <p:cNvPr id="24" name="path 0"/>
          <p:cNvSpPr/>
          <p:nvPr/>
        </p:nvSpPr>
        <p:spPr>
          <a:xfrm flipV="1">
            <a:off x="6858000" y="3108960"/>
            <a:ext cx="1188720" cy="1005840"/>
          </a:xfrm>
          <a:prstGeom prst="line">
            <a:avLst/>
          </a:prstGeom>
          <a:noFill/>
          <a:ln w="38100">
            <a:solidFill>
              <a:schemeClr val="accent1"/>
            </a:solidFill>
            <a:prstDash val="solid"/>
          </a:ln>
        </p:spPr>
      </p:sp>
      <p:sp>
        <p:nvSpPr>
          <p:cNvPr id="25" name="path 1"/>
          <p:cNvSpPr/>
          <p:nvPr/>
        </p:nvSpPr>
        <p:spPr>
          <a:xfrm>
            <a:off x="8046720" y="3108960"/>
            <a:ext cx="1188720" cy="1005840"/>
          </a:xfrm>
          <a:prstGeom prst="line">
            <a:avLst/>
          </a:prstGeom>
          <a:noFill/>
          <a:ln w="38100">
            <a:solidFill>
              <a:schemeClr val="accent1"/>
            </a:solidFill>
            <a:prstDash val="solid"/>
          </a:ln>
        </p:spPr>
      </p:sp>
      <p:sp>
        <p:nvSpPr>
          <p:cNvPr id="26" name="path 2"/>
          <p:cNvSpPr/>
          <p:nvPr/>
        </p:nvSpPr>
        <p:spPr>
          <a:xfrm flipV="1">
            <a:off x="9235440" y="3108960"/>
            <a:ext cx="1188720" cy="1005840"/>
          </a:xfrm>
          <a:prstGeom prst="line">
            <a:avLst/>
          </a:prstGeom>
          <a:noFill/>
          <a:ln w="38100">
            <a:solidFill>
              <a:schemeClr val="accent1"/>
            </a:solidFill>
            <a:prstDash val="solid"/>
          </a:ln>
        </p:spPr>
      </p:sp>
      <p:sp>
        <p:nvSpPr>
          <p:cNvPr id="27" name="path 3"/>
          <p:cNvSpPr/>
          <p:nvPr/>
        </p:nvSpPr>
        <p:spPr>
          <a:xfrm>
            <a:off x="10424160" y="3108960"/>
            <a:ext cx="914" cy="2194560"/>
          </a:xfrm>
          <a:prstGeom prst="line">
            <a:avLst/>
          </a:prstGeom>
          <a:noFill/>
          <a:ln w="38100">
            <a:solidFill>
              <a:schemeClr val="accent1"/>
            </a:solidFill>
            <a:prstDash val="solid"/>
          </a:ln>
        </p:spPr>
      </p:sp>
      <p:sp>
        <p:nvSpPr>
          <p:cNvPr id="28" name="side edge"/>
          <p:cNvSpPr/>
          <p:nvPr/>
        </p:nvSpPr>
        <p:spPr>
          <a:xfrm flipH="1">
            <a:off x="8138160" y="4114800"/>
            <a:ext cx="1097280" cy="1188720"/>
          </a:xfrm>
          <a:prstGeom prst="line">
            <a:avLst/>
          </a:prstGeom>
          <a:noFill/>
          <a:ln w="15875">
            <a:solidFill>
              <a:schemeClr val="accent4"/>
            </a:solidFill>
            <a:prstDash val="solid"/>
          </a:ln>
        </p:spPr>
      </p:sp>
      <p:sp>
        <p:nvSpPr>
          <p:cNvPr id="29" name="nsg node"/>
          <p:cNvSpPr/>
          <p:nvPr/>
        </p:nvSpPr>
        <p:spPr>
          <a:xfrm>
            <a:off x="8010144" y="5175504"/>
            <a:ext cx="256032" cy="256032"/>
          </a:xfrm>
          <a:prstGeom prst="ellipse">
            <a:avLst/>
          </a:prstGeom>
          <a:solidFill>
            <a:schemeClr val="tx1"/>
          </a:solidFill>
          <a:ln w="25400">
            <a:solidFill>
              <a:schemeClr val="accent3"/>
            </a:solidFill>
            <a:prstDash val="solid"/>
          </a:ln>
        </p:spPr>
      </p:sp>
      <p:sp>
        <p:nvSpPr>
          <p:cNvPr id="30" name="Text 28"/>
          <p:cNvSpPr txBox="1"/>
          <p:nvPr/>
        </p:nvSpPr>
        <p:spPr>
          <a:xfrm>
            <a:off x="7589520" y="5532120"/>
            <a:ext cx="1097280" cy="274320"/>
          </a:xfrm>
          <a:prstGeom prst="rect">
            <a:avLst/>
          </a:prstGeom>
          <a:noFill/>
          <a:ln/>
        </p:spPr>
        <p:txBody>
          <a:bodyPr wrap="square" lIns="0" tIns="0" rIns="0" bIns="0" rtlCol="0" anchor="t"/>
          <a:lstStyle/>
          <a:p>
            <a:pPr marL="0" indent="0" algn="ctr">
              <a:buNone/>
            </a:pPr>
            <a:r>
              <a:rPr lang="en-US" sz="1100" dirty="0">
                <a:solidFill>
                  <a:schemeClr val="bg2"/>
                </a:solidFill>
                <a:latin typeface="Arial" pitchFamily="34" charset="0"/>
                <a:ea typeface="Arial" pitchFamily="34" charset="-122"/>
                <a:cs typeface="Arial" pitchFamily="34" charset="-120"/>
              </a:rPr>
              <a:t>nsg-app</a:t>
            </a:r>
            <a:endParaRPr lang="en-US" sz="1100" dirty="0"/>
          </a:p>
        </p:txBody>
      </p:sp>
      <p:sp>
        <p:nvSpPr>
          <p:cNvPr id="31" name="path node 0"/>
          <p:cNvSpPr/>
          <p:nvPr/>
        </p:nvSpPr>
        <p:spPr>
          <a:xfrm>
            <a:off x="6665976" y="3922776"/>
            <a:ext cx="384048" cy="384048"/>
          </a:xfrm>
          <a:prstGeom prst="ellipse">
            <a:avLst/>
          </a:prstGeom>
          <a:solidFill>
            <a:schemeClr val="accent1"/>
          </a:solidFill>
          <a:ln w="25400">
            <a:solidFill>
              <a:schemeClr val="accent1"/>
            </a:solidFill>
            <a:prstDash val="solid"/>
          </a:ln>
        </p:spPr>
      </p:sp>
      <p:sp>
        <p:nvSpPr>
          <p:cNvPr id="32" name="Text 30"/>
          <p:cNvSpPr txBox="1"/>
          <p:nvPr/>
        </p:nvSpPr>
        <p:spPr>
          <a:xfrm>
            <a:off x="6126480" y="4407408"/>
            <a:ext cx="1463040" cy="274320"/>
          </a:xfrm>
          <a:prstGeom prst="rect">
            <a:avLst/>
          </a:prstGeom>
          <a:noFill/>
          <a:ln/>
        </p:spPr>
        <p:txBody>
          <a:bodyPr wrap="square" lIns="0" tIns="0" rIns="0" bIns="0" rtlCol="0" anchor="t"/>
          <a:lstStyle/>
          <a:p>
            <a:pPr marL="0" indent="0" algn="ctr">
              <a:buNone/>
            </a:pPr>
            <a:r>
              <a:rPr lang="en-US" sz="1200" dirty="0">
                <a:solidFill>
                  <a:schemeClr val="bg1"/>
                </a:solidFill>
                <a:latin typeface="Courier New" pitchFamily="34" charset="0"/>
                <a:ea typeface="Courier New" pitchFamily="34" charset="-122"/>
                <a:cs typeface="Courier New" pitchFamily="34" charset="-120"/>
              </a:rPr>
              <a:t>Internet</a:t>
            </a:r>
            <a:endParaRPr lang="en-US" sz="1200" dirty="0"/>
          </a:p>
        </p:txBody>
      </p:sp>
      <p:sp>
        <p:nvSpPr>
          <p:cNvPr id="33" name="path node 1"/>
          <p:cNvSpPr/>
          <p:nvPr/>
        </p:nvSpPr>
        <p:spPr>
          <a:xfrm>
            <a:off x="7854696" y="2916936"/>
            <a:ext cx="384048" cy="384048"/>
          </a:xfrm>
          <a:prstGeom prst="ellipse">
            <a:avLst/>
          </a:prstGeom>
          <a:solidFill>
            <a:schemeClr val="tx1"/>
          </a:solidFill>
          <a:ln w="25400">
            <a:solidFill>
              <a:schemeClr val="accent1"/>
            </a:solidFill>
            <a:prstDash val="solid"/>
          </a:ln>
        </p:spPr>
      </p:sp>
      <p:sp>
        <p:nvSpPr>
          <p:cNvPr id="34" name="Text 32"/>
          <p:cNvSpPr txBox="1"/>
          <p:nvPr/>
        </p:nvSpPr>
        <p:spPr>
          <a:xfrm>
            <a:off x="7315200" y="2542032"/>
            <a:ext cx="1463040" cy="274320"/>
          </a:xfrm>
          <a:prstGeom prst="rect">
            <a:avLst/>
          </a:prstGeom>
          <a:noFill/>
          <a:ln/>
        </p:spPr>
        <p:txBody>
          <a:bodyPr wrap="square" lIns="0" tIns="0" rIns="0" bIns="0" rtlCol="0" anchor="t"/>
          <a:lstStyle/>
          <a:p>
            <a:pPr marL="0" indent="0" algn="ctr">
              <a:buNone/>
            </a:pPr>
            <a:r>
              <a:rPr lang="en-US" sz="1200" dirty="0">
                <a:solidFill>
                  <a:schemeClr val="bg1"/>
                </a:solidFill>
                <a:latin typeface="Courier New" pitchFamily="34" charset="0"/>
                <a:ea typeface="Courier New" pitchFamily="34" charset="-122"/>
                <a:cs typeface="Courier New" pitchFamily="34" charset="-120"/>
              </a:rPr>
              <a:t>pip-web-01</a:t>
            </a:r>
            <a:endParaRPr lang="en-US" sz="1200" dirty="0"/>
          </a:p>
        </p:txBody>
      </p:sp>
      <p:sp>
        <p:nvSpPr>
          <p:cNvPr id="35" name="path node 2"/>
          <p:cNvSpPr/>
          <p:nvPr/>
        </p:nvSpPr>
        <p:spPr>
          <a:xfrm>
            <a:off x="9043416" y="3922776"/>
            <a:ext cx="384048" cy="384048"/>
          </a:xfrm>
          <a:prstGeom prst="ellipse">
            <a:avLst/>
          </a:prstGeom>
          <a:solidFill>
            <a:schemeClr val="tx1"/>
          </a:solidFill>
          <a:ln w="25400">
            <a:solidFill>
              <a:schemeClr val="accent1"/>
            </a:solidFill>
            <a:prstDash val="solid"/>
          </a:ln>
        </p:spPr>
      </p:sp>
      <p:sp>
        <p:nvSpPr>
          <p:cNvPr id="36" name="Text 34"/>
          <p:cNvSpPr txBox="1"/>
          <p:nvPr/>
        </p:nvSpPr>
        <p:spPr>
          <a:xfrm>
            <a:off x="8503920" y="4407408"/>
            <a:ext cx="1463040" cy="274320"/>
          </a:xfrm>
          <a:prstGeom prst="rect">
            <a:avLst/>
          </a:prstGeom>
          <a:noFill/>
          <a:ln/>
        </p:spPr>
        <p:txBody>
          <a:bodyPr wrap="square" lIns="0" tIns="0" rIns="0" bIns="0" rtlCol="0" anchor="t"/>
          <a:lstStyle/>
          <a:p>
            <a:pPr marL="0" indent="0" algn="ctr">
              <a:buNone/>
            </a:pPr>
            <a:r>
              <a:rPr lang="en-US" sz="1200" dirty="0">
                <a:solidFill>
                  <a:schemeClr val="bg1"/>
                </a:solidFill>
                <a:latin typeface="Courier New" pitchFamily="34" charset="0"/>
                <a:ea typeface="Courier New" pitchFamily="34" charset="-122"/>
                <a:cs typeface="Courier New" pitchFamily="34" charset="-120"/>
              </a:rPr>
              <a:t>nic-web-01</a:t>
            </a:r>
            <a:endParaRPr lang="en-US" sz="1200" dirty="0"/>
          </a:p>
        </p:txBody>
      </p:sp>
      <p:sp>
        <p:nvSpPr>
          <p:cNvPr id="37" name="path node 3"/>
          <p:cNvSpPr/>
          <p:nvPr/>
        </p:nvSpPr>
        <p:spPr>
          <a:xfrm>
            <a:off x="10232136" y="2916936"/>
            <a:ext cx="384048" cy="384048"/>
          </a:xfrm>
          <a:prstGeom prst="ellipse">
            <a:avLst/>
          </a:prstGeom>
          <a:solidFill>
            <a:schemeClr val="tx1"/>
          </a:solidFill>
          <a:ln w="25400">
            <a:solidFill>
              <a:schemeClr val="accent1"/>
            </a:solidFill>
            <a:prstDash val="solid"/>
          </a:ln>
        </p:spPr>
      </p:sp>
      <p:sp>
        <p:nvSpPr>
          <p:cNvPr id="38" name="Text 36"/>
          <p:cNvSpPr txBox="1"/>
          <p:nvPr/>
        </p:nvSpPr>
        <p:spPr>
          <a:xfrm>
            <a:off x="9692640" y="2542032"/>
            <a:ext cx="1463040" cy="274320"/>
          </a:xfrm>
          <a:prstGeom prst="rect">
            <a:avLst/>
          </a:prstGeom>
          <a:noFill/>
          <a:ln/>
        </p:spPr>
        <p:txBody>
          <a:bodyPr wrap="square" lIns="0" tIns="0" rIns="0" bIns="0" rtlCol="0" anchor="t"/>
          <a:lstStyle/>
          <a:p>
            <a:pPr marL="0" indent="0" algn="ctr">
              <a:buNone/>
            </a:pPr>
            <a:r>
              <a:rPr lang="en-US" sz="1200" dirty="0">
                <a:solidFill>
                  <a:schemeClr val="bg1"/>
                </a:solidFill>
                <a:latin typeface="Courier New" pitchFamily="34" charset="0"/>
                <a:ea typeface="Courier New" pitchFamily="34" charset="-122"/>
                <a:cs typeface="Courier New" pitchFamily="34" charset="-120"/>
              </a:rPr>
              <a:t>vm-web-01</a:t>
            </a:r>
            <a:endParaRPr lang="en-US" sz="1200" dirty="0"/>
          </a:p>
        </p:txBody>
      </p:sp>
      <p:sp>
        <p:nvSpPr>
          <p:cNvPr id="39" name="path node 4"/>
          <p:cNvSpPr/>
          <p:nvPr/>
        </p:nvSpPr>
        <p:spPr>
          <a:xfrm>
            <a:off x="10232136" y="5111496"/>
            <a:ext cx="384048" cy="384048"/>
          </a:xfrm>
          <a:prstGeom prst="ellipse">
            <a:avLst/>
          </a:prstGeom>
          <a:solidFill>
            <a:schemeClr val="accent1"/>
          </a:solidFill>
          <a:ln w="25400">
            <a:solidFill>
              <a:schemeClr val="accent1"/>
            </a:solidFill>
            <a:prstDash val="solid"/>
          </a:ln>
        </p:spPr>
      </p:sp>
      <p:sp>
        <p:nvSpPr>
          <p:cNvPr id="40" name="Text 38"/>
          <p:cNvSpPr txBox="1"/>
          <p:nvPr/>
        </p:nvSpPr>
        <p:spPr>
          <a:xfrm>
            <a:off x="9692640" y="5596128"/>
            <a:ext cx="1463040" cy="274320"/>
          </a:xfrm>
          <a:prstGeom prst="rect">
            <a:avLst/>
          </a:prstGeom>
          <a:noFill/>
          <a:ln/>
        </p:spPr>
        <p:txBody>
          <a:bodyPr wrap="square" lIns="0" tIns="0" rIns="0" bIns="0" rtlCol="0" anchor="t"/>
          <a:lstStyle/>
          <a:p>
            <a:pPr marL="0" indent="0" algn="ctr">
              <a:buNone/>
            </a:pPr>
            <a:r>
              <a:rPr lang="en-US" sz="1200" dirty="0">
                <a:solidFill>
                  <a:schemeClr val="bg1"/>
                </a:solidFill>
                <a:latin typeface="Courier New" pitchFamily="34" charset="0"/>
                <a:ea typeface="Courier New" pitchFamily="34" charset="-122"/>
                <a:cs typeface="Courier New" pitchFamily="34" charset="-120"/>
              </a:rPr>
              <a:t>stprodbackup</a:t>
            </a:r>
            <a:endParaRPr lang="en-US" sz="1200" dirty="0"/>
          </a:p>
        </p:txBody>
      </p:sp>
      <p:sp>
        <p:nvSpPr>
          <p:cNvPr id="41" name="Slide Number Placeholder 0"/>
          <p:cNvSpPr>
            <a:spLocks noGrp="1"/>
          </p:cNvSpPr>
          <p:nvPr>
            <p:ph type="sldNum" sz="quarter" idx="4294967295"/>
          </p:nvPr>
        </p:nvSpPr>
        <p:spPr>
          <a:xfrm>
            <a:off x="11155680" y="6382512"/>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latin typeface="Arial"/>
                <a:ea typeface="Arial"/>
                <a:cs typeface="Aria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1371600" y="365760"/>
            <a:ext cx="7315200" cy="274320"/>
          </a:xfrm>
          <a:prstGeom prst="rect">
            <a:avLst/>
          </a:prstGeom>
          <a:noFill/>
          <a:ln/>
        </p:spPr>
        <p:txBody>
          <a:bodyPr wrap="square" lIns="0" tIns="0" rIns="0" bIns="0" rtlCol="0" anchor="ctr"/>
          <a:lstStyle/>
          <a:p>
            <a:pPr marL="0" indent="0" algn="l">
              <a:buNone/>
            </a:pPr>
            <a:r>
              <a:rPr lang="en-US" sz="1200" b="1" kern="0" spc="200" dirty="0">
                <a:solidFill>
                  <a:schemeClr val="accent1"/>
                </a:solidFill>
                <a:latin typeface="Arial" pitchFamily="34" charset="0"/>
                <a:ea typeface="Arial" pitchFamily="34" charset="-122"/>
                <a:cs typeface="Arial" pitchFamily="34" charset="-120"/>
              </a:rPr>
              <a:t>03  ·  AGENDA</a:t>
            </a:r>
            <a:endParaRPr lang="en-US" sz="1200" dirty="0"/>
          </a:p>
        </p:txBody>
      </p:sp>
      <p:sp>
        <p:nvSpPr>
          <p:cNvPr id="3" name="Text 1"/>
          <p:cNvSpPr>
            <a:spLocks noGrp="1"/>
          </p:cNvSpPr>
          <p:nvPr>
            <p:ph type="title" idx="103" hasCustomPrompt="1"/>
          </p:nvPr>
        </p:nvSpPr>
        <p:spPr>
          <a:xfrm>
            <a:off x="548640" y="777240"/>
            <a:ext cx="11064240" cy="822960"/>
          </a:xfrm>
          <a:prstGeom prst="rect">
            <a:avLst/>
          </a:prstGeom>
          <a:noFill/>
          <a:ln/>
        </p:spPr>
        <p:txBody>
          <a:bodyPr wrap="square" lIns="0" tIns="0" rIns="0" bIns="0" rtlCol="0" anchor="t"/>
          <a:lstStyle/>
          <a:p>
            <a:pPr marL="0" indent="0" algn="l">
              <a:buNone/>
            </a:pPr>
            <a:r>
              <a:rPr lang="en-US" sz="3000" b="1" dirty="0">
                <a:solidFill>
                  <a:schemeClr val="accent1"/>
                </a:solidFill>
              </a:rPr>
              <a:t>TONIGHT </a:t>
            </a:r>
            <a:endParaRPr lang="en-US" sz="3000" dirty="0"/>
          </a:p>
        </p:txBody>
      </p:sp>
      <p:sp>
        <p:nvSpPr>
          <p:cNvPr id="4" name="Text 2"/>
          <p:cNvSpPr txBox="1"/>
          <p:nvPr/>
        </p:nvSpPr>
        <p:spPr>
          <a:xfrm>
            <a:off x="548640" y="1783080"/>
            <a:ext cx="1097280" cy="640080"/>
          </a:xfrm>
          <a:prstGeom prst="rect">
            <a:avLst/>
          </a:prstGeom>
          <a:noFill/>
          <a:ln/>
        </p:spPr>
        <p:txBody>
          <a:bodyPr wrap="square" lIns="0" tIns="0" rIns="0" bIns="0" rtlCol="0" anchor="t"/>
          <a:lstStyle/>
          <a:p>
            <a:pPr marL="0" indent="0">
              <a:buNone/>
            </a:pPr>
            <a:r>
              <a:rPr lang="en-US" sz="3200" b="1" dirty="0">
                <a:solidFill>
                  <a:schemeClr val="accent1"/>
                </a:solidFill>
                <a:latin typeface="Arial" pitchFamily="34" charset="0"/>
                <a:ea typeface="Arial" pitchFamily="34" charset="-122"/>
                <a:cs typeface="Arial" pitchFamily="34" charset="-120"/>
              </a:rPr>
              <a:t>01</a:t>
            </a:r>
            <a:endParaRPr lang="en-US" sz="3200" dirty="0"/>
          </a:p>
        </p:txBody>
      </p:sp>
      <p:sp>
        <p:nvSpPr>
          <p:cNvPr id="5" name="Text 3"/>
          <p:cNvSpPr txBox="1"/>
          <p:nvPr/>
        </p:nvSpPr>
        <p:spPr>
          <a:xfrm>
            <a:off x="1828800" y="1801368"/>
            <a:ext cx="4114800" cy="411480"/>
          </a:xfrm>
          <a:prstGeom prst="rect">
            <a:avLst/>
          </a:prstGeom>
          <a:noFill/>
          <a:ln/>
        </p:spPr>
        <p:txBody>
          <a:bodyPr wrap="square" lIns="0" tIns="0" rIns="0" bIns="0" rtlCol="0" anchor="t"/>
          <a:lstStyle/>
          <a:p>
            <a:pPr marL="0" indent="0">
              <a:buNone/>
            </a:pPr>
            <a:r>
              <a:rPr lang="en-US" sz="2200" b="1" dirty="0">
                <a:solidFill>
                  <a:schemeClr val="bg1"/>
                </a:solidFill>
                <a:latin typeface="Arial" pitchFamily="34" charset="0"/>
                <a:ea typeface="Arial" pitchFamily="34" charset="-122"/>
                <a:cs typeface="Arial" pitchFamily="34" charset="-120"/>
              </a:rPr>
              <a:t>What MCP is</a:t>
            </a:r>
            <a:endParaRPr lang="en-US" sz="2200" dirty="0"/>
          </a:p>
        </p:txBody>
      </p:sp>
      <p:sp>
        <p:nvSpPr>
          <p:cNvPr id="6" name="Text 4"/>
          <p:cNvSpPr txBox="1"/>
          <p:nvPr/>
        </p:nvSpPr>
        <p:spPr>
          <a:xfrm>
            <a:off x="6035040" y="1856232"/>
            <a:ext cx="4572000" cy="365760"/>
          </a:xfrm>
          <a:prstGeom prst="rect">
            <a:avLst/>
          </a:prstGeom>
          <a:noFill/>
          <a:ln/>
        </p:spPr>
        <p:txBody>
          <a:bodyPr wrap="square" lIns="0" tIns="0" rIns="0" bIns="0" rtlCol="0" anchor="t"/>
          <a:lstStyle/>
          <a:p>
            <a:pPr marL="0" indent="0">
              <a:buNone/>
            </a:pPr>
            <a:r>
              <a:rPr lang="en-US" sz="1600" dirty="0">
                <a:solidFill>
                  <a:schemeClr val="bg2"/>
                </a:solidFill>
                <a:latin typeface="Arial" pitchFamily="34" charset="0"/>
                <a:ea typeface="Arial" pitchFamily="34" charset="-122"/>
                <a:cs typeface="Arial" pitchFamily="34" charset="-120"/>
              </a:rPr>
              <a:t>and why it fits security tooling</a:t>
            </a:r>
            <a:endParaRPr lang="en-US" sz="1600" dirty="0"/>
          </a:p>
        </p:txBody>
      </p:sp>
      <p:sp>
        <p:nvSpPr>
          <p:cNvPr id="7" name="agenda sep 0"/>
          <p:cNvSpPr/>
          <p:nvPr/>
        </p:nvSpPr>
        <p:spPr>
          <a:xfrm>
            <a:off x="1828800" y="2514600"/>
            <a:ext cx="9601200" cy="914"/>
          </a:xfrm>
          <a:prstGeom prst="line">
            <a:avLst/>
          </a:prstGeom>
          <a:noFill/>
          <a:ln w="9525">
            <a:solidFill>
              <a:schemeClr val="accent4"/>
            </a:solidFill>
            <a:prstDash val="solid"/>
          </a:ln>
        </p:spPr>
      </p:sp>
      <p:sp>
        <p:nvSpPr>
          <p:cNvPr id="8" name="Text 6"/>
          <p:cNvSpPr txBox="1"/>
          <p:nvPr/>
        </p:nvSpPr>
        <p:spPr>
          <a:xfrm>
            <a:off x="548640" y="2651760"/>
            <a:ext cx="1097280" cy="640080"/>
          </a:xfrm>
          <a:prstGeom prst="rect">
            <a:avLst/>
          </a:prstGeom>
          <a:noFill/>
          <a:ln/>
        </p:spPr>
        <p:txBody>
          <a:bodyPr wrap="square" lIns="0" tIns="0" rIns="0" bIns="0" rtlCol="0" anchor="t"/>
          <a:lstStyle/>
          <a:p>
            <a:pPr marL="0" indent="0">
              <a:buNone/>
            </a:pPr>
            <a:r>
              <a:rPr lang="en-US" sz="3200" b="1" dirty="0">
                <a:solidFill>
                  <a:schemeClr val="accent1"/>
                </a:solidFill>
                <a:latin typeface="Arial" pitchFamily="34" charset="0"/>
                <a:ea typeface="Arial" pitchFamily="34" charset="-122"/>
                <a:cs typeface="Arial" pitchFamily="34" charset="-120"/>
              </a:rPr>
              <a:t>02</a:t>
            </a:r>
            <a:endParaRPr lang="en-US" sz="3200" dirty="0"/>
          </a:p>
        </p:txBody>
      </p:sp>
      <p:sp>
        <p:nvSpPr>
          <p:cNvPr id="9" name="Text 7"/>
          <p:cNvSpPr txBox="1"/>
          <p:nvPr/>
        </p:nvSpPr>
        <p:spPr>
          <a:xfrm>
            <a:off x="1828800" y="2670048"/>
            <a:ext cx="4114800" cy="411480"/>
          </a:xfrm>
          <a:prstGeom prst="rect">
            <a:avLst/>
          </a:prstGeom>
          <a:noFill/>
          <a:ln/>
        </p:spPr>
        <p:txBody>
          <a:bodyPr wrap="square" lIns="0" tIns="0" rIns="0" bIns="0" rtlCol="0" anchor="t"/>
          <a:lstStyle/>
          <a:p>
            <a:pPr marL="0" indent="0">
              <a:buNone/>
            </a:pPr>
            <a:r>
              <a:rPr lang="en-US" sz="2200" b="1" dirty="0">
                <a:solidFill>
                  <a:schemeClr val="bg1"/>
                </a:solidFill>
                <a:latin typeface="Arial" pitchFamily="34" charset="0"/>
                <a:ea typeface="Arial" pitchFamily="34" charset="-122"/>
                <a:cs typeface="Arial" pitchFamily="34" charset="-120"/>
              </a:rPr>
              <a:t>Building the map</a:t>
            </a:r>
            <a:endParaRPr lang="en-US" sz="2200" dirty="0"/>
          </a:p>
        </p:txBody>
      </p:sp>
      <p:sp>
        <p:nvSpPr>
          <p:cNvPr id="10" name="Text 8"/>
          <p:cNvSpPr txBox="1"/>
          <p:nvPr/>
        </p:nvSpPr>
        <p:spPr>
          <a:xfrm>
            <a:off x="6035040" y="2724912"/>
            <a:ext cx="4572000" cy="365760"/>
          </a:xfrm>
          <a:prstGeom prst="rect">
            <a:avLst/>
          </a:prstGeom>
          <a:noFill/>
          <a:ln/>
        </p:spPr>
        <p:txBody>
          <a:bodyPr wrap="square" lIns="0" tIns="0" rIns="0" bIns="0" rtlCol="0" anchor="t"/>
          <a:lstStyle/>
          <a:p>
            <a:pPr marL="0" indent="0">
              <a:buNone/>
            </a:pPr>
            <a:r>
              <a:rPr lang="en-US" sz="1600" dirty="0">
                <a:solidFill>
                  <a:schemeClr val="bg2"/>
                </a:solidFill>
                <a:latin typeface="Arial" pitchFamily="34" charset="0"/>
                <a:ea typeface="Arial" pitchFamily="34" charset="-122"/>
                <a:cs typeface="Arial" pitchFamily="34" charset="-120"/>
              </a:rPr>
              <a:t>from inventory to graph</a:t>
            </a:r>
            <a:endParaRPr lang="en-US" sz="1600" dirty="0"/>
          </a:p>
        </p:txBody>
      </p:sp>
      <p:sp>
        <p:nvSpPr>
          <p:cNvPr id="11" name="agenda sep 1"/>
          <p:cNvSpPr/>
          <p:nvPr/>
        </p:nvSpPr>
        <p:spPr>
          <a:xfrm>
            <a:off x="1828800" y="3383280"/>
            <a:ext cx="9601200" cy="914"/>
          </a:xfrm>
          <a:prstGeom prst="line">
            <a:avLst/>
          </a:prstGeom>
          <a:noFill/>
          <a:ln w="9525">
            <a:solidFill>
              <a:schemeClr val="accent4"/>
            </a:solidFill>
            <a:prstDash val="solid"/>
          </a:ln>
        </p:spPr>
      </p:sp>
      <p:sp>
        <p:nvSpPr>
          <p:cNvPr id="12" name="Text 10"/>
          <p:cNvSpPr txBox="1"/>
          <p:nvPr/>
        </p:nvSpPr>
        <p:spPr>
          <a:xfrm>
            <a:off x="548640" y="3520440"/>
            <a:ext cx="1097280" cy="640080"/>
          </a:xfrm>
          <a:prstGeom prst="rect">
            <a:avLst/>
          </a:prstGeom>
          <a:noFill/>
          <a:ln/>
        </p:spPr>
        <p:txBody>
          <a:bodyPr wrap="square" lIns="0" tIns="0" rIns="0" bIns="0" rtlCol="0" anchor="t"/>
          <a:lstStyle/>
          <a:p>
            <a:pPr marL="0" indent="0">
              <a:buNone/>
            </a:pPr>
            <a:r>
              <a:rPr lang="en-US" sz="3200" b="1" dirty="0">
                <a:solidFill>
                  <a:schemeClr val="accent1"/>
                </a:solidFill>
                <a:latin typeface="Arial" pitchFamily="34" charset="0"/>
                <a:ea typeface="Arial" pitchFamily="34" charset="-122"/>
                <a:cs typeface="Arial" pitchFamily="34" charset="-120"/>
              </a:rPr>
              <a:t>03</a:t>
            </a:r>
            <a:endParaRPr lang="en-US" sz="3200" dirty="0"/>
          </a:p>
        </p:txBody>
      </p:sp>
      <p:sp>
        <p:nvSpPr>
          <p:cNvPr id="13" name="Text 11"/>
          <p:cNvSpPr txBox="1"/>
          <p:nvPr/>
        </p:nvSpPr>
        <p:spPr>
          <a:xfrm>
            <a:off x="1828800" y="3538728"/>
            <a:ext cx="4114800" cy="411480"/>
          </a:xfrm>
          <a:prstGeom prst="rect">
            <a:avLst/>
          </a:prstGeom>
          <a:noFill/>
          <a:ln/>
        </p:spPr>
        <p:txBody>
          <a:bodyPr wrap="square" lIns="0" tIns="0" rIns="0" bIns="0" rtlCol="0" anchor="t"/>
          <a:lstStyle/>
          <a:p>
            <a:pPr marL="0" indent="0">
              <a:buNone/>
            </a:pPr>
            <a:r>
              <a:rPr lang="en-US" sz="2200" b="1" dirty="0">
                <a:solidFill>
                  <a:schemeClr val="bg1"/>
                </a:solidFill>
                <a:latin typeface="Arial" pitchFamily="34" charset="0"/>
                <a:ea typeface="Arial" pitchFamily="34" charset="-122"/>
                <a:cs typeface="Arial" pitchFamily="34" charset="-120"/>
              </a:rPr>
              <a:t>Live demo</a:t>
            </a:r>
            <a:endParaRPr lang="en-US" sz="2200" dirty="0"/>
          </a:p>
        </p:txBody>
      </p:sp>
      <p:sp>
        <p:nvSpPr>
          <p:cNvPr id="14" name="Text 12"/>
          <p:cNvSpPr txBox="1"/>
          <p:nvPr/>
        </p:nvSpPr>
        <p:spPr>
          <a:xfrm>
            <a:off x="6035040" y="3593592"/>
            <a:ext cx="4572000" cy="365760"/>
          </a:xfrm>
          <a:prstGeom prst="rect">
            <a:avLst/>
          </a:prstGeom>
          <a:noFill/>
          <a:ln/>
        </p:spPr>
        <p:txBody>
          <a:bodyPr wrap="square" lIns="0" tIns="0" rIns="0" bIns="0" rtlCol="0" anchor="t"/>
          <a:lstStyle/>
          <a:p>
            <a:pPr marL="0" indent="0">
              <a:buNone/>
            </a:pPr>
            <a:r>
              <a:rPr lang="en-US" sz="1600" dirty="0">
                <a:solidFill>
                  <a:schemeClr val="bg2"/>
                </a:solidFill>
                <a:latin typeface="Arial" pitchFamily="34" charset="0"/>
                <a:ea typeface="Arial" pitchFamily="34" charset="-122"/>
                <a:cs typeface="Arial" pitchFamily="34" charset="-120"/>
              </a:rPr>
              <a:t>a lab subscription, mapped live</a:t>
            </a:r>
            <a:endParaRPr lang="en-US" sz="1600" dirty="0"/>
          </a:p>
        </p:txBody>
      </p:sp>
      <p:sp>
        <p:nvSpPr>
          <p:cNvPr id="15" name="live tag"/>
          <p:cNvSpPr/>
          <p:nvPr/>
        </p:nvSpPr>
        <p:spPr>
          <a:xfrm>
            <a:off x="10332720" y="3557016"/>
            <a:ext cx="1097280" cy="365760"/>
          </a:xfrm>
          <a:prstGeom prst="roundRect">
            <a:avLst>
              <a:gd name="adj" fmla="val 12500"/>
            </a:avLst>
          </a:prstGeom>
          <a:solidFill>
            <a:schemeClr val="accent2"/>
          </a:solidFill>
          <a:ln w="12700">
            <a:solidFill>
              <a:schemeClr val="accent1"/>
            </a:solidFill>
            <a:prstDash val="solid"/>
          </a:ln>
        </p:spPr>
      </p:sp>
      <p:sp>
        <p:nvSpPr>
          <p:cNvPr id="16" name="live tag text"/>
          <p:cNvSpPr txBox="1"/>
          <p:nvPr/>
        </p:nvSpPr>
        <p:spPr>
          <a:xfrm>
            <a:off x="10332720" y="3557016"/>
            <a:ext cx="1097280" cy="365760"/>
          </a:xfrm>
          <a:prstGeom prst="rect">
            <a:avLst/>
          </a:prstGeom>
          <a:noFill/>
          <a:ln/>
        </p:spPr>
        <p:txBody>
          <a:bodyPr wrap="square" lIns="0" tIns="0" rIns="0" bIns="0" rtlCol="0" anchor="ctr"/>
          <a:lstStyle/>
          <a:p>
            <a:pPr marL="0" indent="0" algn="ctr">
              <a:buNone/>
            </a:pPr>
            <a:r>
              <a:rPr lang="en-US" sz="1200" b="1" dirty="0">
                <a:solidFill>
                  <a:schemeClr val="bg1"/>
                </a:solidFill>
                <a:latin typeface="Arial" pitchFamily="34" charset="0"/>
                <a:ea typeface="Arial" pitchFamily="34" charset="-122"/>
                <a:cs typeface="Arial" pitchFamily="34" charset="-120"/>
              </a:rPr>
              <a:t>LIVE</a:t>
            </a:r>
            <a:endParaRPr lang="en-US" sz="1200" dirty="0"/>
          </a:p>
        </p:txBody>
      </p:sp>
      <p:sp>
        <p:nvSpPr>
          <p:cNvPr id="17" name="agenda sep 2"/>
          <p:cNvSpPr/>
          <p:nvPr/>
        </p:nvSpPr>
        <p:spPr>
          <a:xfrm>
            <a:off x="1828800" y="4251960"/>
            <a:ext cx="9601200" cy="914"/>
          </a:xfrm>
          <a:prstGeom prst="line">
            <a:avLst/>
          </a:prstGeom>
          <a:noFill/>
          <a:ln w="9525">
            <a:solidFill>
              <a:schemeClr val="accent4"/>
            </a:solidFill>
            <a:prstDash val="solid"/>
          </a:ln>
        </p:spPr>
      </p:sp>
      <p:sp>
        <p:nvSpPr>
          <p:cNvPr id="18" name="Text 16"/>
          <p:cNvSpPr txBox="1"/>
          <p:nvPr/>
        </p:nvSpPr>
        <p:spPr>
          <a:xfrm>
            <a:off x="548640" y="4389120"/>
            <a:ext cx="1097280" cy="640080"/>
          </a:xfrm>
          <a:prstGeom prst="rect">
            <a:avLst/>
          </a:prstGeom>
          <a:noFill/>
          <a:ln/>
        </p:spPr>
        <p:txBody>
          <a:bodyPr wrap="square" lIns="0" tIns="0" rIns="0" bIns="0" rtlCol="0" anchor="t"/>
          <a:lstStyle/>
          <a:p>
            <a:pPr marL="0" indent="0">
              <a:buNone/>
            </a:pPr>
            <a:r>
              <a:rPr lang="en-US" sz="3200" b="1" dirty="0">
                <a:solidFill>
                  <a:schemeClr val="accent1"/>
                </a:solidFill>
                <a:latin typeface="Arial" pitchFamily="34" charset="0"/>
                <a:ea typeface="Arial" pitchFamily="34" charset="-122"/>
                <a:cs typeface="Arial" pitchFamily="34" charset="-120"/>
              </a:rPr>
              <a:t>04</a:t>
            </a:r>
            <a:endParaRPr lang="en-US" sz="3200" dirty="0"/>
          </a:p>
        </p:txBody>
      </p:sp>
      <p:sp>
        <p:nvSpPr>
          <p:cNvPr id="19" name="Text 17"/>
          <p:cNvSpPr txBox="1"/>
          <p:nvPr/>
        </p:nvSpPr>
        <p:spPr>
          <a:xfrm>
            <a:off x="1828800" y="4407408"/>
            <a:ext cx="4114800" cy="411480"/>
          </a:xfrm>
          <a:prstGeom prst="rect">
            <a:avLst/>
          </a:prstGeom>
          <a:noFill/>
          <a:ln/>
        </p:spPr>
        <p:txBody>
          <a:bodyPr wrap="square" lIns="0" tIns="0" rIns="0" bIns="0" rtlCol="0" anchor="t"/>
          <a:lstStyle/>
          <a:p>
            <a:pPr marL="0" indent="0">
              <a:buNone/>
            </a:pPr>
            <a:r>
              <a:rPr lang="en-US" sz="2200" b="1" dirty="0">
                <a:solidFill>
                  <a:schemeClr val="bg1"/>
                </a:solidFill>
                <a:latin typeface="Arial" pitchFamily="34" charset="0"/>
                <a:ea typeface="Arial" pitchFamily="34" charset="-122"/>
                <a:cs typeface="Arial" pitchFamily="34" charset="-120"/>
              </a:rPr>
              <a:t>Safeguards</a:t>
            </a:r>
            <a:endParaRPr lang="en-US" sz="2200" dirty="0"/>
          </a:p>
        </p:txBody>
      </p:sp>
      <p:sp>
        <p:nvSpPr>
          <p:cNvPr id="20" name="Text 18"/>
          <p:cNvSpPr txBox="1"/>
          <p:nvPr/>
        </p:nvSpPr>
        <p:spPr>
          <a:xfrm>
            <a:off x="6035040" y="4462272"/>
            <a:ext cx="4572000" cy="365760"/>
          </a:xfrm>
          <a:prstGeom prst="rect">
            <a:avLst/>
          </a:prstGeom>
          <a:noFill/>
          <a:ln/>
        </p:spPr>
        <p:txBody>
          <a:bodyPr wrap="square" lIns="0" tIns="0" rIns="0" bIns="0" rtlCol="0" anchor="t"/>
          <a:lstStyle/>
          <a:p>
            <a:pPr marL="0" indent="0">
              <a:buNone/>
            </a:pPr>
            <a:r>
              <a:rPr lang="en-US" sz="1600" dirty="0">
                <a:solidFill>
                  <a:schemeClr val="bg2"/>
                </a:solidFill>
                <a:latin typeface="Arial" pitchFamily="34" charset="0"/>
                <a:ea typeface="Arial" pitchFamily="34" charset="-122"/>
                <a:cs typeface="Arial" pitchFamily="34" charset="-120"/>
              </a:rPr>
              <a:t>read-only, leak detection, precision</a:t>
            </a:r>
            <a:endParaRPr lang="en-US" sz="1600" dirty="0"/>
          </a:p>
        </p:txBody>
      </p:sp>
      <p:sp>
        <p:nvSpPr>
          <p:cNvPr id="21" name="agenda sep 3"/>
          <p:cNvSpPr/>
          <p:nvPr/>
        </p:nvSpPr>
        <p:spPr>
          <a:xfrm>
            <a:off x="1828800" y="5120640"/>
            <a:ext cx="9601200" cy="914"/>
          </a:xfrm>
          <a:prstGeom prst="line">
            <a:avLst/>
          </a:prstGeom>
          <a:noFill/>
          <a:ln w="9525">
            <a:solidFill>
              <a:schemeClr val="accent4"/>
            </a:solidFill>
            <a:prstDash val="solid"/>
          </a:ln>
        </p:spPr>
      </p:sp>
      <p:sp>
        <p:nvSpPr>
          <p:cNvPr id="22" name="Text 20"/>
          <p:cNvSpPr txBox="1"/>
          <p:nvPr/>
        </p:nvSpPr>
        <p:spPr>
          <a:xfrm>
            <a:off x="548640" y="5257800"/>
            <a:ext cx="1097280" cy="640080"/>
          </a:xfrm>
          <a:prstGeom prst="rect">
            <a:avLst/>
          </a:prstGeom>
          <a:noFill/>
          <a:ln/>
        </p:spPr>
        <p:txBody>
          <a:bodyPr wrap="square" lIns="0" tIns="0" rIns="0" bIns="0" rtlCol="0" anchor="t"/>
          <a:lstStyle/>
          <a:p>
            <a:pPr marL="0" indent="0">
              <a:buNone/>
            </a:pPr>
            <a:r>
              <a:rPr lang="en-US" sz="3200" b="1" dirty="0">
                <a:solidFill>
                  <a:schemeClr val="accent1"/>
                </a:solidFill>
                <a:latin typeface="Arial" pitchFamily="34" charset="0"/>
                <a:ea typeface="Arial" pitchFamily="34" charset="-122"/>
                <a:cs typeface="Arial" pitchFamily="34" charset="-120"/>
              </a:rPr>
              <a:t>05</a:t>
            </a:r>
            <a:endParaRPr lang="en-US" sz="3200" dirty="0"/>
          </a:p>
        </p:txBody>
      </p:sp>
      <p:sp>
        <p:nvSpPr>
          <p:cNvPr id="23" name="Text 21"/>
          <p:cNvSpPr txBox="1"/>
          <p:nvPr/>
        </p:nvSpPr>
        <p:spPr>
          <a:xfrm>
            <a:off x="1828800" y="5276088"/>
            <a:ext cx="4114800" cy="411480"/>
          </a:xfrm>
          <a:prstGeom prst="rect">
            <a:avLst/>
          </a:prstGeom>
          <a:noFill/>
          <a:ln/>
        </p:spPr>
        <p:txBody>
          <a:bodyPr wrap="square" lIns="0" tIns="0" rIns="0" bIns="0" rtlCol="0" anchor="t"/>
          <a:lstStyle/>
          <a:p>
            <a:pPr marL="0" indent="0">
              <a:buNone/>
            </a:pPr>
            <a:r>
              <a:rPr lang="en-US" sz="2200" b="1" dirty="0">
                <a:solidFill>
                  <a:schemeClr val="bg1"/>
                </a:solidFill>
                <a:latin typeface="Arial" pitchFamily="34" charset="0"/>
                <a:ea typeface="Arial" pitchFamily="34" charset="-122"/>
                <a:cs typeface="Arial" pitchFamily="34" charset="-120"/>
              </a:rPr>
              <a:t>What's next</a:t>
            </a:r>
            <a:endParaRPr lang="en-US" sz="2200" dirty="0"/>
          </a:p>
        </p:txBody>
      </p:sp>
      <p:sp>
        <p:nvSpPr>
          <p:cNvPr id="24" name="Text 22"/>
          <p:cNvSpPr txBox="1"/>
          <p:nvPr/>
        </p:nvSpPr>
        <p:spPr>
          <a:xfrm>
            <a:off x="6035040" y="5330952"/>
            <a:ext cx="4572000" cy="365760"/>
          </a:xfrm>
          <a:prstGeom prst="rect">
            <a:avLst/>
          </a:prstGeom>
          <a:noFill/>
          <a:ln/>
        </p:spPr>
        <p:txBody>
          <a:bodyPr wrap="square" lIns="0" tIns="0" rIns="0" bIns="0" rtlCol="0" anchor="t"/>
          <a:lstStyle/>
          <a:p>
            <a:pPr marL="0" indent="0">
              <a:buNone/>
            </a:pPr>
            <a:r>
              <a:rPr lang="en-US" sz="1600" dirty="0">
                <a:solidFill>
                  <a:schemeClr val="bg2"/>
                </a:solidFill>
                <a:latin typeface="Arial" pitchFamily="34" charset="0"/>
                <a:ea typeface="Arial" pitchFamily="34" charset="-122"/>
                <a:cs typeface="Arial" pitchFamily="34" charset="-120"/>
              </a:rPr>
              <a:t>coverage and log flow</a:t>
            </a:r>
            <a:endParaRPr lang="en-US" sz="1600" dirty="0"/>
          </a:p>
        </p:txBody>
      </p:sp>
      <p:sp>
        <p:nvSpPr>
          <p:cNvPr id="25" name="Slide Number Placeholder 0"/>
          <p:cNvSpPr>
            <a:spLocks noGrp="1"/>
          </p:cNvSpPr>
          <p:nvPr>
            <p:ph type="sldNum" sz="quarter" idx="4294967295"/>
          </p:nvPr>
        </p:nvSpPr>
        <p:spPr>
          <a:xfrm>
            <a:off x="11155680" y="6382512"/>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latin typeface="Arial"/>
                <a:ea typeface="Arial"/>
                <a:cs typeface="Aria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1371600" y="365760"/>
            <a:ext cx="7315200" cy="274320"/>
          </a:xfrm>
          <a:prstGeom prst="rect">
            <a:avLst/>
          </a:prstGeom>
          <a:noFill/>
          <a:ln/>
        </p:spPr>
        <p:txBody>
          <a:bodyPr wrap="square" lIns="0" tIns="0" rIns="0" bIns="0" rtlCol="0" anchor="ctr"/>
          <a:lstStyle/>
          <a:p>
            <a:pPr marL="0" indent="0" algn="l">
              <a:buNone/>
            </a:pPr>
            <a:r>
              <a:rPr lang="en-US" sz="1200" b="1" kern="0" spc="200" dirty="0">
                <a:solidFill>
                  <a:schemeClr val="accent1"/>
                </a:solidFill>
                <a:latin typeface="Arial" pitchFamily="34" charset="0"/>
                <a:ea typeface="Arial" pitchFamily="34" charset="-122"/>
                <a:cs typeface="Arial" pitchFamily="34" charset="-120"/>
              </a:rPr>
              <a:t>04  ·  MODEL CONTEXT PROTOCOL</a:t>
            </a:r>
            <a:endParaRPr lang="en-US" sz="1200" dirty="0"/>
          </a:p>
        </p:txBody>
      </p:sp>
      <p:sp>
        <p:nvSpPr>
          <p:cNvPr id="3" name="Text 1"/>
          <p:cNvSpPr>
            <a:spLocks noGrp="1"/>
          </p:cNvSpPr>
          <p:nvPr>
            <p:ph type="title" idx="103" hasCustomPrompt="1"/>
          </p:nvPr>
        </p:nvSpPr>
        <p:spPr>
          <a:xfrm>
            <a:off x="548640" y="777240"/>
            <a:ext cx="11064240" cy="822960"/>
          </a:xfrm>
          <a:prstGeom prst="rect">
            <a:avLst/>
          </a:prstGeom>
          <a:noFill/>
          <a:ln/>
        </p:spPr>
        <p:txBody>
          <a:bodyPr wrap="square" lIns="0" tIns="0" rIns="0" bIns="0" rtlCol="0" anchor="t"/>
          <a:lstStyle/>
          <a:p>
            <a:pPr marL="0" indent="0" algn="l">
              <a:buNone/>
            </a:pPr>
            <a:r>
              <a:rPr lang="en-US" sz="3000" b="1" dirty="0">
                <a:solidFill>
                  <a:schemeClr val="accent1"/>
                </a:solidFill>
              </a:rPr>
              <a:t>MCP: </a:t>
            </a:r>
            <a:r>
              <a:rPr lang="en-US" sz="3000" b="1" dirty="0">
                <a:solidFill>
                  <a:schemeClr val="bg1"/>
                </a:solidFill>
              </a:rPr>
              <a:t>A USB PORT FOR AI</a:t>
            </a:r>
            <a:endParaRPr lang="en-US" sz="3000" dirty="0"/>
          </a:p>
        </p:txBody>
      </p:sp>
      <p:sp>
        <p:nvSpPr>
          <p:cNvPr id="4" name="mcp tag 0"/>
          <p:cNvSpPr/>
          <p:nvPr/>
        </p:nvSpPr>
        <p:spPr>
          <a:xfrm>
            <a:off x="548640" y="2011680"/>
            <a:ext cx="3108960" cy="548640"/>
          </a:xfrm>
          <a:prstGeom prst="roundRect">
            <a:avLst>
              <a:gd name="adj" fmla="val 8333"/>
            </a:avLst>
          </a:prstGeom>
          <a:solidFill>
            <a:schemeClr val="accent2"/>
          </a:solidFill>
          <a:ln w="12700">
            <a:solidFill>
              <a:schemeClr val="accent1"/>
            </a:solidFill>
            <a:prstDash val="solid"/>
          </a:ln>
        </p:spPr>
      </p:sp>
      <p:sp>
        <p:nvSpPr>
          <p:cNvPr id="5" name="mcp tag 0 text"/>
          <p:cNvSpPr txBox="1"/>
          <p:nvPr/>
        </p:nvSpPr>
        <p:spPr>
          <a:xfrm>
            <a:off x="548640" y="2011680"/>
            <a:ext cx="3108960" cy="548640"/>
          </a:xfrm>
          <a:prstGeom prst="rect">
            <a:avLst/>
          </a:prstGeom>
          <a:noFill/>
          <a:ln/>
        </p:spPr>
        <p:txBody>
          <a:bodyPr wrap="square" lIns="0" tIns="0" rIns="0" bIns="0" rtlCol="0" anchor="ctr"/>
          <a:lstStyle/>
          <a:p>
            <a:pPr marL="0" indent="0" algn="ctr">
              <a:buNone/>
            </a:pPr>
            <a:r>
              <a:rPr lang="en-US" sz="1600" b="1" dirty="0">
                <a:solidFill>
                  <a:schemeClr val="bg1"/>
                </a:solidFill>
                <a:latin typeface="Arial" pitchFamily="34" charset="0"/>
                <a:ea typeface="Arial" pitchFamily="34" charset="-122"/>
                <a:cs typeface="Arial" pitchFamily="34" charset="-120"/>
              </a:rPr>
              <a:t>AI ASSISTANT</a:t>
            </a:r>
            <a:endParaRPr lang="en-US" sz="1600" dirty="0"/>
          </a:p>
        </p:txBody>
      </p:sp>
      <p:sp>
        <p:nvSpPr>
          <p:cNvPr id="6" name="Text 4"/>
          <p:cNvSpPr txBox="1"/>
          <p:nvPr/>
        </p:nvSpPr>
        <p:spPr>
          <a:xfrm>
            <a:off x="548640" y="2788920"/>
            <a:ext cx="3108960" cy="914400"/>
          </a:xfrm>
          <a:prstGeom prst="rect">
            <a:avLst/>
          </a:prstGeom>
          <a:noFill/>
          <a:ln/>
        </p:spPr>
        <p:txBody>
          <a:bodyPr wrap="square" lIns="0" tIns="0" rIns="0" bIns="0" rtlCol="0" anchor="t"/>
          <a:lstStyle/>
          <a:p>
            <a:pPr marL="0" indent="0">
              <a:buNone/>
            </a:pPr>
            <a:r>
              <a:rPr lang="en-US" sz="1600" dirty="0">
                <a:solidFill>
                  <a:schemeClr val="bg2"/>
                </a:solidFill>
                <a:latin typeface="Arial" pitchFamily="34" charset="0"/>
                <a:ea typeface="Arial" pitchFamily="34" charset="-122"/>
                <a:cs typeface="Arial" pitchFamily="34" charset="-120"/>
              </a:rPr>
              <a:t>The host. Reads tool descriptions and decides what to call.</a:t>
            </a:r>
            <a:endParaRPr lang="en-US" sz="1600" dirty="0"/>
          </a:p>
        </p:txBody>
      </p:sp>
      <p:sp>
        <p:nvSpPr>
          <p:cNvPr id="7" name="mcp arrow 0"/>
          <p:cNvSpPr/>
          <p:nvPr/>
        </p:nvSpPr>
        <p:spPr>
          <a:xfrm>
            <a:off x="3749040" y="2286000"/>
            <a:ext cx="640080" cy="914"/>
          </a:xfrm>
          <a:prstGeom prst="line">
            <a:avLst/>
          </a:prstGeom>
          <a:noFill/>
          <a:ln w="25400">
            <a:solidFill>
              <a:schemeClr val="accent1"/>
            </a:solidFill>
            <a:prstDash val="solid"/>
            <a:tailEnd type="triangle"/>
          </a:ln>
        </p:spPr>
      </p:sp>
      <p:sp>
        <p:nvSpPr>
          <p:cNvPr id="8" name="mcp tag 1"/>
          <p:cNvSpPr/>
          <p:nvPr/>
        </p:nvSpPr>
        <p:spPr>
          <a:xfrm>
            <a:off x="4480560" y="2011680"/>
            <a:ext cx="3108960" cy="548640"/>
          </a:xfrm>
          <a:prstGeom prst="roundRect">
            <a:avLst>
              <a:gd name="adj" fmla="val 8333"/>
            </a:avLst>
          </a:prstGeom>
          <a:solidFill>
            <a:schemeClr val="accent2"/>
          </a:solidFill>
          <a:ln w="12700">
            <a:solidFill>
              <a:schemeClr val="accent1"/>
            </a:solidFill>
            <a:prstDash val="solid"/>
          </a:ln>
        </p:spPr>
      </p:sp>
      <p:sp>
        <p:nvSpPr>
          <p:cNvPr id="9" name="mcp tag 1 text"/>
          <p:cNvSpPr txBox="1"/>
          <p:nvPr/>
        </p:nvSpPr>
        <p:spPr>
          <a:xfrm>
            <a:off x="4480560" y="2011680"/>
            <a:ext cx="3108960" cy="548640"/>
          </a:xfrm>
          <a:prstGeom prst="rect">
            <a:avLst/>
          </a:prstGeom>
          <a:noFill/>
          <a:ln/>
        </p:spPr>
        <p:txBody>
          <a:bodyPr wrap="square" lIns="0" tIns="0" rIns="0" bIns="0" rtlCol="0" anchor="ctr"/>
          <a:lstStyle/>
          <a:p>
            <a:pPr marL="0" indent="0" algn="ctr">
              <a:buNone/>
            </a:pPr>
            <a:r>
              <a:rPr lang="en-US" sz="1600" b="1" dirty="0">
                <a:solidFill>
                  <a:schemeClr val="bg1"/>
                </a:solidFill>
                <a:latin typeface="Arial" pitchFamily="34" charset="0"/>
                <a:ea typeface="Arial" pitchFamily="34" charset="-122"/>
                <a:cs typeface="Arial" pitchFamily="34" charset="-120"/>
              </a:rPr>
              <a:t>MCP SERVER</a:t>
            </a:r>
            <a:endParaRPr lang="en-US" sz="1600" dirty="0"/>
          </a:p>
        </p:txBody>
      </p:sp>
      <p:sp>
        <p:nvSpPr>
          <p:cNvPr id="10" name="Text 8"/>
          <p:cNvSpPr txBox="1"/>
          <p:nvPr/>
        </p:nvSpPr>
        <p:spPr>
          <a:xfrm>
            <a:off x="4480560" y="2788920"/>
            <a:ext cx="3108960" cy="914400"/>
          </a:xfrm>
          <a:prstGeom prst="rect">
            <a:avLst/>
          </a:prstGeom>
          <a:noFill/>
          <a:ln/>
        </p:spPr>
        <p:txBody>
          <a:bodyPr wrap="square" lIns="0" tIns="0" rIns="0" bIns="0" rtlCol="0" anchor="t"/>
          <a:lstStyle/>
          <a:p>
            <a:pPr marL="0" indent="0">
              <a:buNone/>
            </a:pPr>
            <a:r>
              <a:rPr lang="en-US" sz="1600" dirty="0">
                <a:solidFill>
                  <a:schemeClr val="bg2"/>
                </a:solidFill>
                <a:latin typeface="Arial" pitchFamily="34" charset="0"/>
                <a:ea typeface="Arial" pitchFamily="34" charset="-122"/>
                <a:cs typeface="Arial" pitchFamily="34" charset="-120"/>
              </a:rPr>
              <a:t>Your code. Exposes named tools with defined inputs.</a:t>
            </a:r>
            <a:endParaRPr lang="en-US" sz="1600" dirty="0"/>
          </a:p>
        </p:txBody>
      </p:sp>
      <p:sp>
        <p:nvSpPr>
          <p:cNvPr id="11" name="mcp arrow 1"/>
          <p:cNvSpPr/>
          <p:nvPr/>
        </p:nvSpPr>
        <p:spPr>
          <a:xfrm>
            <a:off x="7680960" y="2286000"/>
            <a:ext cx="640080" cy="914"/>
          </a:xfrm>
          <a:prstGeom prst="line">
            <a:avLst/>
          </a:prstGeom>
          <a:noFill/>
          <a:ln w="25400">
            <a:solidFill>
              <a:schemeClr val="accent1"/>
            </a:solidFill>
            <a:prstDash val="solid"/>
            <a:tailEnd type="triangle"/>
          </a:ln>
        </p:spPr>
      </p:sp>
      <p:sp>
        <p:nvSpPr>
          <p:cNvPr id="12" name="mcp tag 2"/>
          <p:cNvSpPr/>
          <p:nvPr/>
        </p:nvSpPr>
        <p:spPr>
          <a:xfrm>
            <a:off x="8412480" y="2011680"/>
            <a:ext cx="3108960" cy="548640"/>
          </a:xfrm>
          <a:prstGeom prst="roundRect">
            <a:avLst>
              <a:gd name="adj" fmla="val 8333"/>
            </a:avLst>
          </a:prstGeom>
          <a:solidFill>
            <a:schemeClr val="accent2"/>
          </a:solidFill>
          <a:ln w="12700">
            <a:solidFill>
              <a:schemeClr val="accent1"/>
            </a:solidFill>
            <a:prstDash val="solid"/>
          </a:ln>
        </p:spPr>
      </p:sp>
      <p:sp>
        <p:nvSpPr>
          <p:cNvPr id="13" name="mcp tag 2 text"/>
          <p:cNvSpPr txBox="1"/>
          <p:nvPr/>
        </p:nvSpPr>
        <p:spPr>
          <a:xfrm>
            <a:off x="8412480" y="2011680"/>
            <a:ext cx="3108960" cy="548640"/>
          </a:xfrm>
          <a:prstGeom prst="rect">
            <a:avLst/>
          </a:prstGeom>
          <a:noFill/>
          <a:ln/>
        </p:spPr>
        <p:txBody>
          <a:bodyPr wrap="square" lIns="0" tIns="0" rIns="0" bIns="0" rtlCol="0" anchor="ctr"/>
          <a:lstStyle/>
          <a:p>
            <a:pPr marL="0" indent="0" algn="ctr">
              <a:buNone/>
            </a:pPr>
            <a:r>
              <a:rPr lang="en-US" sz="1600" b="1" dirty="0">
                <a:solidFill>
                  <a:schemeClr val="bg1"/>
                </a:solidFill>
                <a:latin typeface="Arial" pitchFamily="34" charset="0"/>
                <a:ea typeface="Arial" pitchFamily="34" charset="-122"/>
                <a:cs typeface="Arial" pitchFamily="34" charset="-120"/>
              </a:rPr>
              <a:t>AZURE APIS</a:t>
            </a:r>
            <a:endParaRPr lang="en-US" sz="1600" dirty="0"/>
          </a:p>
        </p:txBody>
      </p:sp>
      <p:sp>
        <p:nvSpPr>
          <p:cNvPr id="14" name="Text 12"/>
          <p:cNvSpPr txBox="1"/>
          <p:nvPr/>
        </p:nvSpPr>
        <p:spPr>
          <a:xfrm>
            <a:off x="8412480" y="2788920"/>
            <a:ext cx="3108960" cy="914400"/>
          </a:xfrm>
          <a:prstGeom prst="rect">
            <a:avLst/>
          </a:prstGeom>
          <a:noFill/>
          <a:ln/>
        </p:spPr>
        <p:txBody>
          <a:bodyPr wrap="square" lIns="0" tIns="0" rIns="0" bIns="0" rtlCol="0" anchor="t"/>
          <a:lstStyle/>
          <a:p>
            <a:pPr marL="0" indent="0">
              <a:buNone/>
            </a:pPr>
            <a:r>
              <a:rPr lang="en-US" sz="1600" dirty="0">
                <a:solidFill>
                  <a:schemeClr val="bg2"/>
                </a:solidFill>
                <a:latin typeface="Arial" pitchFamily="34" charset="0"/>
                <a:ea typeface="Arial" pitchFamily="34" charset="-122"/>
                <a:cs typeface="Arial" pitchFamily="34" charset="-120"/>
              </a:rPr>
              <a:t>Resource Graph and the Management API. Only the server talks to them.</a:t>
            </a:r>
            <a:endParaRPr lang="en-US" sz="1600" dirty="0"/>
          </a:p>
        </p:txBody>
      </p:sp>
      <p:sp>
        <p:nvSpPr>
          <p:cNvPr id="15" name="mcp sep"/>
          <p:cNvSpPr/>
          <p:nvPr/>
        </p:nvSpPr>
        <p:spPr>
          <a:xfrm>
            <a:off x="548640" y="4206240"/>
            <a:ext cx="11064240" cy="914"/>
          </a:xfrm>
          <a:prstGeom prst="line">
            <a:avLst/>
          </a:prstGeom>
          <a:noFill/>
          <a:ln w="9525">
            <a:solidFill>
              <a:schemeClr val="accent4"/>
            </a:solidFill>
            <a:prstDash val="solid"/>
          </a:ln>
        </p:spPr>
      </p:sp>
      <p:sp>
        <p:nvSpPr>
          <p:cNvPr id="16" name="Text 14"/>
          <p:cNvSpPr txBox="1"/>
          <p:nvPr/>
        </p:nvSpPr>
        <p:spPr>
          <a:xfrm>
            <a:off x="548640" y="4526280"/>
            <a:ext cx="11064240" cy="1188720"/>
          </a:xfrm>
          <a:prstGeom prst="rect">
            <a:avLst/>
          </a:prstGeom>
          <a:noFill/>
          <a:ln/>
        </p:spPr>
        <p:txBody>
          <a:bodyPr wrap="square" lIns="0" tIns="0" rIns="0" bIns="0" rtlCol="0" anchor="t"/>
          <a:lstStyle/>
          <a:p>
            <a:pPr marL="0" indent="0">
              <a:buNone/>
            </a:pPr>
            <a:r>
              <a:rPr lang="en-US" sz="2800" b="1" dirty="0">
                <a:solidFill>
                  <a:schemeClr val="bg1"/>
                </a:solidFill>
                <a:latin typeface="Arial" pitchFamily="34" charset="0"/>
                <a:ea typeface="Arial" pitchFamily="34" charset="-122"/>
                <a:cs typeface="Arial" pitchFamily="34" charset="-120"/>
              </a:rPr>
              <a:t>The model never touches Azure. </a:t>
            </a:r>
            <a:r>
              <a:rPr lang="en-US" sz="2800" b="1" dirty="0">
                <a:solidFill>
                  <a:schemeClr val="accent1"/>
                </a:solidFill>
                <a:latin typeface="Arial" pitchFamily="34" charset="0"/>
                <a:ea typeface="Arial" pitchFamily="34" charset="-122"/>
                <a:cs typeface="Arial" pitchFamily="34" charset="-120"/>
              </a:rPr>
              <a:t>It only sees what the server chooses to return.</a:t>
            </a:r>
            <a:endParaRPr lang="en-US" sz="2800" dirty="0"/>
          </a:p>
        </p:txBody>
      </p:sp>
      <p:sp>
        <p:nvSpPr>
          <p:cNvPr id="25" name="Slide Number Placeholder 0"/>
          <p:cNvSpPr>
            <a:spLocks noGrp="1"/>
          </p:cNvSpPr>
          <p:nvPr>
            <p:ph type="sldNum" sz="quarter" idx="4294967295"/>
          </p:nvPr>
        </p:nvSpPr>
        <p:spPr>
          <a:xfrm>
            <a:off x="11155680" y="6382512"/>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latin typeface="Arial"/>
                <a:ea typeface="Arial"/>
                <a:cs typeface="Aria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1371600" y="365760"/>
            <a:ext cx="7315200" cy="274320"/>
          </a:xfrm>
          <a:prstGeom prst="rect">
            <a:avLst/>
          </a:prstGeom>
          <a:noFill/>
          <a:ln/>
        </p:spPr>
        <p:txBody>
          <a:bodyPr wrap="square" lIns="0" tIns="0" rIns="0" bIns="0" rtlCol="0" anchor="ctr"/>
          <a:lstStyle/>
          <a:p>
            <a:pPr marL="0" indent="0" algn="l">
              <a:buNone/>
            </a:pPr>
            <a:r>
              <a:rPr lang="en-US" sz="1200" b="1" kern="0" spc="200" dirty="0">
                <a:solidFill>
                  <a:schemeClr val="accent1"/>
                </a:solidFill>
                <a:latin typeface="Arial" pitchFamily="34" charset="0"/>
                <a:ea typeface="Arial" pitchFamily="34" charset="-122"/>
                <a:cs typeface="Arial" pitchFamily="34" charset="-120"/>
              </a:rPr>
              <a:t>05  ·  WHY IT FITS SECURITY</a:t>
            </a:r>
            <a:endParaRPr lang="en-US" sz="1200" dirty="0"/>
          </a:p>
        </p:txBody>
      </p:sp>
      <p:sp>
        <p:nvSpPr>
          <p:cNvPr id="3" name="Text 1"/>
          <p:cNvSpPr>
            <a:spLocks noGrp="1"/>
          </p:cNvSpPr>
          <p:nvPr>
            <p:ph type="title" idx="103" hasCustomPrompt="1"/>
          </p:nvPr>
        </p:nvSpPr>
        <p:spPr>
          <a:xfrm>
            <a:off x="548640" y="777240"/>
            <a:ext cx="11064240" cy="822960"/>
          </a:xfrm>
          <a:prstGeom prst="rect">
            <a:avLst/>
          </a:prstGeom>
          <a:noFill/>
          <a:ln/>
        </p:spPr>
        <p:txBody>
          <a:bodyPr wrap="square" lIns="0" tIns="0" rIns="0" bIns="0" rtlCol="0" anchor="t"/>
          <a:lstStyle/>
          <a:p>
            <a:pPr marL="0" indent="0" algn="l">
              <a:buNone/>
            </a:pPr>
            <a:r>
              <a:rPr lang="en-US" sz="3000" b="1" dirty="0">
                <a:solidFill>
                  <a:schemeClr val="accent1"/>
                </a:solidFill>
              </a:rPr>
              <a:t>WHY MCP FITS </a:t>
            </a:r>
            <a:r>
              <a:rPr lang="en-US" sz="3000" b="1" dirty="0">
                <a:solidFill>
                  <a:schemeClr val="bg1"/>
                </a:solidFill>
              </a:rPr>
              <a:t>SECURITY TOOLING</a:t>
            </a:r>
            <a:endParaRPr lang="en-US" sz="3000" dirty="0"/>
          </a:p>
        </p:txBody>
      </p:sp>
      <p:sp>
        <p:nvSpPr>
          <p:cNvPr id="4" name="Text 2"/>
          <p:cNvSpPr txBox="1"/>
          <p:nvPr/>
        </p:nvSpPr>
        <p:spPr>
          <a:xfrm>
            <a:off x="548640" y="1828800"/>
            <a:ext cx="1005840" cy="640080"/>
          </a:xfrm>
          <a:prstGeom prst="rect">
            <a:avLst/>
          </a:prstGeom>
          <a:noFill/>
          <a:ln/>
        </p:spPr>
        <p:txBody>
          <a:bodyPr wrap="square" lIns="0" tIns="0" rIns="0" bIns="0" rtlCol="0" anchor="t"/>
          <a:lstStyle/>
          <a:p>
            <a:pPr marL="0" indent="0">
              <a:buNone/>
            </a:pPr>
            <a:r>
              <a:rPr lang="en-US" sz="3000" b="1" dirty="0">
                <a:solidFill>
                  <a:schemeClr val="accent1"/>
                </a:solidFill>
                <a:latin typeface="Arial" pitchFamily="34" charset="0"/>
                <a:ea typeface="Arial" pitchFamily="34" charset="-122"/>
                <a:cs typeface="Arial" pitchFamily="34" charset="-120"/>
              </a:rPr>
              <a:t>01</a:t>
            </a:r>
            <a:endParaRPr lang="en-US" sz="3000" dirty="0"/>
          </a:p>
        </p:txBody>
      </p:sp>
      <p:sp>
        <p:nvSpPr>
          <p:cNvPr id="5" name="Text 3"/>
          <p:cNvSpPr txBox="1"/>
          <p:nvPr/>
        </p:nvSpPr>
        <p:spPr>
          <a:xfrm>
            <a:off x="1645920" y="1874520"/>
            <a:ext cx="4206240" cy="411480"/>
          </a:xfrm>
          <a:prstGeom prst="rect">
            <a:avLst/>
          </a:prstGeom>
          <a:noFill/>
          <a:ln/>
        </p:spPr>
        <p:txBody>
          <a:bodyPr wrap="square" lIns="0" tIns="0" rIns="0" bIns="0" rtlCol="0" anchor="t"/>
          <a:lstStyle/>
          <a:p>
            <a:pPr marL="0" indent="0">
              <a:buNone/>
            </a:pPr>
            <a:r>
              <a:rPr lang="en-US" sz="2200" b="1" dirty="0">
                <a:solidFill>
                  <a:schemeClr val="bg1"/>
                </a:solidFill>
                <a:latin typeface="Arial" pitchFamily="34" charset="0"/>
                <a:ea typeface="Arial" pitchFamily="34" charset="-122"/>
                <a:cs typeface="Arial" pitchFamily="34" charset="-120"/>
              </a:rPr>
              <a:t>Scoped tools</a:t>
            </a:r>
            <a:endParaRPr lang="en-US" sz="2200" dirty="0"/>
          </a:p>
        </p:txBody>
      </p:sp>
      <p:sp>
        <p:nvSpPr>
          <p:cNvPr id="6" name="Text 4"/>
          <p:cNvSpPr txBox="1"/>
          <p:nvPr/>
        </p:nvSpPr>
        <p:spPr>
          <a:xfrm>
            <a:off x="1645920" y="2377440"/>
            <a:ext cx="4206240" cy="914400"/>
          </a:xfrm>
          <a:prstGeom prst="rect">
            <a:avLst/>
          </a:prstGeom>
          <a:noFill/>
          <a:ln/>
        </p:spPr>
        <p:txBody>
          <a:bodyPr wrap="square" lIns="0" tIns="0" rIns="0" bIns="0" rtlCol="0" anchor="t"/>
          <a:lstStyle/>
          <a:p>
            <a:pPr marL="0" indent="0">
              <a:buNone/>
            </a:pPr>
            <a:r>
              <a:rPr lang="en-US" sz="1600" dirty="0">
                <a:solidFill>
                  <a:schemeClr val="bg2"/>
                </a:solidFill>
                <a:latin typeface="Arial" pitchFamily="34" charset="0"/>
                <a:ea typeface="Arial" pitchFamily="34" charset="-122"/>
                <a:cs typeface="Arial" pitchFamily="34" charset="-120"/>
              </a:rPr>
              <a:t>No delete tool means the model cannot delete. Whatever it is asked.</a:t>
            </a:r>
            <a:endParaRPr lang="en-US" sz="1600" dirty="0"/>
          </a:p>
        </p:txBody>
      </p:sp>
      <p:sp>
        <p:nvSpPr>
          <p:cNvPr id="7" name="Text 5"/>
          <p:cNvSpPr txBox="1"/>
          <p:nvPr/>
        </p:nvSpPr>
        <p:spPr>
          <a:xfrm>
            <a:off x="6217920" y="1828800"/>
            <a:ext cx="1005840" cy="640080"/>
          </a:xfrm>
          <a:prstGeom prst="rect">
            <a:avLst/>
          </a:prstGeom>
          <a:noFill/>
          <a:ln/>
        </p:spPr>
        <p:txBody>
          <a:bodyPr wrap="square" lIns="0" tIns="0" rIns="0" bIns="0" rtlCol="0" anchor="t"/>
          <a:lstStyle/>
          <a:p>
            <a:pPr marL="0" indent="0">
              <a:buNone/>
            </a:pPr>
            <a:r>
              <a:rPr lang="en-US" sz="3000" b="1" dirty="0">
                <a:solidFill>
                  <a:schemeClr val="accent1"/>
                </a:solidFill>
                <a:latin typeface="Arial" pitchFamily="34" charset="0"/>
                <a:ea typeface="Arial" pitchFamily="34" charset="-122"/>
                <a:cs typeface="Arial" pitchFamily="34" charset="-120"/>
              </a:rPr>
              <a:t>02</a:t>
            </a:r>
            <a:endParaRPr lang="en-US" sz="3000" dirty="0"/>
          </a:p>
        </p:txBody>
      </p:sp>
      <p:sp>
        <p:nvSpPr>
          <p:cNvPr id="8" name="Text 6"/>
          <p:cNvSpPr txBox="1"/>
          <p:nvPr/>
        </p:nvSpPr>
        <p:spPr>
          <a:xfrm>
            <a:off x="7315200" y="1874520"/>
            <a:ext cx="4206240" cy="411480"/>
          </a:xfrm>
          <a:prstGeom prst="rect">
            <a:avLst/>
          </a:prstGeom>
          <a:noFill/>
          <a:ln/>
        </p:spPr>
        <p:txBody>
          <a:bodyPr wrap="square" lIns="0" tIns="0" rIns="0" bIns="0" rtlCol="0" anchor="t"/>
          <a:lstStyle/>
          <a:p>
            <a:pPr marL="0" indent="0">
              <a:buNone/>
            </a:pPr>
            <a:r>
              <a:rPr lang="en-US" sz="2200" b="1" dirty="0">
                <a:solidFill>
                  <a:schemeClr val="bg1"/>
                </a:solidFill>
                <a:latin typeface="Arial" pitchFamily="34" charset="0"/>
                <a:ea typeface="Arial" pitchFamily="34" charset="-122"/>
                <a:cs typeface="Arial" pitchFamily="34" charset="-120"/>
              </a:rPr>
              <a:t>Structured output</a:t>
            </a:r>
            <a:endParaRPr lang="en-US" sz="2200" dirty="0"/>
          </a:p>
        </p:txBody>
      </p:sp>
      <p:sp>
        <p:nvSpPr>
          <p:cNvPr id="9" name="Text 7"/>
          <p:cNvSpPr txBox="1"/>
          <p:nvPr/>
        </p:nvSpPr>
        <p:spPr>
          <a:xfrm>
            <a:off x="7315200" y="2377440"/>
            <a:ext cx="4206240" cy="914400"/>
          </a:xfrm>
          <a:prstGeom prst="rect">
            <a:avLst/>
          </a:prstGeom>
          <a:noFill/>
          <a:ln/>
        </p:spPr>
        <p:txBody>
          <a:bodyPr wrap="square" lIns="0" tIns="0" rIns="0" bIns="0" rtlCol="0" anchor="t"/>
          <a:lstStyle/>
          <a:p>
            <a:pPr marL="0" indent="0">
              <a:buNone/>
            </a:pPr>
            <a:r>
              <a:rPr lang="en-US" sz="1600" dirty="0">
                <a:solidFill>
                  <a:schemeClr val="bg2"/>
                </a:solidFill>
                <a:latin typeface="Arial" pitchFamily="34" charset="0"/>
                <a:ea typeface="Arial" pitchFamily="34" charset="-122"/>
                <a:cs typeface="Arial" pitchFamily="34" charset="-120"/>
              </a:rPr>
              <a:t>You decide what reaches the model, so you decide what could leak.</a:t>
            </a:r>
            <a:endParaRPr lang="en-US" sz="1600" dirty="0"/>
          </a:p>
        </p:txBody>
      </p:sp>
      <p:sp>
        <p:nvSpPr>
          <p:cNvPr id="10" name="Text 8"/>
          <p:cNvSpPr txBox="1"/>
          <p:nvPr/>
        </p:nvSpPr>
        <p:spPr>
          <a:xfrm>
            <a:off x="548640" y="3840480"/>
            <a:ext cx="1005840" cy="640080"/>
          </a:xfrm>
          <a:prstGeom prst="rect">
            <a:avLst/>
          </a:prstGeom>
          <a:noFill/>
          <a:ln/>
        </p:spPr>
        <p:txBody>
          <a:bodyPr wrap="square" lIns="0" tIns="0" rIns="0" bIns="0" rtlCol="0" anchor="t"/>
          <a:lstStyle/>
          <a:p>
            <a:pPr marL="0" indent="0">
              <a:buNone/>
            </a:pPr>
            <a:r>
              <a:rPr lang="en-US" sz="3000" b="1" dirty="0">
                <a:solidFill>
                  <a:schemeClr val="accent1"/>
                </a:solidFill>
                <a:latin typeface="Arial" pitchFamily="34" charset="0"/>
                <a:ea typeface="Arial" pitchFamily="34" charset="-122"/>
                <a:cs typeface="Arial" pitchFamily="34" charset="-120"/>
              </a:rPr>
              <a:t>03</a:t>
            </a:r>
            <a:endParaRPr lang="en-US" sz="3000" dirty="0"/>
          </a:p>
        </p:txBody>
      </p:sp>
      <p:sp>
        <p:nvSpPr>
          <p:cNvPr id="11" name="Text 9"/>
          <p:cNvSpPr txBox="1"/>
          <p:nvPr/>
        </p:nvSpPr>
        <p:spPr>
          <a:xfrm>
            <a:off x="1645920" y="3886200"/>
            <a:ext cx="4206240" cy="411480"/>
          </a:xfrm>
          <a:prstGeom prst="rect">
            <a:avLst/>
          </a:prstGeom>
          <a:noFill/>
          <a:ln/>
        </p:spPr>
        <p:txBody>
          <a:bodyPr wrap="square" lIns="0" tIns="0" rIns="0" bIns="0" rtlCol="0" anchor="t"/>
          <a:lstStyle/>
          <a:p>
            <a:pPr marL="0" indent="0">
              <a:buNone/>
            </a:pPr>
            <a:r>
              <a:rPr lang="en-US" sz="2200" b="1" dirty="0">
                <a:solidFill>
                  <a:schemeClr val="bg1"/>
                </a:solidFill>
                <a:latin typeface="Arial" pitchFamily="34" charset="0"/>
                <a:ea typeface="Arial" pitchFamily="34" charset="-122"/>
                <a:cs typeface="Arial" pitchFamily="34" charset="-120"/>
              </a:rPr>
              <a:t>Reusable</a:t>
            </a:r>
            <a:endParaRPr lang="en-US" sz="2200" dirty="0"/>
          </a:p>
        </p:txBody>
      </p:sp>
      <p:sp>
        <p:nvSpPr>
          <p:cNvPr id="12" name="Text 10"/>
          <p:cNvSpPr txBox="1"/>
          <p:nvPr/>
        </p:nvSpPr>
        <p:spPr>
          <a:xfrm>
            <a:off x="1645920" y="4389120"/>
            <a:ext cx="4206240" cy="914400"/>
          </a:xfrm>
          <a:prstGeom prst="rect">
            <a:avLst/>
          </a:prstGeom>
          <a:noFill/>
          <a:ln/>
        </p:spPr>
        <p:txBody>
          <a:bodyPr wrap="square" lIns="0" tIns="0" rIns="0" bIns="0" rtlCol="0" anchor="t"/>
          <a:lstStyle/>
          <a:p>
            <a:pPr marL="0" indent="0">
              <a:buNone/>
            </a:pPr>
            <a:r>
              <a:rPr lang="en-US" sz="1600" dirty="0">
                <a:solidFill>
                  <a:schemeClr val="bg2"/>
                </a:solidFill>
                <a:latin typeface="Arial" pitchFamily="34" charset="0"/>
                <a:ea typeface="Arial" pitchFamily="34" charset="-122"/>
                <a:cs typeface="Arial" pitchFamily="34" charset="-120"/>
              </a:rPr>
              <a:t>Write the server once. Use it from any MCP client.</a:t>
            </a:r>
            <a:endParaRPr lang="en-US" sz="1600" dirty="0"/>
          </a:p>
        </p:txBody>
      </p:sp>
      <p:sp>
        <p:nvSpPr>
          <p:cNvPr id="13" name="Text 11"/>
          <p:cNvSpPr txBox="1"/>
          <p:nvPr/>
        </p:nvSpPr>
        <p:spPr>
          <a:xfrm>
            <a:off x="6217920" y="3840480"/>
            <a:ext cx="1005840" cy="640080"/>
          </a:xfrm>
          <a:prstGeom prst="rect">
            <a:avLst/>
          </a:prstGeom>
          <a:noFill/>
          <a:ln/>
        </p:spPr>
        <p:txBody>
          <a:bodyPr wrap="square" lIns="0" tIns="0" rIns="0" bIns="0" rtlCol="0" anchor="t"/>
          <a:lstStyle/>
          <a:p>
            <a:pPr marL="0" indent="0">
              <a:buNone/>
            </a:pPr>
            <a:r>
              <a:rPr lang="en-US" sz="3000" b="1" dirty="0">
                <a:solidFill>
                  <a:schemeClr val="accent1"/>
                </a:solidFill>
                <a:latin typeface="Arial" pitchFamily="34" charset="0"/>
                <a:ea typeface="Arial" pitchFamily="34" charset="-122"/>
                <a:cs typeface="Arial" pitchFamily="34" charset="-120"/>
              </a:rPr>
              <a:t>04</a:t>
            </a:r>
            <a:endParaRPr lang="en-US" sz="3000" dirty="0"/>
          </a:p>
        </p:txBody>
      </p:sp>
      <p:sp>
        <p:nvSpPr>
          <p:cNvPr id="14" name="Text 12"/>
          <p:cNvSpPr txBox="1"/>
          <p:nvPr/>
        </p:nvSpPr>
        <p:spPr>
          <a:xfrm>
            <a:off x="7315200" y="3886200"/>
            <a:ext cx="4206240" cy="411480"/>
          </a:xfrm>
          <a:prstGeom prst="rect">
            <a:avLst/>
          </a:prstGeom>
          <a:noFill/>
          <a:ln/>
        </p:spPr>
        <p:txBody>
          <a:bodyPr wrap="square" lIns="0" tIns="0" rIns="0" bIns="0" rtlCol="0" anchor="t"/>
          <a:lstStyle/>
          <a:p>
            <a:pPr marL="0" indent="0">
              <a:buNone/>
            </a:pPr>
            <a:r>
              <a:rPr lang="en-US" sz="2200" b="1" dirty="0">
                <a:solidFill>
                  <a:schemeClr val="bg1"/>
                </a:solidFill>
                <a:latin typeface="Arial" pitchFamily="34" charset="0"/>
                <a:ea typeface="Arial" pitchFamily="34" charset="-122"/>
                <a:cs typeface="Arial" pitchFamily="34" charset="-120"/>
              </a:rPr>
              <a:t>Conversational</a:t>
            </a:r>
            <a:endParaRPr lang="en-US" sz="2200" dirty="0"/>
          </a:p>
        </p:txBody>
      </p:sp>
      <p:sp>
        <p:nvSpPr>
          <p:cNvPr id="15" name="Text 13"/>
          <p:cNvSpPr txBox="1"/>
          <p:nvPr/>
        </p:nvSpPr>
        <p:spPr>
          <a:xfrm>
            <a:off x="7315200" y="4389120"/>
            <a:ext cx="4206240" cy="914400"/>
          </a:xfrm>
          <a:prstGeom prst="rect">
            <a:avLst/>
          </a:prstGeom>
          <a:noFill/>
          <a:ln/>
        </p:spPr>
        <p:txBody>
          <a:bodyPr wrap="square" lIns="0" tIns="0" rIns="0" bIns="0" rtlCol="0" anchor="t"/>
          <a:lstStyle/>
          <a:p>
            <a:pPr marL="0" indent="0">
              <a:buNone/>
            </a:pPr>
            <a:r>
              <a:rPr lang="en-US" sz="1600" dirty="0">
                <a:solidFill>
                  <a:schemeClr val="bg2"/>
                </a:solidFill>
                <a:latin typeface="Arial" pitchFamily="34" charset="0"/>
                <a:ea typeface="Arial" pitchFamily="34" charset="-122"/>
                <a:cs typeface="Arial" pitchFamily="34" charset="-120"/>
              </a:rPr>
              <a:t>Ask what is exposed. The assistant chains the right tools.</a:t>
            </a:r>
            <a:endParaRPr lang="en-US" sz="1600" dirty="0"/>
          </a:p>
        </p:txBody>
      </p:sp>
      <p:sp>
        <p:nvSpPr>
          <p:cNvPr id="25" name="Slide Number Placeholder 0"/>
          <p:cNvSpPr>
            <a:spLocks noGrp="1"/>
          </p:cNvSpPr>
          <p:nvPr>
            <p:ph type="sldNum" sz="quarter" idx="4294967295"/>
          </p:nvPr>
        </p:nvSpPr>
        <p:spPr>
          <a:xfrm>
            <a:off x="11155680" y="6382512"/>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latin typeface="Arial"/>
                <a:ea typeface="Arial"/>
                <a:cs typeface="Aria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1371600" y="365760"/>
            <a:ext cx="7315200" cy="274320"/>
          </a:xfrm>
          <a:prstGeom prst="rect">
            <a:avLst/>
          </a:prstGeom>
          <a:noFill/>
          <a:ln/>
        </p:spPr>
        <p:txBody>
          <a:bodyPr wrap="square" lIns="0" tIns="0" rIns="0" bIns="0" rtlCol="0" anchor="ctr"/>
          <a:lstStyle/>
          <a:p>
            <a:pPr marL="0" indent="0" algn="l">
              <a:buNone/>
            </a:pPr>
            <a:r>
              <a:rPr lang="en-US" sz="1200" b="1" kern="0" spc="200" dirty="0">
                <a:solidFill>
                  <a:schemeClr val="accent1"/>
                </a:solidFill>
                <a:latin typeface="Arial" pitchFamily="34" charset="0"/>
                <a:ea typeface="Arial" pitchFamily="34" charset="-122"/>
                <a:cs typeface="Arial" pitchFamily="34" charset="-120"/>
              </a:rPr>
              <a:t>06  ·  ARCHITECTURE</a:t>
            </a:r>
            <a:endParaRPr lang="en-US" sz="1200" dirty="0"/>
          </a:p>
        </p:txBody>
      </p:sp>
      <p:sp>
        <p:nvSpPr>
          <p:cNvPr id="3" name="Text 1"/>
          <p:cNvSpPr>
            <a:spLocks noGrp="1"/>
          </p:cNvSpPr>
          <p:nvPr>
            <p:ph type="title" idx="103" hasCustomPrompt="1"/>
          </p:nvPr>
        </p:nvSpPr>
        <p:spPr>
          <a:xfrm>
            <a:off x="548640" y="777240"/>
            <a:ext cx="11064240" cy="822960"/>
          </a:xfrm>
          <a:prstGeom prst="rect">
            <a:avLst/>
          </a:prstGeom>
          <a:noFill/>
          <a:ln/>
        </p:spPr>
        <p:txBody>
          <a:bodyPr wrap="square" lIns="0" tIns="0" rIns="0" bIns="0" rtlCol="0" anchor="t"/>
          <a:lstStyle/>
          <a:p>
            <a:pPr marL="0" indent="0" algn="l">
              <a:buNone/>
            </a:pPr>
            <a:r>
              <a:rPr lang="en-US" sz="3000" b="1" dirty="0">
                <a:solidFill>
                  <a:schemeClr val="accent1"/>
                </a:solidFill>
              </a:rPr>
              <a:t>HOW THE MAP </a:t>
            </a:r>
            <a:r>
              <a:rPr lang="en-US" sz="3000" b="1" dirty="0">
                <a:solidFill>
                  <a:schemeClr val="bg1"/>
                </a:solidFill>
              </a:rPr>
              <a:t>IS BUILT</a:t>
            </a:r>
            <a:endParaRPr lang="en-US" sz="3000" dirty="0"/>
          </a:p>
        </p:txBody>
      </p:sp>
      <p:sp>
        <p:nvSpPr>
          <p:cNvPr id="4" name="arch tag 0"/>
          <p:cNvSpPr/>
          <p:nvPr/>
        </p:nvSpPr>
        <p:spPr>
          <a:xfrm>
            <a:off x="548640" y="1920240"/>
            <a:ext cx="3108960" cy="457200"/>
          </a:xfrm>
          <a:prstGeom prst="roundRect">
            <a:avLst>
              <a:gd name="adj" fmla="val 10000"/>
            </a:avLst>
          </a:prstGeom>
          <a:solidFill>
            <a:schemeClr val="accent2"/>
          </a:solidFill>
          <a:ln w="12700">
            <a:solidFill>
              <a:schemeClr val="accent1"/>
            </a:solidFill>
            <a:prstDash val="solid"/>
          </a:ln>
        </p:spPr>
      </p:sp>
      <p:sp>
        <p:nvSpPr>
          <p:cNvPr id="5" name="arch tag 0 text"/>
          <p:cNvSpPr txBox="1"/>
          <p:nvPr/>
        </p:nvSpPr>
        <p:spPr>
          <a:xfrm>
            <a:off x="548640" y="1920240"/>
            <a:ext cx="3108960" cy="457200"/>
          </a:xfrm>
          <a:prstGeom prst="rect">
            <a:avLst/>
          </a:prstGeom>
          <a:noFill/>
          <a:ln/>
        </p:spPr>
        <p:txBody>
          <a:bodyPr wrap="square" lIns="0" tIns="0" rIns="0" bIns="0" rtlCol="0" anchor="ctr"/>
          <a:lstStyle/>
          <a:p>
            <a:pPr marL="0" indent="0" algn="ctr">
              <a:buNone/>
            </a:pPr>
            <a:r>
              <a:rPr lang="en-US" sz="1400" b="1" dirty="0">
                <a:solidFill>
                  <a:schemeClr val="bg1"/>
                </a:solidFill>
                <a:latin typeface="Arial" pitchFamily="34" charset="0"/>
                <a:ea typeface="Arial" pitchFamily="34" charset="-122"/>
                <a:cs typeface="Arial" pitchFamily="34" charset="-120"/>
              </a:rPr>
              <a:t>DATA SOURCES</a:t>
            </a:r>
            <a:endParaRPr lang="en-US" sz="1400" dirty="0"/>
          </a:p>
        </p:txBody>
      </p:sp>
      <p:sp>
        <p:nvSpPr>
          <p:cNvPr id="6" name="arch box 0"/>
          <p:cNvSpPr/>
          <p:nvPr/>
        </p:nvSpPr>
        <p:spPr>
          <a:xfrm>
            <a:off x="548640" y="2514600"/>
            <a:ext cx="3108960" cy="3154680"/>
          </a:xfrm>
          <a:prstGeom prst="rect">
            <a:avLst/>
          </a:prstGeom>
          <a:solidFill>
            <a:schemeClr val="tx2"/>
          </a:solidFill>
          <a:ln w="12700">
            <a:solidFill>
              <a:schemeClr val="accent4"/>
            </a:solidFill>
            <a:prstDash val="solid"/>
          </a:ln>
        </p:spPr>
      </p:sp>
      <p:sp>
        <p:nvSpPr>
          <p:cNvPr id="7" name="arch dot 00"/>
          <p:cNvSpPr/>
          <p:nvPr/>
        </p:nvSpPr>
        <p:spPr>
          <a:xfrm>
            <a:off x="795528" y="2825496"/>
            <a:ext cx="146304" cy="146304"/>
          </a:xfrm>
          <a:prstGeom prst="ellipse">
            <a:avLst/>
          </a:prstGeom>
          <a:solidFill>
            <a:schemeClr val="accent1"/>
          </a:solidFill>
          <a:ln w="25400">
            <a:solidFill>
              <a:schemeClr val="accent1"/>
            </a:solidFill>
            <a:prstDash val="solid"/>
          </a:ln>
        </p:spPr>
      </p:sp>
      <p:sp>
        <p:nvSpPr>
          <p:cNvPr id="8" name="Text 6"/>
          <p:cNvSpPr txBox="1"/>
          <p:nvPr/>
        </p:nvSpPr>
        <p:spPr>
          <a:xfrm>
            <a:off x="1097280" y="2743200"/>
            <a:ext cx="2423160" cy="320040"/>
          </a:xfrm>
          <a:prstGeom prst="rect">
            <a:avLst/>
          </a:prstGeom>
          <a:noFill/>
          <a:ln/>
        </p:spPr>
        <p:txBody>
          <a:bodyPr wrap="square" lIns="0" tIns="0" rIns="0" bIns="0" rtlCol="0" anchor="t"/>
          <a:lstStyle/>
          <a:p>
            <a:pPr marL="0" indent="0">
              <a:buNone/>
            </a:pPr>
            <a:r>
              <a:rPr lang="en-US" sz="1700" b="1" dirty="0">
                <a:solidFill>
                  <a:schemeClr val="bg1"/>
                </a:solidFill>
                <a:latin typeface="Arial" pitchFamily="34" charset="0"/>
                <a:ea typeface="Arial" pitchFamily="34" charset="-122"/>
                <a:cs typeface="Arial" pitchFamily="34" charset="-120"/>
              </a:rPr>
              <a:t>Azure Resource Graph</a:t>
            </a:r>
            <a:endParaRPr lang="en-US" sz="1700" dirty="0"/>
          </a:p>
        </p:txBody>
      </p:sp>
      <p:sp>
        <p:nvSpPr>
          <p:cNvPr id="9" name="Text 7"/>
          <p:cNvSpPr txBox="1"/>
          <p:nvPr/>
        </p:nvSpPr>
        <p:spPr>
          <a:xfrm>
            <a:off x="1097280" y="3090672"/>
            <a:ext cx="2423160" cy="548640"/>
          </a:xfrm>
          <a:prstGeom prst="rect">
            <a:avLst/>
          </a:prstGeom>
          <a:noFill/>
          <a:ln/>
        </p:spPr>
        <p:txBody>
          <a:bodyPr wrap="square" lIns="0" tIns="0" rIns="0" bIns="0" rtlCol="0" anchor="t"/>
          <a:lstStyle/>
          <a:p>
            <a:pPr marL="0" indent="0">
              <a:buNone/>
            </a:pPr>
            <a:r>
              <a:rPr lang="en-US" sz="1300" dirty="0">
                <a:solidFill>
                  <a:schemeClr val="bg2"/>
                </a:solidFill>
                <a:latin typeface="Arial" pitchFamily="34" charset="0"/>
                <a:ea typeface="Arial" pitchFamily="34" charset="-122"/>
                <a:cs typeface="Arial" pitchFamily="34" charset="-120"/>
              </a:rPr>
              <a:t>KQL over every resource</a:t>
            </a:r>
            <a:endParaRPr lang="en-US" sz="1300" dirty="0"/>
          </a:p>
        </p:txBody>
      </p:sp>
      <p:sp>
        <p:nvSpPr>
          <p:cNvPr id="10" name="arch dot 01"/>
          <p:cNvSpPr/>
          <p:nvPr/>
        </p:nvSpPr>
        <p:spPr>
          <a:xfrm>
            <a:off x="795528" y="3831336"/>
            <a:ext cx="146304" cy="146304"/>
          </a:xfrm>
          <a:prstGeom prst="ellipse">
            <a:avLst/>
          </a:prstGeom>
          <a:solidFill>
            <a:schemeClr val="accent1"/>
          </a:solidFill>
          <a:ln w="25400">
            <a:solidFill>
              <a:schemeClr val="accent1"/>
            </a:solidFill>
            <a:prstDash val="solid"/>
          </a:ln>
        </p:spPr>
      </p:sp>
      <p:sp>
        <p:nvSpPr>
          <p:cNvPr id="11" name="Text 9"/>
          <p:cNvSpPr txBox="1"/>
          <p:nvPr/>
        </p:nvSpPr>
        <p:spPr>
          <a:xfrm>
            <a:off x="1097280" y="3749040"/>
            <a:ext cx="2423160" cy="320040"/>
          </a:xfrm>
          <a:prstGeom prst="rect">
            <a:avLst/>
          </a:prstGeom>
          <a:noFill/>
          <a:ln/>
        </p:spPr>
        <p:txBody>
          <a:bodyPr wrap="square" lIns="0" tIns="0" rIns="0" bIns="0" rtlCol="0" anchor="t"/>
          <a:lstStyle/>
          <a:p>
            <a:pPr marL="0" indent="0">
              <a:buNone/>
            </a:pPr>
            <a:r>
              <a:rPr lang="en-US" sz="1700" b="1" dirty="0">
                <a:solidFill>
                  <a:schemeClr val="bg1"/>
                </a:solidFill>
                <a:latin typeface="Arial" pitchFamily="34" charset="0"/>
                <a:ea typeface="Arial" pitchFamily="34" charset="-122"/>
                <a:cs typeface="Arial" pitchFamily="34" charset="-120"/>
              </a:rPr>
              <a:t>Azure Management API</a:t>
            </a:r>
            <a:endParaRPr lang="en-US" sz="1700" dirty="0"/>
          </a:p>
        </p:txBody>
      </p:sp>
      <p:sp>
        <p:nvSpPr>
          <p:cNvPr id="12" name="Text 10"/>
          <p:cNvSpPr txBox="1"/>
          <p:nvPr/>
        </p:nvSpPr>
        <p:spPr>
          <a:xfrm>
            <a:off x="1097280" y="4096512"/>
            <a:ext cx="2423160" cy="548640"/>
          </a:xfrm>
          <a:prstGeom prst="rect">
            <a:avLst/>
          </a:prstGeom>
          <a:noFill/>
          <a:ln/>
        </p:spPr>
        <p:txBody>
          <a:bodyPr wrap="square" lIns="0" tIns="0" rIns="0" bIns="0" rtlCol="0" anchor="t"/>
          <a:lstStyle/>
          <a:p>
            <a:pPr marL="0" indent="0">
              <a:buNone/>
            </a:pPr>
            <a:r>
              <a:rPr lang="en-US" sz="1300" dirty="0">
                <a:solidFill>
                  <a:schemeClr val="bg2"/>
                </a:solidFill>
                <a:latin typeface="Arial" pitchFamily="34" charset="0"/>
                <a:ea typeface="Arial" pitchFamily="34" charset="-122"/>
                <a:cs typeface="Arial" pitchFamily="34" charset="-120"/>
              </a:rPr>
              <a:t>Detail Resource Graph lacks</a:t>
            </a:r>
            <a:endParaRPr lang="en-US" sz="1300" dirty="0"/>
          </a:p>
        </p:txBody>
      </p:sp>
      <p:sp>
        <p:nvSpPr>
          <p:cNvPr id="13" name="arch arrow 0"/>
          <p:cNvSpPr/>
          <p:nvPr/>
        </p:nvSpPr>
        <p:spPr>
          <a:xfrm>
            <a:off x="3749040" y="4069080"/>
            <a:ext cx="640080" cy="914"/>
          </a:xfrm>
          <a:prstGeom prst="line">
            <a:avLst/>
          </a:prstGeom>
          <a:noFill/>
          <a:ln w="25400">
            <a:solidFill>
              <a:schemeClr val="accent1"/>
            </a:solidFill>
            <a:prstDash val="solid"/>
            <a:tailEnd type="triangle"/>
          </a:ln>
        </p:spPr>
      </p:sp>
      <p:sp>
        <p:nvSpPr>
          <p:cNvPr id="14" name="arch tag 1"/>
          <p:cNvSpPr/>
          <p:nvPr/>
        </p:nvSpPr>
        <p:spPr>
          <a:xfrm>
            <a:off x="4480560" y="1920240"/>
            <a:ext cx="3108960" cy="457200"/>
          </a:xfrm>
          <a:prstGeom prst="roundRect">
            <a:avLst>
              <a:gd name="adj" fmla="val 10000"/>
            </a:avLst>
          </a:prstGeom>
          <a:solidFill>
            <a:schemeClr val="accent2"/>
          </a:solidFill>
          <a:ln w="12700">
            <a:solidFill>
              <a:schemeClr val="accent1"/>
            </a:solidFill>
            <a:prstDash val="solid"/>
          </a:ln>
        </p:spPr>
      </p:sp>
      <p:sp>
        <p:nvSpPr>
          <p:cNvPr id="15" name="arch tag 1 text"/>
          <p:cNvSpPr txBox="1"/>
          <p:nvPr/>
        </p:nvSpPr>
        <p:spPr>
          <a:xfrm>
            <a:off x="4480560" y="1920240"/>
            <a:ext cx="3108960" cy="457200"/>
          </a:xfrm>
          <a:prstGeom prst="rect">
            <a:avLst/>
          </a:prstGeom>
          <a:noFill/>
          <a:ln/>
        </p:spPr>
        <p:txBody>
          <a:bodyPr wrap="square" lIns="0" tIns="0" rIns="0" bIns="0" rtlCol="0" anchor="ctr"/>
          <a:lstStyle/>
          <a:p>
            <a:pPr marL="0" indent="0" algn="ctr">
              <a:buNone/>
            </a:pPr>
            <a:r>
              <a:rPr lang="en-US" sz="1400" b="1" dirty="0">
                <a:solidFill>
                  <a:schemeClr val="bg1"/>
                </a:solidFill>
                <a:latin typeface="Arial" pitchFamily="34" charset="0"/>
                <a:ea typeface="Arial" pitchFamily="34" charset="-122"/>
                <a:cs typeface="Arial" pitchFamily="34" charset="-120"/>
              </a:rPr>
              <a:t>PYTHON MCP SERVER</a:t>
            </a:r>
            <a:endParaRPr lang="en-US" sz="1400" dirty="0"/>
          </a:p>
        </p:txBody>
      </p:sp>
      <p:sp>
        <p:nvSpPr>
          <p:cNvPr id="16" name="arch box 1"/>
          <p:cNvSpPr/>
          <p:nvPr/>
        </p:nvSpPr>
        <p:spPr>
          <a:xfrm>
            <a:off x="4480560" y="2514600"/>
            <a:ext cx="3108960" cy="3154680"/>
          </a:xfrm>
          <a:prstGeom prst="rect">
            <a:avLst/>
          </a:prstGeom>
          <a:solidFill>
            <a:schemeClr val="tx2"/>
          </a:solidFill>
          <a:ln w="12700">
            <a:solidFill>
              <a:schemeClr val="accent4"/>
            </a:solidFill>
            <a:prstDash val="solid"/>
          </a:ln>
        </p:spPr>
      </p:sp>
      <p:sp>
        <p:nvSpPr>
          <p:cNvPr id="17" name="arch dot 10"/>
          <p:cNvSpPr/>
          <p:nvPr/>
        </p:nvSpPr>
        <p:spPr>
          <a:xfrm>
            <a:off x="4727448" y="2825496"/>
            <a:ext cx="146304" cy="146304"/>
          </a:xfrm>
          <a:prstGeom prst="ellipse">
            <a:avLst/>
          </a:prstGeom>
          <a:solidFill>
            <a:schemeClr val="accent1"/>
          </a:solidFill>
          <a:ln w="25400">
            <a:solidFill>
              <a:schemeClr val="accent1"/>
            </a:solidFill>
            <a:prstDash val="solid"/>
          </a:ln>
        </p:spPr>
      </p:sp>
      <p:sp>
        <p:nvSpPr>
          <p:cNvPr id="18" name="Text 16"/>
          <p:cNvSpPr txBox="1"/>
          <p:nvPr/>
        </p:nvSpPr>
        <p:spPr>
          <a:xfrm>
            <a:off x="5029200" y="2743200"/>
            <a:ext cx="2423160" cy="320040"/>
          </a:xfrm>
          <a:prstGeom prst="rect">
            <a:avLst/>
          </a:prstGeom>
          <a:noFill/>
          <a:ln/>
        </p:spPr>
        <p:txBody>
          <a:bodyPr wrap="square" lIns="0" tIns="0" rIns="0" bIns="0" rtlCol="0" anchor="t"/>
          <a:lstStyle/>
          <a:p>
            <a:pPr marL="0" indent="0">
              <a:buNone/>
            </a:pPr>
            <a:r>
              <a:rPr lang="en-US" sz="1700" b="1" dirty="0">
                <a:solidFill>
                  <a:schemeClr val="bg1"/>
                </a:solidFill>
                <a:latin typeface="Arial" pitchFamily="34" charset="0"/>
                <a:ea typeface="Arial" pitchFamily="34" charset="-122"/>
                <a:cs typeface="Arial" pitchFamily="34" charset="-120"/>
              </a:rPr>
              <a:t>Scan</a:t>
            </a:r>
            <a:endParaRPr lang="en-US" sz="1700" dirty="0"/>
          </a:p>
        </p:txBody>
      </p:sp>
      <p:sp>
        <p:nvSpPr>
          <p:cNvPr id="19" name="Text 17"/>
          <p:cNvSpPr txBox="1"/>
          <p:nvPr/>
        </p:nvSpPr>
        <p:spPr>
          <a:xfrm>
            <a:off x="5029200" y="3090672"/>
            <a:ext cx="2423160" cy="548640"/>
          </a:xfrm>
          <a:prstGeom prst="rect">
            <a:avLst/>
          </a:prstGeom>
          <a:noFill/>
          <a:ln/>
        </p:spPr>
        <p:txBody>
          <a:bodyPr wrap="square" lIns="0" tIns="0" rIns="0" bIns="0" rtlCol="0" anchor="t"/>
          <a:lstStyle/>
          <a:p>
            <a:pPr marL="0" indent="0">
              <a:buNone/>
            </a:pPr>
            <a:r>
              <a:rPr lang="en-US" sz="1300" dirty="0">
                <a:solidFill>
                  <a:schemeClr val="bg2"/>
                </a:solidFill>
                <a:latin typeface="Arial" pitchFamily="34" charset="0"/>
                <a:ea typeface="Arial" pitchFamily="34" charset="-122"/>
                <a:cs typeface="Arial" pitchFamily="34" charset="-120"/>
              </a:rPr>
              <a:t>Read-only queries</a:t>
            </a:r>
            <a:endParaRPr lang="en-US" sz="1300" dirty="0"/>
          </a:p>
        </p:txBody>
      </p:sp>
      <p:sp>
        <p:nvSpPr>
          <p:cNvPr id="20" name="arch dot 11"/>
          <p:cNvSpPr/>
          <p:nvPr/>
        </p:nvSpPr>
        <p:spPr>
          <a:xfrm>
            <a:off x="4727448" y="3831336"/>
            <a:ext cx="146304" cy="146304"/>
          </a:xfrm>
          <a:prstGeom prst="ellipse">
            <a:avLst/>
          </a:prstGeom>
          <a:solidFill>
            <a:schemeClr val="accent1"/>
          </a:solidFill>
          <a:ln w="25400">
            <a:solidFill>
              <a:schemeClr val="accent1"/>
            </a:solidFill>
            <a:prstDash val="solid"/>
          </a:ln>
        </p:spPr>
      </p:sp>
      <p:sp>
        <p:nvSpPr>
          <p:cNvPr id="21" name="Text 19"/>
          <p:cNvSpPr txBox="1"/>
          <p:nvPr/>
        </p:nvSpPr>
        <p:spPr>
          <a:xfrm>
            <a:off x="5029200" y="3749040"/>
            <a:ext cx="2423160" cy="320040"/>
          </a:xfrm>
          <a:prstGeom prst="rect">
            <a:avLst/>
          </a:prstGeom>
          <a:noFill/>
          <a:ln/>
        </p:spPr>
        <p:txBody>
          <a:bodyPr wrap="square" lIns="0" tIns="0" rIns="0" bIns="0" rtlCol="0" anchor="t"/>
          <a:lstStyle/>
          <a:p>
            <a:pPr marL="0" indent="0">
              <a:buNone/>
            </a:pPr>
            <a:r>
              <a:rPr lang="en-US" sz="1700" b="1" dirty="0">
                <a:solidFill>
                  <a:schemeClr val="bg1"/>
                </a:solidFill>
                <a:latin typeface="Arial" pitchFamily="34" charset="0"/>
                <a:ea typeface="Arial" pitchFamily="34" charset="-122"/>
                <a:cs typeface="Arial" pitchFamily="34" charset="-120"/>
              </a:rPr>
              <a:t>Normalize</a:t>
            </a:r>
            <a:endParaRPr lang="en-US" sz="1700" dirty="0"/>
          </a:p>
        </p:txBody>
      </p:sp>
      <p:sp>
        <p:nvSpPr>
          <p:cNvPr id="22" name="Text 20"/>
          <p:cNvSpPr txBox="1"/>
          <p:nvPr/>
        </p:nvSpPr>
        <p:spPr>
          <a:xfrm>
            <a:off x="5029200" y="4096512"/>
            <a:ext cx="2423160" cy="548640"/>
          </a:xfrm>
          <a:prstGeom prst="rect">
            <a:avLst/>
          </a:prstGeom>
          <a:noFill/>
          <a:ln/>
        </p:spPr>
        <p:txBody>
          <a:bodyPr wrap="square" lIns="0" tIns="0" rIns="0" bIns="0" rtlCol="0" anchor="t"/>
          <a:lstStyle/>
          <a:p>
            <a:pPr marL="0" indent="0">
              <a:buNone/>
            </a:pPr>
            <a:r>
              <a:rPr lang="en-US" sz="1300" dirty="0">
                <a:solidFill>
                  <a:schemeClr val="bg2"/>
                </a:solidFill>
                <a:latin typeface="Arial" pitchFamily="34" charset="0"/>
                <a:ea typeface="Arial" pitchFamily="34" charset="-122"/>
                <a:cs typeface="Arial" pitchFamily="34" charset="-120"/>
              </a:rPr>
              <a:t>One consistent model</a:t>
            </a:r>
            <a:endParaRPr lang="en-US" sz="1300" dirty="0"/>
          </a:p>
        </p:txBody>
      </p:sp>
      <p:sp>
        <p:nvSpPr>
          <p:cNvPr id="23" name="arch dot 12"/>
          <p:cNvSpPr/>
          <p:nvPr/>
        </p:nvSpPr>
        <p:spPr>
          <a:xfrm>
            <a:off x="4727448" y="4837176"/>
            <a:ext cx="146304" cy="146304"/>
          </a:xfrm>
          <a:prstGeom prst="ellipse">
            <a:avLst/>
          </a:prstGeom>
          <a:solidFill>
            <a:schemeClr val="accent1"/>
          </a:solidFill>
          <a:ln w="25400">
            <a:solidFill>
              <a:schemeClr val="accent1"/>
            </a:solidFill>
            <a:prstDash val="solid"/>
          </a:ln>
        </p:spPr>
      </p:sp>
      <p:sp>
        <p:nvSpPr>
          <p:cNvPr id="24" name="Text 22"/>
          <p:cNvSpPr txBox="1"/>
          <p:nvPr/>
        </p:nvSpPr>
        <p:spPr>
          <a:xfrm>
            <a:off x="5029200" y="4754880"/>
            <a:ext cx="2423160" cy="320040"/>
          </a:xfrm>
          <a:prstGeom prst="rect">
            <a:avLst/>
          </a:prstGeom>
          <a:noFill/>
          <a:ln/>
        </p:spPr>
        <p:txBody>
          <a:bodyPr wrap="square" lIns="0" tIns="0" rIns="0" bIns="0" rtlCol="0" anchor="t"/>
          <a:lstStyle/>
          <a:p>
            <a:pPr marL="0" indent="0">
              <a:buNone/>
            </a:pPr>
            <a:r>
              <a:rPr lang="en-US" sz="1700" b="1" dirty="0">
                <a:solidFill>
                  <a:schemeClr val="bg1"/>
                </a:solidFill>
                <a:latin typeface="Arial" pitchFamily="34" charset="0"/>
                <a:ea typeface="Arial" pitchFamily="34" charset="-122"/>
                <a:cs typeface="Arial" pitchFamily="34" charset="-120"/>
              </a:rPr>
              <a:t>Build graph</a:t>
            </a:r>
            <a:endParaRPr lang="en-US" sz="1700" dirty="0"/>
          </a:p>
        </p:txBody>
      </p:sp>
      <p:sp>
        <p:nvSpPr>
          <p:cNvPr id="25" name="Text 23"/>
          <p:cNvSpPr txBox="1"/>
          <p:nvPr/>
        </p:nvSpPr>
        <p:spPr>
          <a:xfrm>
            <a:off x="5029200" y="5102352"/>
            <a:ext cx="2423160" cy="548640"/>
          </a:xfrm>
          <a:prstGeom prst="rect">
            <a:avLst/>
          </a:prstGeom>
          <a:noFill/>
          <a:ln/>
        </p:spPr>
        <p:txBody>
          <a:bodyPr wrap="square" lIns="0" tIns="0" rIns="0" bIns="0" rtlCol="0" anchor="t"/>
          <a:lstStyle/>
          <a:p>
            <a:pPr marL="0" indent="0">
              <a:buNone/>
            </a:pPr>
            <a:r>
              <a:rPr lang="en-US" sz="1300" dirty="0">
                <a:solidFill>
                  <a:schemeClr val="bg2"/>
                </a:solidFill>
                <a:latin typeface="Arial" pitchFamily="34" charset="0"/>
                <a:ea typeface="Arial" pitchFamily="34" charset="-122"/>
                <a:cs typeface="Arial" pitchFamily="34" charset="-120"/>
              </a:rPr>
              <a:t>Resources become nodes, relationships become edges</a:t>
            </a:r>
            <a:endParaRPr lang="en-US" sz="1300" dirty="0"/>
          </a:p>
        </p:txBody>
      </p:sp>
      <p:sp>
        <p:nvSpPr>
          <p:cNvPr id="26" name="arch arrow 1"/>
          <p:cNvSpPr/>
          <p:nvPr/>
        </p:nvSpPr>
        <p:spPr>
          <a:xfrm>
            <a:off x="7680960" y="4069080"/>
            <a:ext cx="640080" cy="914"/>
          </a:xfrm>
          <a:prstGeom prst="line">
            <a:avLst/>
          </a:prstGeom>
          <a:noFill/>
          <a:ln w="25400">
            <a:solidFill>
              <a:schemeClr val="accent1"/>
            </a:solidFill>
            <a:prstDash val="solid"/>
            <a:tailEnd type="triangle"/>
          </a:ln>
        </p:spPr>
      </p:sp>
      <p:sp>
        <p:nvSpPr>
          <p:cNvPr id="27" name="arch tag 2"/>
          <p:cNvSpPr/>
          <p:nvPr/>
        </p:nvSpPr>
        <p:spPr>
          <a:xfrm>
            <a:off x="8412480" y="1920240"/>
            <a:ext cx="3108960" cy="457200"/>
          </a:xfrm>
          <a:prstGeom prst="roundRect">
            <a:avLst>
              <a:gd name="adj" fmla="val 10000"/>
            </a:avLst>
          </a:prstGeom>
          <a:solidFill>
            <a:schemeClr val="accent2"/>
          </a:solidFill>
          <a:ln w="12700">
            <a:solidFill>
              <a:schemeClr val="accent1"/>
            </a:solidFill>
            <a:prstDash val="solid"/>
          </a:ln>
        </p:spPr>
      </p:sp>
      <p:sp>
        <p:nvSpPr>
          <p:cNvPr id="28" name="arch tag 2 text"/>
          <p:cNvSpPr txBox="1"/>
          <p:nvPr/>
        </p:nvSpPr>
        <p:spPr>
          <a:xfrm>
            <a:off x="8412480" y="1920240"/>
            <a:ext cx="3108960" cy="457200"/>
          </a:xfrm>
          <a:prstGeom prst="rect">
            <a:avLst/>
          </a:prstGeom>
          <a:noFill/>
          <a:ln/>
        </p:spPr>
        <p:txBody>
          <a:bodyPr wrap="square" lIns="0" tIns="0" rIns="0" bIns="0" rtlCol="0" anchor="ctr"/>
          <a:lstStyle/>
          <a:p>
            <a:pPr marL="0" indent="0" algn="ctr">
              <a:buNone/>
            </a:pPr>
            <a:r>
              <a:rPr lang="en-US" sz="1400" b="1" dirty="0">
                <a:solidFill>
                  <a:schemeClr val="bg1"/>
                </a:solidFill>
                <a:latin typeface="Arial" pitchFamily="34" charset="0"/>
                <a:ea typeface="Arial" pitchFamily="34" charset="-122"/>
                <a:cs typeface="Arial" pitchFamily="34" charset="-120"/>
              </a:rPr>
              <a:t>OUTPUT</a:t>
            </a:r>
            <a:endParaRPr lang="en-US" sz="1400" dirty="0"/>
          </a:p>
        </p:txBody>
      </p:sp>
      <p:sp>
        <p:nvSpPr>
          <p:cNvPr id="29" name="arch box 2"/>
          <p:cNvSpPr/>
          <p:nvPr/>
        </p:nvSpPr>
        <p:spPr>
          <a:xfrm>
            <a:off x="8412480" y="2514600"/>
            <a:ext cx="3108960" cy="3154680"/>
          </a:xfrm>
          <a:prstGeom prst="rect">
            <a:avLst/>
          </a:prstGeom>
          <a:solidFill>
            <a:schemeClr val="tx2"/>
          </a:solidFill>
          <a:ln w="12700">
            <a:solidFill>
              <a:schemeClr val="accent4"/>
            </a:solidFill>
            <a:prstDash val="solid"/>
          </a:ln>
        </p:spPr>
      </p:sp>
      <p:sp>
        <p:nvSpPr>
          <p:cNvPr id="30" name="arch dot 20"/>
          <p:cNvSpPr/>
          <p:nvPr/>
        </p:nvSpPr>
        <p:spPr>
          <a:xfrm>
            <a:off x="8659368" y="2825496"/>
            <a:ext cx="146304" cy="146304"/>
          </a:xfrm>
          <a:prstGeom prst="ellipse">
            <a:avLst/>
          </a:prstGeom>
          <a:solidFill>
            <a:schemeClr val="accent1"/>
          </a:solidFill>
          <a:ln w="25400">
            <a:solidFill>
              <a:schemeClr val="accent1"/>
            </a:solidFill>
            <a:prstDash val="solid"/>
          </a:ln>
        </p:spPr>
      </p:sp>
      <p:sp>
        <p:nvSpPr>
          <p:cNvPr id="31" name="Text 29"/>
          <p:cNvSpPr txBox="1"/>
          <p:nvPr/>
        </p:nvSpPr>
        <p:spPr>
          <a:xfrm>
            <a:off x="8961120" y="2743200"/>
            <a:ext cx="2423160" cy="320040"/>
          </a:xfrm>
          <a:prstGeom prst="rect">
            <a:avLst/>
          </a:prstGeom>
          <a:noFill/>
          <a:ln/>
        </p:spPr>
        <p:txBody>
          <a:bodyPr wrap="square" lIns="0" tIns="0" rIns="0" bIns="0" rtlCol="0" anchor="t"/>
          <a:lstStyle/>
          <a:p>
            <a:pPr marL="0" indent="0">
              <a:buNone/>
            </a:pPr>
            <a:r>
              <a:rPr lang="en-US" sz="1700" b="1" dirty="0">
                <a:solidFill>
                  <a:schemeClr val="bg1"/>
                </a:solidFill>
                <a:latin typeface="Arial" pitchFamily="34" charset="0"/>
                <a:ea typeface="Arial" pitchFamily="34" charset="-122"/>
                <a:cs typeface="Arial" pitchFamily="34" charset="-120"/>
              </a:rPr>
              <a:t>Interactive graph</a:t>
            </a:r>
            <a:endParaRPr lang="en-US" sz="1700" dirty="0"/>
          </a:p>
        </p:txBody>
      </p:sp>
      <p:sp>
        <p:nvSpPr>
          <p:cNvPr id="32" name="Text 30"/>
          <p:cNvSpPr txBox="1"/>
          <p:nvPr/>
        </p:nvSpPr>
        <p:spPr>
          <a:xfrm>
            <a:off x="8961120" y="3090672"/>
            <a:ext cx="2423160" cy="548640"/>
          </a:xfrm>
          <a:prstGeom prst="rect">
            <a:avLst/>
          </a:prstGeom>
          <a:noFill/>
          <a:ln/>
        </p:spPr>
        <p:txBody>
          <a:bodyPr wrap="square" lIns="0" tIns="0" rIns="0" bIns="0" rtlCol="0" anchor="t"/>
          <a:lstStyle/>
          <a:p>
            <a:pPr marL="0" indent="0">
              <a:buNone/>
            </a:pPr>
            <a:r>
              <a:rPr lang="en-US" sz="1300" dirty="0">
                <a:solidFill>
                  <a:schemeClr val="bg2"/>
                </a:solidFill>
                <a:latin typeface="Arial" pitchFamily="34" charset="0"/>
                <a:ea typeface="Arial" pitchFamily="34" charset="-122"/>
                <a:cs typeface="Arial" pitchFamily="34" charset="-120"/>
              </a:rPr>
              <a:t>Rendered with Cytoscape.js</a:t>
            </a:r>
            <a:endParaRPr lang="en-US" sz="1300" dirty="0"/>
          </a:p>
        </p:txBody>
      </p:sp>
      <p:sp>
        <p:nvSpPr>
          <p:cNvPr id="33" name="arch dot 21"/>
          <p:cNvSpPr/>
          <p:nvPr/>
        </p:nvSpPr>
        <p:spPr>
          <a:xfrm>
            <a:off x="8659368" y="3831336"/>
            <a:ext cx="146304" cy="146304"/>
          </a:xfrm>
          <a:prstGeom prst="ellipse">
            <a:avLst/>
          </a:prstGeom>
          <a:solidFill>
            <a:schemeClr val="accent1"/>
          </a:solidFill>
          <a:ln w="25400">
            <a:solidFill>
              <a:schemeClr val="accent1"/>
            </a:solidFill>
            <a:prstDash val="solid"/>
          </a:ln>
        </p:spPr>
      </p:sp>
      <p:sp>
        <p:nvSpPr>
          <p:cNvPr id="34" name="Text 32"/>
          <p:cNvSpPr txBox="1"/>
          <p:nvPr/>
        </p:nvSpPr>
        <p:spPr>
          <a:xfrm>
            <a:off x="8961120" y="3749040"/>
            <a:ext cx="2423160" cy="320040"/>
          </a:xfrm>
          <a:prstGeom prst="rect">
            <a:avLst/>
          </a:prstGeom>
          <a:noFill/>
          <a:ln/>
        </p:spPr>
        <p:txBody>
          <a:bodyPr wrap="square" lIns="0" tIns="0" rIns="0" bIns="0" rtlCol="0" anchor="t"/>
          <a:lstStyle/>
          <a:p>
            <a:pPr marL="0" indent="0">
              <a:buNone/>
            </a:pPr>
            <a:r>
              <a:rPr lang="en-US" sz="1700" b="1" dirty="0">
                <a:solidFill>
                  <a:schemeClr val="bg1"/>
                </a:solidFill>
                <a:latin typeface="Arial" pitchFamily="34" charset="0"/>
                <a:ea typeface="Arial" pitchFamily="34" charset="-122"/>
                <a:cs typeface="Arial" pitchFamily="34" charset="-120"/>
              </a:rPr>
              <a:t>Offline HTML</a:t>
            </a:r>
            <a:endParaRPr lang="en-US" sz="1700" dirty="0"/>
          </a:p>
        </p:txBody>
      </p:sp>
      <p:sp>
        <p:nvSpPr>
          <p:cNvPr id="35" name="Text 33"/>
          <p:cNvSpPr txBox="1"/>
          <p:nvPr/>
        </p:nvSpPr>
        <p:spPr>
          <a:xfrm>
            <a:off x="8961120" y="4096512"/>
            <a:ext cx="2423160" cy="548640"/>
          </a:xfrm>
          <a:prstGeom prst="rect">
            <a:avLst/>
          </a:prstGeom>
          <a:noFill/>
          <a:ln/>
        </p:spPr>
        <p:txBody>
          <a:bodyPr wrap="square" lIns="0" tIns="0" rIns="0" bIns="0" rtlCol="0" anchor="t"/>
          <a:lstStyle/>
          <a:p>
            <a:pPr marL="0" indent="0">
              <a:buNone/>
            </a:pPr>
            <a:r>
              <a:rPr lang="en-US" sz="1300" dirty="0">
                <a:solidFill>
                  <a:schemeClr val="bg2"/>
                </a:solidFill>
                <a:latin typeface="Arial" pitchFamily="34" charset="0"/>
                <a:ea typeface="Arial" pitchFamily="34" charset="-122"/>
                <a:cs typeface="Arial" pitchFamily="34" charset="-120"/>
              </a:rPr>
              <a:t>Nothing uploaded anywhere</a:t>
            </a:r>
            <a:endParaRPr lang="en-US" sz="1300" dirty="0"/>
          </a:p>
        </p:txBody>
      </p:sp>
      <p:sp>
        <p:nvSpPr>
          <p:cNvPr id="36" name="Slide Number Placeholder 0"/>
          <p:cNvSpPr>
            <a:spLocks noGrp="1"/>
          </p:cNvSpPr>
          <p:nvPr>
            <p:ph type="sldNum" sz="quarter" idx="4294967295"/>
          </p:nvPr>
        </p:nvSpPr>
        <p:spPr>
          <a:xfrm>
            <a:off x="11155680" y="6382512"/>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latin typeface="Arial"/>
                <a:ea typeface="Arial"/>
                <a:cs typeface="Aria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1371600" y="365760"/>
            <a:ext cx="7315200" cy="274320"/>
          </a:xfrm>
          <a:prstGeom prst="rect">
            <a:avLst/>
          </a:prstGeom>
          <a:noFill/>
          <a:ln/>
        </p:spPr>
        <p:txBody>
          <a:bodyPr wrap="square" lIns="0" tIns="0" rIns="0" bIns="0" rtlCol="0" anchor="ctr"/>
          <a:lstStyle/>
          <a:p>
            <a:pPr marL="0" indent="0" algn="l">
              <a:buNone/>
            </a:pPr>
            <a:r>
              <a:rPr lang="en-US" sz="1200" b="1" kern="0" spc="200" dirty="0">
                <a:solidFill>
                  <a:schemeClr val="accent1"/>
                </a:solidFill>
                <a:latin typeface="Arial" pitchFamily="34" charset="0"/>
                <a:ea typeface="Arial" pitchFamily="34" charset="-122"/>
                <a:cs typeface="Arial" pitchFamily="34" charset="-120"/>
              </a:rPr>
              <a:t>07  ·  FROM INVENTORY TO GRAPH</a:t>
            </a:r>
            <a:endParaRPr lang="en-US" sz="1200" dirty="0"/>
          </a:p>
        </p:txBody>
      </p:sp>
      <p:sp>
        <p:nvSpPr>
          <p:cNvPr id="3" name="Text 1"/>
          <p:cNvSpPr>
            <a:spLocks noGrp="1"/>
          </p:cNvSpPr>
          <p:nvPr>
            <p:ph type="title" idx="103" hasCustomPrompt="1"/>
          </p:nvPr>
        </p:nvSpPr>
        <p:spPr>
          <a:xfrm>
            <a:off x="548640" y="777240"/>
            <a:ext cx="11064240" cy="822960"/>
          </a:xfrm>
          <a:prstGeom prst="rect">
            <a:avLst/>
          </a:prstGeom>
          <a:noFill/>
          <a:ln/>
        </p:spPr>
        <p:txBody>
          <a:bodyPr wrap="square" lIns="0" tIns="0" rIns="0" bIns="0" rtlCol="0" anchor="t"/>
          <a:lstStyle/>
          <a:p>
            <a:pPr marL="0" indent="0" algn="l">
              <a:buNone/>
            </a:pPr>
            <a:r>
              <a:rPr lang="en-US" sz="3000" b="1" dirty="0">
                <a:solidFill>
                  <a:schemeClr val="accent1"/>
                </a:solidFill>
              </a:rPr>
              <a:t>EVERY REFERENCE </a:t>
            </a:r>
            <a:r>
              <a:rPr lang="en-US" sz="3000" b="1" dirty="0">
                <a:solidFill>
                  <a:schemeClr val="bg1"/>
                </a:solidFill>
              </a:rPr>
              <a:t>BECOMES AN EDGE</a:t>
            </a:r>
            <a:endParaRPr lang="en-US" sz="3000" dirty="0"/>
          </a:p>
        </p:txBody>
      </p:sp>
      <p:sp>
        <p:nvSpPr>
          <p:cNvPr id="4" name="kql tag"/>
          <p:cNvSpPr/>
          <p:nvPr/>
        </p:nvSpPr>
        <p:spPr>
          <a:xfrm>
            <a:off x="548640" y="1874520"/>
            <a:ext cx="3291840" cy="384048"/>
          </a:xfrm>
          <a:prstGeom prst="roundRect">
            <a:avLst>
              <a:gd name="adj" fmla="val 11905"/>
            </a:avLst>
          </a:prstGeom>
          <a:solidFill>
            <a:schemeClr val="accent2"/>
          </a:solidFill>
          <a:ln w="12700">
            <a:solidFill>
              <a:schemeClr val="accent1"/>
            </a:solidFill>
            <a:prstDash val="solid"/>
          </a:ln>
        </p:spPr>
      </p:sp>
      <p:sp>
        <p:nvSpPr>
          <p:cNvPr id="5" name="kql tag text"/>
          <p:cNvSpPr txBox="1"/>
          <p:nvPr/>
        </p:nvSpPr>
        <p:spPr>
          <a:xfrm>
            <a:off x="548640" y="1874520"/>
            <a:ext cx="3291840" cy="384048"/>
          </a:xfrm>
          <a:prstGeom prst="rect">
            <a:avLst/>
          </a:prstGeom>
          <a:noFill/>
          <a:ln/>
        </p:spPr>
        <p:txBody>
          <a:bodyPr wrap="square" lIns="0" tIns="0" rIns="0" bIns="0" rtlCol="0" anchor="ctr"/>
          <a:lstStyle/>
          <a:p>
            <a:pPr marL="0" indent="0" algn="ctr">
              <a:buNone/>
            </a:pPr>
            <a:r>
              <a:rPr lang="en-US" sz="1200" b="1" dirty="0">
                <a:solidFill>
                  <a:schemeClr val="bg1"/>
                </a:solidFill>
                <a:latin typeface="Arial" pitchFamily="34" charset="0"/>
                <a:ea typeface="Arial" pitchFamily="34" charset="-122"/>
                <a:cs typeface="Arial" pitchFamily="34" charset="-120"/>
              </a:rPr>
              <a:t>AZURE RESOURCE GRAPH  ·  KQL</a:t>
            </a:r>
            <a:endParaRPr lang="en-US" sz="1200" dirty="0"/>
          </a:p>
        </p:txBody>
      </p:sp>
      <p:sp>
        <p:nvSpPr>
          <p:cNvPr id="6" name="code box"/>
          <p:cNvSpPr/>
          <p:nvPr/>
        </p:nvSpPr>
        <p:spPr>
          <a:xfrm>
            <a:off x="548640" y="2377440"/>
            <a:ext cx="6400800" cy="1645920"/>
          </a:xfrm>
          <a:prstGeom prst="rect">
            <a:avLst/>
          </a:prstGeom>
          <a:solidFill>
            <a:schemeClr val="tx2"/>
          </a:solidFill>
          <a:ln w="12700">
            <a:solidFill>
              <a:schemeClr val="accent4"/>
            </a:solidFill>
            <a:prstDash val="solid"/>
          </a:ln>
        </p:spPr>
      </p:sp>
      <p:sp>
        <p:nvSpPr>
          <p:cNvPr id="7" name="Text 5"/>
          <p:cNvSpPr txBox="1"/>
          <p:nvPr/>
        </p:nvSpPr>
        <p:spPr>
          <a:xfrm>
            <a:off x="777240" y="2606040"/>
            <a:ext cx="6035040" cy="1280160"/>
          </a:xfrm>
          <a:prstGeom prst="rect">
            <a:avLst/>
          </a:prstGeom>
          <a:noFill/>
          <a:ln/>
        </p:spPr>
        <p:txBody>
          <a:bodyPr wrap="square" lIns="0" tIns="0" rIns="0" bIns="0" rtlCol="0" anchor="t"/>
          <a:lstStyle/>
          <a:p>
            <a:pPr marL="0" indent="0">
              <a:buNone/>
            </a:pPr>
            <a:r>
              <a:rPr lang="en-US" sz="1300" dirty="0">
                <a:solidFill>
                  <a:schemeClr val="bg1"/>
                </a:solidFill>
                <a:latin typeface="Courier New" pitchFamily="34" charset="0"/>
                <a:ea typeface="Courier New" pitchFamily="34" charset="-122"/>
                <a:cs typeface="Courier New" pitchFamily="34" charset="-120"/>
              </a:rPr>
              <a:t>Resources</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where type =~ 'microsoft.network/publicipaddresses'</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project pip = name, resourceGroup,</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attachedTo = tostring(properties.ipConfiguration.id)</a:t>
            </a:r>
            <a:endParaRPr lang="en-US" sz="1300" dirty="0"/>
          </a:p>
        </p:txBody>
      </p:sp>
      <p:sp>
        <p:nvSpPr>
          <p:cNvPr id="8" name="Text 6"/>
          <p:cNvSpPr txBox="1"/>
          <p:nvPr/>
        </p:nvSpPr>
        <p:spPr>
          <a:xfrm>
            <a:off x="548640" y="4343400"/>
            <a:ext cx="6400800" cy="1188720"/>
          </a:xfrm>
          <a:prstGeom prst="rect">
            <a:avLst/>
          </a:prstGeom>
          <a:noFill/>
          <a:ln/>
        </p:spPr>
        <p:txBody>
          <a:bodyPr wrap="square" lIns="0" tIns="0" rIns="0" bIns="0" rtlCol="0" anchor="t"/>
          <a:lstStyle/>
          <a:p>
            <a:pPr marL="0" indent="0">
              <a:buNone/>
            </a:pPr>
            <a:r>
              <a:rPr lang="en-US" sz="1800" b="1" dirty="0">
                <a:solidFill>
                  <a:schemeClr val="bg1"/>
                </a:solidFill>
                <a:latin typeface="Arial" pitchFamily="34" charset="0"/>
                <a:ea typeface="Arial" pitchFamily="34" charset="-122"/>
                <a:cs typeface="Arial" pitchFamily="34" charset="-120"/>
              </a:rPr>
              <a:t>Each row becomes an edge </a:t>
            </a:r>
            <a:r>
              <a:rPr lang="en-US" sz="1800" dirty="0">
                <a:solidFill>
                  <a:schemeClr val="bg2"/>
                </a:solidFill>
                <a:latin typeface="Arial" pitchFamily="34" charset="0"/>
                <a:ea typeface="Arial" pitchFamily="34" charset="-122"/>
                <a:cs typeface="Arial" pitchFamily="34" charset="-120"/>
              </a:rPr>
              <a:t>from something facing the internet to something inside your network. Repeat for every reference type and the list becomes a map.</a:t>
            </a:r>
            <a:endParaRPr lang="en-US" sz="1800" dirty="0"/>
          </a:p>
        </p:txBody>
      </p:sp>
      <p:sp>
        <p:nvSpPr>
          <p:cNvPr id="9" name="chain node 0"/>
          <p:cNvSpPr/>
          <p:nvPr/>
        </p:nvSpPr>
        <p:spPr>
          <a:xfrm>
            <a:off x="7589520" y="2011680"/>
            <a:ext cx="457200" cy="457200"/>
          </a:xfrm>
          <a:prstGeom prst="ellipse">
            <a:avLst/>
          </a:prstGeom>
          <a:solidFill>
            <a:schemeClr val="accent1"/>
          </a:solidFill>
          <a:ln w="25400">
            <a:solidFill>
              <a:schemeClr val="accent1"/>
            </a:solidFill>
            <a:prstDash val="solid"/>
          </a:ln>
        </p:spPr>
      </p:sp>
      <p:sp>
        <p:nvSpPr>
          <p:cNvPr id="10" name="Text 8"/>
          <p:cNvSpPr txBox="1"/>
          <p:nvPr/>
        </p:nvSpPr>
        <p:spPr>
          <a:xfrm>
            <a:off x="8321040" y="2075688"/>
            <a:ext cx="3291840" cy="365760"/>
          </a:xfrm>
          <a:prstGeom prst="rect">
            <a:avLst/>
          </a:prstGeom>
          <a:noFill/>
          <a:ln/>
        </p:spPr>
        <p:txBody>
          <a:bodyPr wrap="square" lIns="0" tIns="0" rIns="0" bIns="0" rtlCol="0" anchor="t"/>
          <a:lstStyle/>
          <a:p>
            <a:pPr marL="0" indent="0">
              <a:buNone/>
            </a:pPr>
            <a:r>
              <a:rPr lang="en-US" sz="1900" b="1" dirty="0">
                <a:solidFill>
                  <a:schemeClr val="bg1"/>
                </a:solidFill>
                <a:latin typeface="Arial" pitchFamily="34" charset="0"/>
                <a:ea typeface="Arial" pitchFamily="34" charset="-122"/>
                <a:cs typeface="Arial" pitchFamily="34" charset="-120"/>
              </a:rPr>
              <a:t>Public IP</a:t>
            </a:r>
            <a:endParaRPr lang="en-US" sz="1900" dirty="0"/>
          </a:p>
        </p:txBody>
      </p:sp>
      <p:sp>
        <p:nvSpPr>
          <p:cNvPr id="11" name="chain edge 0"/>
          <p:cNvSpPr/>
          <p:nvPr/>
        </p:nvSpPr>
        <p:spPr>
          <a:xfrm>
            <a:off x="7818120" y="2487168"/>
            <a:ext cx="914" cy="1335024"/>
          </a:xfrm>
          <a:prstGeom prst="line">
            <a:avLst/>
          </a:prstGeom>
          <a:noFill/>
          <a:ln w="25400">
            <a:solidFill>
              <a:schemeClr val="accent1"/>
            </a:solidFill>
            <a:prstDash val="solid"/>
          </a:ln>
        </p:spPr>
      </p:sp>
      <p:sp>
        <p:nvSpPr>
          <p:cNvPr id="12" name="Text 10"/>
          <p:cNvSpPr txBox="1"/>
          <p:nvPr/>
        </p:nvSpPr>
        <p:spPr>
          <a:xfrm>
            <a:off x="8321040" y="2880360"/>
            <a:ext cx="3474720" cy="320040"/>
          </a:xfrm>
          <a:prstGeom prst="rect">
            <a:avLst/>
          </a:prstGeom>
          <a:noFill/>
          <a:ln/>
        </p:spPr>
        <p:txBody>
          <a:bodyPr wrap="square" lIns="0" tIns="0" rIns="0" bIns="0" rtlCol="0" anchor="t"/>
          <a:lstStyle/>
          <a:p>
            <a:pPr marL="0" indent="0">
              <a:buNone/>
            </a:pPr>
            <a:r>
              <a:rPr lang="en-US" sz="1200" dirty="0">
                <a:solidFill>
                  <a:schemeClr val="accent3"/>
                </a:solidFill>
                <a:latin typeface="Courier New" pitchFamily="34" charset="0"/>
                <a:ea typeface="Courier New" pitchFamily="34" charset="-122"/>
                <a:cs typeface="Courier New" pitchFamily="34" charset="-120"/>
              </a:rPr>
              <a:t>properties.ipConfiguration.id</a:t>
            </a:r>
            <a:endParaRPr lang="en-US" sz="1200" dirty="0"/>
          </a:p>
        </p:txBody>
      </p:sp>
      <p:sp>
        <p:nvSpPr>
          <p:cNvPr id="13" name="chain node 1"/>
          <p:cNvSpPr/>
          <p:nvPr/>
        </p:nvSpPr>
        <p:spPr>
          <a:xfrm>
            <a:off x="7589520" y="3611880"/>
            <a:ext cx="457200" cy="457200"/>
          </a:xfrm>
          <a:prstGeom prst="ellipse">
            <a:avLst/>
          </a:prstGeom>
          <a:solidFill>
            <a:schemeClr val="tx1"/>
          </a:solidFill>
          <a:ln w="25400">
            <a:solidFill>
              <a:schemeClr val="accent1"/>
            </a:solidFill>
            <a:prstDash val="solid"/>
          </a:ln>
        </p:spPr>
      </p:sp>
      <p:sp>
        <p:nvSpPr>
          <p:cNvPr id="14" name="Text 12"/>
          <p:cNvSpPr txBox="1"/>
          <p:nvPr/>
        </p:nvSpPr>
        <p:spPr>
          <a:xfrm>
            <a:off x="8321040" y="3675888"/>
            <a:ext cx="3291840" cy="365760"/>
          </a:xfrm>
          <a:prstGeom prst="rect">
            <a:avLst/>
          </a:prstGeom>
          <a:noFill/>
          <a:ln/>
        </p:spPr>
        <p:txBody>
          <a:bodyPr wrap="square" lIns="0" tIns="0" rIns="0" bIns="0" rtlCol="0" anchor="t"/>
          <a:lstStyle/>
          <a:p>
            <a:pPr marL="0" indent="0">
              <a:buNone/>
            </a:pPr>
            <a:r>
              <a:rPr lang="en-US" sz="1900" b="1" dirty="0">
                <a:solidFill>
                  <a:schemeClr val="bg1"/>
                </a:solidFill>
                <a:latin typeface="Arial" pitchFamily="34" charset="0"/>
                <a:ea typeface="Arial" pitchFamily="34" charset="-122"/>
                <a:cs typeface="Arial" pitchFamily="34" charset="-120"/>
              </a:rPr>
              <a:t>Network interface</a:t>
            </a:r>
            <a:endParaRPr lang="en-US" sz="1900" dirty="0"/>
          </a:p>
        </p:txBody>
      </p:sp>
      <p:sp>
        <p:nvSpPr>
          <p:cNvPr id="15" name="chain edge 1"/>
          <p:cNvSpPr/>
          <p:nvPr/>
        </p:nvSpPr>
        <p:spPr>
          <a:xfrm>
            <a:off x="7818120" y="4087368"/>
            <a:ext cx="914" cy="1335024"/>
          </a:xfrm>
          <a:prstGeom prst="line">
            <a:avLst/>
          </a:prstGeom>
          <a:noFill/>
          <a:ln w="25400">
            <a:solidFill>
              <a:schemeClr val="accent1"/>
            </a:solidFill>
            <a:prstDash val="solid"/>
          </a:ln>
        </p:spPr>
      </p:sp>
      <p:sp>
        <p:nvSpPr>
          <p:cNvPr id="16" name="Text 14"/>
          <p:cNvSpPr txBox="1"/>
          <p:nvPr/>
        </p:nvSpPr>
        <p:spPr>
          <a:xfrm>
            <a:off x="8321040" y="4480560"/>
            <a:ext cx="3474720" cy="320040"/>
          </a:xfrm>
          <a:prstGeom prst="rect">
            <a:avLst/>
          </a:prstGeom>
          <a:noFill/>
          <a:ln/>
        </p:spPr>
        <p:txBody>
          <a:bodyPr wrap="square" lIns="0" tIns="0" rIns="0" bIns="0" rtlCol="0" anchor="t"/>
          <a:lstStyle/>
          <a:p>
            <a:pPr marL="0" indent="0">
              <a:buNone/>
            </a:pPr>
            <a:r>
              <a:rPr lang="en-US" sz="1200" dirty="0">
                <a:solidFill>
                  <a:schemeClr val="accent3"/>
                </a:solidFill>
                <a:latin typeface="Courier New" pitchFamily="34" charset="0"/>
                <a:ea typeface="Courier New" pitchFamily="34" charset="-122"/>
                <a:cs typeface="Courier New" pitchFamily="34" charset="-120"/>
              </a:rPr>
              <a:t>properties.virtualMachine.id</a:t>
            </a:r>
            <a:endParaRPr lang="en-US" sz="1200" dirty="0"/>
          </a:p>
        </p:txBody>
      </p:sp>
      <p:sp>
        <p:nvSpPr>
          <p:cNvPr id="17" name="chain node 2"/>
          <p:cNvSpPr/>
          <p:nvPr/>
        </p:nvSpPr>
        <p:spPr>
          <a:xfrm>
            <a:off x="7589520" y="5212080"/>
            <a:ext cx="457200" cy="457200"/>
          </a:xfrm>
          <a:prstGeom prst="ellipse">
            <a:avLst/>
          </a:prstGeom>
          <a:solidFill>
            <a:schemeClr val="tx1"/>
          </a:solidFill>
          <a:ln w="25400">
            <a:solidFill>
              <a:schemeClr val="accent1"/>
            </a:solidFill>
            <a:prstDash val="solid"/>
          </a:ln>
        </p:spPr>
      </p:sp>
      <p:sp>
        <p:nvSpPr>
          <p:cNvPr id="18" name="Text 16"/>
          <p:cNvSpPr txBox="1"/>
          <p:nvPr/>
        </p:nvSpPr>
        <p:spPr>
          <a:xfrm>
            <a:off x="8321040" y="5276088"/>
            <a:ext cx="3291840" cy="365760"/>
          </a:xfrm>
          <a:prstGeom prst="rect">
            <a:avLst/>
          </a:prstGeom>
          <a:noFill/>
          <a:ln/>
        </p:spPr>
        <p:txBody>
          <a:bodyPr wrap="square" lIns="0" tIns="0" rIns="0" bIns="0" rtlCol="0" anchor="t"/>
          <a:lstStyle/>
          <a:p>
            <a:pPr marL="0" indent="0">
              <a:buNone/>
            </a:pPr>
            <a:r>
              <a:rPr lang="en-US" sz="1900" b="1" dirty="0">
                <a:solidFill>
                  <a:schemeClr val="bg1"/>
                </a:solidFill>
                <a:latin typeface="Arial" pitchFamily="34" charset="0"/>
                <a:ea typeface="Arial" pitchFamily="34" charset="-122"/>
                <a:cs typeface="Arial" pitchFamily="34" charset="-120"/>
              </a:rPr>
              <a:t>Virtual machine</a:t>
            </a:r>
            <a:endParaRPr lang="en-US" sz="1900" dirty="0"/>
          </a:p>
        </p:txBody>
      </p:sp>
      <p:sp>
        <p:nvSpPr>
          <p:cNvPr id="25" name="Slide Number Placeholder 0"/>
          <p:cNvSpPr>
            <a:spLocks noGrp="1"/>
          </p:cNvSpPr>
          <p:nvPr>
            <p:ph type="sldNum" sz="quarter" idx="4294967295"/>
          </p:nvPr>
        </p:nvSpPr>
        <p:spPr>
          <a:xfrm>
            <a:off x="11155680" y="6382512"/>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latin typeface="Arial"/>
                <a:ea typeface="Arial"/>
                <a:cs typeface="Aria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1371600" y="365760"/>
            <a:ext cx="7315200" cy="274320"/>
          </a:xfrm>
          <a:prstGeom prst="rect">
            <a:avLst/>
          </a:prstGeom>
          <a:noFill/>
          <a:ln/>
        </p:spPr>
        <p:txBody>
          <a:bodyPr wrap="square" lIns="0" tIns="0" rIns="0" bIns="0" rtlCol="0" anchor="ctr"/>
          <a:lstStyle/>
          <a:p>
            <a:pPr marL="0" indent="0" algn="l">
              <a:buNone/>
            </a:pPr>
            <a:r>
              <a:rPr lang="en-US" sz="1200" b="1" kern="0" spc="200" dirty="0">
                <a:solidFill>
                  <a:schemeClr val="accent1"/>
                </a:solidFill>
                <a:latin typeface="Arial" pitchFamily="34" charset="0"/>
                <a:ea typeface="Arial" pitchFamily="34" charset="-122"/>
                <a:cs typeface="Arial" pitchFamily="34" charset="-120"/>
              </a:rPr>
              <a:t>08  ·  READING THE MAP</a:t>
            </a:r>
            <a:endParaRPr lang="en-US" sz="1200" dirty="0"/>
          </a:p>
        </p:txBody>
      </p:sp>
      <p:sp>
        <p:nvSpPr>
          <p:cNvPr id="3" name="Text 1"/>
          <p:cNvSpPr>
            <a:spLocks noGrp="1"/>
          </p:cNvSpPr>
          <p:nvPr>
            <p:ph type="title" idx="103" hasCustomPrompt="1"/>
          </p:nvPr>
        </p:nvSpPr>
        <p:spPr>
          <a:xfrm>
            <a:off x="548640" y="777240"/>
            <a:ext cx="11064240" cy="822960"/>
          </a:xfrm>
          <a:prstGeom prst="rect">
            <a:avLst/>
          </a:prstGeom>
          <a:noFill/>
          <a:ln/>
        </p:spPr>
        <p:txBody>
          <a:bodyPr wrap="square" lIns="0" tIns="0" rIns="0" bIns="0" rtlCol="0" anchor="t"/>
          <a:lstStyle/>
          <a:p>
            <a:pPr marL="0" indent="0" algn="l">
              <a:buNone/>
            </a:pPr>
            <a:r>
              <a:rPr lang="en-US" sz="3000" b="1" dirty="0">
                <a:solidFill>
                  <a:schemeClr val="accent1"/>
                </a:solidFill>
              </a:rPr>
              <a:t>READ THE GRAPH </a:t>
            </a:r>
            <a:r>
              <a:rPr lang="en-US" sz="3000" b="1" dirty="0">
                <a:solidFill>
                  <a:schemeClr val="bg1"/>
                </a:solidFill>
              </a:rPr>
              <a:t>LIKE AN ATTACKER</a:t>
            </a:r>
            <a:endParaRPr lang="en-US" sz="3000" dirty="0"/>
          </a:p>
        </p:txBody>
      </p:sp>
      <p:sp>
        <p:nvSpPr>
          <p:cNvPr id="4" name="g0 e"/>
          <p:cNvSpPr/>
          <p:nvPr/>
        </p:nvSpPr>
        <p:spPr>
          <a:xfrm>
            <a:off x="1097280" y="2697480"/>
            <a:ext cx="1828800" cy="914"/>
          </a:xfrm>
          <a:prstGeom prst="line">
            <a:avLst/>
          </a:prstGeom>
          <a:noFill/>
          <a:ln w="38100">
            <a:solidFill>
              <a:schemeClr val="accent1"/>
            </a:solidFill>
            <a:prstDash val="solid"/>
          </a:ln>
        </p:spPr>
      </p:sp>
      <p:sp>
        <p:nvSpPr>
          <p:cNvPr id="5" name="g0 internet"/>
          <p:cNvSpPr/>
          <p:nvPr/>
        </p:nvSpPr>
        <p:spPr>
          <a:xfrm>
            <a:off x="914400" y="2514600"/>
            <a:ext cx="365760" cy="365760"/>
          </a:xfrm>
          <a:prstGeom prst="ellipse">
            <a:avLst/>
          </a:prstGeom>
          <a:solidFill>
            <a:schemeClr val="accent1"/>
          </a:solidFill>
          <a:ln w="25400">
            <a:solidFill>
              <a:schemeClr val="accent1"/>
            </a:solidFill>
            <a:prstDash val="solid"/>
          </a:ln>
        </p:spPr>
      </p:sp>
      <p:sp>
        <p:nvSpPr>
          <p:cNvPr id="6" name="g0 a"/>
          <p:cNvSpPr/>
          <p:nvPr/>
        </p:nvSpPr>
        <p:spPr>
          <a:xfrm>
            <a:off x="1874520" y="2560320"/>
            <a:ext cx="274320" cy="274320"/>
          </a:xfrm>
          <a:prstGeom prst="ellipse">
            <a:avLst/>
          </a:prstGeom>
          <a:solidFill>
            <a:schemeClr val="tx1"/>
          </a:solidFill>
          <a:ln w="25400">
            <a:solidFill>
              <a:schemeClr val="accent1"/>
            </a:solidFill>
            <a:prstDash val="solid"/>
          </a:ln>
        </p:spPr>
      </p:sp>
      <p:sp>
        <p:nvSpPr>
          <p:cNvPr id="7" name="g0 b"/>
          <p:cNvSpPr/>
          <p:nvPr/>
        </p:nvSpPr>
        <p:spPr>
          <a:xfrm>
            <a:off x="2788920" y="2560320"/>
            <a:ext cx="274320" cy="274320"/>
          </a:xfrm>
          <a:prstGeom prst="ellipse">
            <a:avLst/>
          </a:prstGeom>
          <a:solidFill>
            <a:schemeClr val="tx1"/>
          </a:solidFill>
          <a:ln w="25400">
            <a:solidFill>
              <a:schemeClr val="accent1"/>
            </a:solidFill>
            <a:prstDash val="solid"/>
          </a:ln>
        </p:spPr>
      </p:sp>
      <p:sp>
        <p:nvSpPr>
          <p:cNvPr id="8" name="look tag 0"/>
          <p:cNvSpPr/>
          <p:nvPr/>
        </p:nvSpPr>
        <p:spPr>
          <a:xfrm>
            <a:off x="548640" y="3657600"/>
            <a:ext cx="3108960" cy="411480"/>
          </a:xfrm>
          <a:prstGeom prst="roundRect">
            <a:avLst>
              <a:gd name="adj" fmla="val 11111"/>
            </a:avLst>
          </a:prstGeom>
          <a:solidFill>
            <a:schemeClr val="accent2"/>
          </a:solidFill>
          <a:ln w="12700">
            <a:solidFill>
              <a:schemeClr val="accent1"/>
            </a:solidFill>
            <a:prstDash val="solid"/>
          </a:ln>
        </p:spPr>
      </p:sp>
      <p:sp>
        <p:nvSpPr>
          <p:cNvPr id="9" name="look tag 0 text"/>
          <p:cNvSpPr txBox="1"/>
          <p:nvPr/>
        </p:nvSpPr>
        <p:spPr>
          <a:xfrm>
            <a:off x="548640" y="3657600"/>
            <a:ext cx="3108960" cy="411480"/>
          </a:xfrm>
          <a:prstGeom prst="rect">
            <a:avLst/>
          </a:prstGeom>
          <a:noFill/>
          <a:ln/>
        </p:spPr>
        <p:txBody>
          <a:bodyPr wrap="square" lIns="0" tIns="0" rIns="0" bIns="0" rtlCol="0" anchor="ctr"/>
          <a:lstStyle/>
          <a:p>
            <a:pPr marL="0" indent="0" algn="ctr">
              <a:buNone/>
            </a:pPr>
            <a:r>
              <a:rPr lang="en-US" sz="1300" b="1" dirty="0">
                <a:solidFill>
                  <a:schemeClr val="bg1"/>
                </a:solidFill>
                <a:latin typeface="Arial" pitchFamily="34" charset="0"/>
                <a:ea typeface="Arial" pitchFamily="34" charset="-122"/>
                <a:cs typeface="Arial" pitchFamily="34" charset="-120"/>
              </a:rPr>
              <a:t>EXPOSED EDGES</a:t>
            </a:r>
            <a:endParaRPr lang="en-US" sz="1300" dirty="0"/>
          </a:p>
        </p:txBody>
      </p:sp>
      <p:sp>
        <p:nvSpPr>
          <p:cNvPr id="10" name="Text 8"/>
          <p:cNvSpPr txBox="1"/>
          <p:nvPr/>
        </p:nvSpPr>
        <p:spPr>
          <a:xfrm>
            <a:off x="548640" y="4251960"/>
            <a:ext cx="3291840" cy="1645920"/>
          </a:xfrm>
          <a:prstGeom prst="rect">
            <a:avLst/>
          </a:prstGeom>
          <a:noFill/>
          <a:ln/>
        </p:spPr>
        <p:txBody>
          <a:bodyPr wrap="square" lIns="0" tIns="0" rIns="0" bIns="0" rtlCol="0" anchor="t"/>
          <a:lstStyle/>
          <a:p>
            <a:pPr marL="0" indent="0">
              <a:buNone/>
            </a:pPr>
            <a:r>
              <a:rPr lang="en-US" sz="1500" dirty="0">
                <a:solidFill>
                  <a:schemeClr val="bg2"/>
                </a:solidFill>
                <a:latin typeface="Arial" pitchFamily="34" charset="0"/>
                <a:ea typeface="Arial" pitchFamily="34" charset="-122"/>
                <a:cs typeface="Arial" pitchFamily="34" charset="-120"/>
              </a:rPr>
              <a:t>Anything linking the internet to your resources: public IPs, open inbound NSG rules, public network access on PaaS.</a:t>
            </a:r>
            <a:endParaRPr lang="en-US" sz="1500" dirty="0"/>
          </a:p>
        </p:txBody>
      </p:sp>
      <p:sp>
        <p:nvSpPr>
          <p:cNvPr id="11" name="g1 e0"/>
          <p:cNvSpPr/>
          <p:nvPr/>
        </p:nvSpPr>
        <p:spPr>
          <a:xfrm flipH="1" flipV="1">
            <a:off x="5029200" y="2240280"/>
            <a:ext cx="914400" cy="457200"/>
          </a:xfrm>
          <a:prstGeom prst="line">
            <a:avLst/>
          </a:prstGeom>
          <a:noFill/>
          <a:ln w="25400">
            <a:solidFill>
              <a:schemeClr val="accent1"/>
            </a:solidFill>
            <a:prstDash val="solid"/>
          </a:ln>
        </p:spPr>
      </p:sp>
      <p:sp>
        <p:nvSpPr>
          <p:cNvPr id="12" name="g1 n0"/>
          <p:cNvSpPr/>
          <p:nvPr/>
        </p:nvSpPr>
        <p:spPr>
          <a:xfrm>
            <a:off x="4919472" y="2130552"/>
            <a:ext cx="219456" cy="219456"/>
          </a:xfrm>
          <a:prstGeom prst="ellipse">
            <a:avLst/>
          </a:prstGeom>
          <a:solidFill>
            <a:schemeClr val="tx1"/>
          </a:solidFill>
          <a:ln w="25400">
            <a:solidFill>
              <a:schemeClr val="accent3"/>
            </a:solidFill>
            <a:prstDash val="solid"/>
          </a:ln>
        </p:spPr>
      </p:sp>
      <p:sp>
        <p:nvSpPr>
          <p:cNvPr id="13" name="g1 e1"/>
          <p:cNvSpPr/>
          <p:nvPr/>
        </p:nvSpPr>
        <p:spPr>
          <a:xfrm flipV="1">
            <a:off x="5943600" y="2240280"/>
            <a:ext cx="914400" cy="457200"/>
          </a:xfrm>
          <a:prstGeom prst="line">
            <a:avLst/>
          </a:prstGeom>
          <a:noFill/>
          <a:ln w="25400">
            <a:solidFill>
              <a:schemeClr val="accent1"/>
            </a:solidFill>
            <a:prstDash val="solid"/>
          </a:ln>
        </p:spPr>
      </p:sp>
      <p:sp>
        <p:nvSpPr>
          <p:cNvPr id="14" name="g1 n1"/>
          <p:cNvSpPr/>
          <p:nvPr/>
        </p:nvSpPr>
        <p:spPr>
          <a:xfrm>
            <a:off x="6748272" y="2130552"/>
            <a:ext cx="219456" cy="219456"/>
          </a:xfrm>
          <a:prstGeom prst="ellipse">
            <a:avLst/>
          </a:prstGeom>
          <a:solidFill>
            <a:schemeClr val="tx1"/>
          </a:solidFill>
          <a:ln w="25400">
            <a:solidFill>
              <a:schemeClr val="accent3"/>
            </a:solidFill>
            <a:prstDash val="solid"/>
          </a:ln>
        </p:spPr>
      </p:sp>
      <p:sp>
        <p:nvSpPr>
          <p:cNvPr id="15" name="g1 e2"/>
          <p:cNvSpPr/>
          <p:nvPr/>
        </p:nvSpPr>
        <p:spPr>
          <a:xfrm flipH="1">
            <a:off x="5029200" y="2697480"/>
            <a:ext cx="914400" cy="457200"/>
          </a:xfrm>
          <a:prstGeom prst="line">
            <a:avLst/>
          </a:prstGeom>
          <a:noFill/>
          <a:ln w="25400">
            <a:solidFill>
              <a:schemeClr val="accent1"/>
            </a:solidFill>
            <a:prstDash val="solid"/>
          </a:ln>
        </p:spPr>
      </p:sp>
      <p:sp>
        <p:nvSpPr>
          <p:cNvPr id="16" name="g1 n2"/>
          <p:cNvSpPr/>
          <p:nvPr/>
        </p:nvSpPr>
        <p:spPr>
          <a:xfrm>
            <a:off x="4919472" y="3044952"/>
            <a:ext cx="219456" cy="219456"/>
          </a:xfrm>
          <a:prstGeom prst="ellipse">
            <a:avLst/>
          </a:prstGeom>
          <a:solidFill>
            <a:schemeClr val="tx1"/>
          </a:solidFill>
          <a:ln w="25400">
            <a:solidFill>
              <a:schemeClr val="accent3"/>
            </a:solidFill>
            <a:prstDash val="solid"/>
          </a:ln>
        </p:spPr>
      </p:sp>
      <p:sp>
        <p:nvSpPr>
          <p:cNvPr id="17" name="g1 e3"/>
          <p:cNvSpPr/>
          <p:nvPr/>
        </p:nvSpPr>
        <p:spPr>
          <a:xfrm>
            <a:off x="5943600" y="2697480"/>
            <a:ext cx="914400" cy="457200"/>
          </a:xfrm>
          <a:prstGeom prst="line">
            <a:avLst/>
          </a:prstGeom>
          <a:noFill/>
          <a:ln w="25400">
            <a:solidFill>
              <a:schemeClr val="accent1"/>
            </a:solidFill>
            <a:prstDash val="solid"/>
          </a:ln>
        </p:spPr>
      </p:sp>
      <p:sp>
        <p:nvSpPr>
          <p:cNvPr id="18" name="g1 n3"/>
          <p:cNvSpPr/>
          <p:nvPr/>
        </p:nvSpPr>
        <p:spPr>
          <a:xfrm>
            <a:off x="6748272" y="3044952"/>
            <a:ext cx="219456" cy="219456"/>
          </a:xfrm>
          <a:prstGeom prst="ellipse">
            <a:avLst/>
          </a:prstGeom>
          <a:solidFill>
            <a:schemeClr val="tx1"/>
          </a:solidFill>
          <a:ln w="25400">
            <a:solidFill>
              <a:schemeClr val="accent3"/>
            </a:solidFill>
            <a:prstDash val="solid"/>
          </a:ln>
        </p:spPr>
      </p:sp>
      <p:sp>
        <p:nvSpPr>
          <p:cNvPr id="19" name="g1 e4"/>
          <p:cNvSpPr/>
          <p:nvPr/>
        </p:nvSpPr>
        <p:spPr>
          <a:xfrm flipV="1">
            <a:off x="5943600" y="2057400"/>
            <a:ext cx="914" cy="640080"/>
          </a:xfrm>
          <a:prstGeom prst="line">
            <a:avLst/>
          </a:prstGeom>
          <a:noFill/>
          <a:ln w="25400">
            <a:solidFill>
              <a:schemeClr val="accent1"/>
            </a:solidFill>
            <a:prstDash val="solid"/>
          </a:ln>
        </p:spPr>
      </p:sp>
      <p:sp>
        <p:nvSpPr>
          <p:cNvPr id="20" name="g1 n4"/>
          <p:cNvSpPr/>
          <p:nvPr/>
        </p:nvSpPr>
        <p:spPr>
          <a:xfrm>
            <a:off x="5833872" y="1947672"/>
            <a:ext cx="219456" cy="219456"/>
          </a:xfrm>
          <a:prstGeom prst="ellipse">
            <a:avLst/>
          </a:prstGeom>
          <a:solidFill>
            <a:schemeClr val="tx1"/>
          </a:solidFill>
          <a:ln w="25400">
            <a:solidFill>
              <a:schemeClr val="accent3"/>
            </a:solidFill>
            <a:prstDash val="solid"/>
          </a:ln>
        </p:spPr>
      </p:sp>
      <p:sp>
        <p:nvSpPr>
          <p:cNvPr id="21" name="g1 hub"/>
          <p:cNvSpPr/>
          <p:nvPr/>
        </p:nvSpPr>
        <p:spPr>
          <a:xfrm>
            <a:off x="5751576" y="2505456"/>
            <a:ext cx="384048" cy="384048"/>
          </a:xfrm>
          <a:prstGeom prst="ellipse">
            <a:avLst/>
          </a:prstGeom>
          <a:solidFill>
            <a:schemeClr val="accent1"/>
          </a:solidFill>
          <a:ln w="25400">
            <a:solidFill>
              <a:schemeClr val="accent1"/>
            </a:solidFill>
            <a:prstDash val="solid"/>
          </a:ln>
        </p:spPr>
      </p:sp>
      <p:sp>
        <p:nvSpPr>
          <p:cNvPr id="22" name="look tag 1"/>
          <p:cNvSpPr/>
          <p:nvPr/>
        </p:nvSpPr>
        <p:spPr>
          <a:xfrm>
            <a:off x="4389120" y="3657600"/>
            <a:ext cx="3108960" cy="411480"/>
          </a:xfrm>
          <a:prstGeom prst="roundRect">
            <a:avLst>
              <a:gd name="adj" fmla="val 11111"/>
            </a:avLst>
          </a:prstGeom>
          <a:solidFill>
            <a:schemeClr val="accent2"/>
          </a:solidFill>
          <a:ln w="12700">
            <a:solidFill>
              <a:schemeClr val="accent1"/>
            </a:solidFill>
            <a:prstDash val="solid"/>
          </a:ln>
        </p:spPr>
      </p:sp>
      <p:sp>
        <p:nvSpPr>
          <p:cNvPr id="23" name="look tag 1 text"/>
          <p:cNvSpPr txBox="1"/>
          <p:nvPr/>
        </p:nvSpPr>
        <p:spPr>
          <a:xfrm>
            <a:off x="4389120" y="3657600"/>
            <a:ext cx="3108960" cy="411480"/>
          </a:xfrm>
          <a:prstGeom prst="rect">
            <a:avLst/>
          </a:prstGeom>
          <a:noFill/>
          <a:ln/>
        </p:spPr>
        <p:txBody>
          <a:bodyPr wrap="square" lIns="0" tIns="0" rIns="0" bIns="0" rtlCol="0" anchor="ctr"/>
          <a:lstStyle/>
          <a:p>
            <a:pPr marL="0" indent="0" algn="ctr">
              <a:buNone/>
            </a:pPr>
            <a:r>
              <a:rPr lang="en-US" sz="1300" b="1" dirty="0">
                <a:solidFill>
                  <a:schemeClr val="bg1"/>
                </a:solidFill>
                <a:latin typeface="Arial" pitchFamily="34" charset="0"/>
                <a:ea typeface="Arial" pitchFamily="34" charset="-122"/>
                <a:cs typeface="Arial" pitchFamily="34" charset="-120"/>
              </a:rPr>
              <a:t>BLAST RADIUS</a:t>
            </a:r>
            <a:endParaRPr lang="en-US" sz="1300" dirty="0"/>
          </a:p>
        </p:txBody>
      </p:sp>
      <p:sp>
        <p:nvSpPr>
          <p:cNvPr id="24" name="Text 22"/>
          <p:cNvSpPr txBox="1"/>
          <p:nvPr/>
        </p:nvSpPr>
        <p:spPr>
          <a:xfrm>
            <a:off x="4389120" y="4251960"/>
            <a:ext cx="3291840" cy="1645920"/>
          </a:xfrm>
          <a:prstGeom prst="rect">
            <a:avLst/>
          </a:prstGeom>
          <a:noFill/>
          <a:ln/>
        </p:spPr>
        <p:txBody>
          <a:bodyPr wrap="square" lIns="0" tIns="0" rIns="0" bIns="0" rtlCol="0" anchor="t"/>
          <a:lstStyle/>
          <a:p>
            <a:pPr marL="0" indent="0">
              <a:buNone/>
            </a:pPr>
            <a:r>
              <a:rPr lang="en-US" sz="1500" dirty="0">
                <a:solidFill>
                  <a:schemeClr val="bg2"/>
                </a:solidFill>
                <a:latin typeface="Arial" pitchFamily="34" charset="0"/>
                <a:ea typeface="Arial" pitchFamily="34" charset="-122"/>
                <a:cs typeface="Arial" pitchFamily="34" charset="-120"/>
              </a:rPr>
              <a:t>Pick a node. If it is compromised, what can it reach? In a graph that is a traversal, not a guess.</a:t>
            </a:r>
            <a:endParaRPr lang="en-US" sz="1500" dirty="0"/>
          </a:p>
        </p:txBody>
      </p:sp>
      <p:sp>
        <p:nvSpPr>
          <p:cNvPr id="25" name="g2 e"/>
          <p:cNvSpPr/>
          <p:nvPr/>
        </p:nvSpPr>
        <p:spPr>
          <a:xfrm>
            <a:off x="8778240" y="2423160"/>
            <a:ext cx="822960" cy="548640"/>
          </a:xfrm>
          <a:prstGeom prst="line">
            <a:avLst/>
          </a:prstGeom>
          <a:noFill/>
          <a:ln w="15875">
            <a:solidFill>
              <a:schemeClr val="accent4"/>
            </a:solidFill>
            <a:prstDash val="solid"/>
          </a:ln>
        </p:spPr>
      </p:sp>
      <p:sp>
        <p:nvSpPr>
          <p:cNvPr id="26" name="g2 a"/>
          <p:cNvSpPr/>
          <p:nvPr/>
        </p:nvSpPr>
        <p:spPr>
          <a:xfrm>
            <a:off x="8659368" y="2304288"/>
            <a:ext cx="237744" cy="237744"/>
          </a:xfrm>
          <a:prstGeom prst="ellipse">
            <a:avLst/>
          </a:prstGeom>
          <a:solidFill>
            <a:schemeClr val="tx1"/>
          </a:solidFill>
          <a:ln w="25400">
            <a:solidFill>
              <a:schemeClr val="accent4"/>
            </a:solidFill>
            <a:prstDash val="solid"/>
          </a:ln>
        </p:spPr>
      </p:sp>
      <p:sp>
        <p:nvSpPr>
          <p:cNvPr id="27" name="g2 b"/>
          <p:cNvSpPr/>
          <p:nvPr/>
        </p:nvSpPr>
        <p:spPr>
          <a:xfrm>
            <a:off x="9482328" y="2852928"/>
            <a:ext cx="237744" cy="237744"/>
          </a:xfrm>
          <a:prstGeom prst="ellipse">
            <a:avLst/>
          </a:prstGeom>
          <a:solidFill>
            <a:schemeClr val="tx1"/>
          </a:solidFill>
          <a:ln w="25400">
            <a:solidFill>
              <a:schemeClr val="accent4"/>
            </a:solidFill>
            <a:prstDash val="solid"/>
          </a:ln>
        </p:spPr>
      </p:sp>
      <p:sp>
        <p:nvSpPr>
          <p:cNvPr id="28" name="g2 orphan"/>
          <p:cNvSpPr/>
          <p:nvPr/>
        </p:nvSpPr>
        <p:spPr>
          <a:xfrm>
            <a:off x="10451592" y="2450592"/>
            <a:ext cx="310896" cy="310896"/>
          </a:xfrm>
          <a:prstGeom prst="ellipse">
            <a:avLst/>
          </a:prstGeom>
          <a:solidFill>
            <a:schemeClr val="tx1"/>
          </a:solidFill>
          <a:ln w="25400">
            <a:solidFill>
              <a:schemeClr val="accent3"/>
            </a:solidFill>
            <a:prstDash val="solid"/>
          </a:ln>
        </p:spPr>
      </p:sp>
      <p:sp>
        <p:nvSpPr>
          <p:cNvPr id="29" name="look tag 2"/>
          <p:cNvSpPr/>
          <p:nvPr/>
        </p:nvSpPr>
        <p:spPr>
          <a:xfrm>
            <a:off x="8229600" y="3657600"/>
            <a:ext cx="3108960" cy="411480"/>
          </a:xfrm>
          <a:prstGeom prst="roundRect">
            <a:avLst>
              <a:gd name="adj" fmla="val 11111"/>
            </a:avLst>
          </a:prstGeom>
          <a:solidFill>
            <a:schemeClr val="accent2"/>
          </a:solidFill>
          <a:ln w="12700">
            <a:solidFill>
              <a:schemeClr val="accent1"/>
            </a:solidFill>
            <a:prstDash val="solid"/>
          </a:ln>
        </p:spPr>
      </p:sp>
      <p:sp>
        <p:nvSpPr>
          <p:cNvPr id="30" name="look tag 2 text"/>
          <p:cNvSpPr txBox="1"/>
          <p:nvPr/>
        </p:nvSpPr>
        <p:spPr>
          <a:xfrm>
            <a:off x="8229600" y="3657600"/>
            <a:ext cx="3108960" cy="411480"/>
          </a:xfrm>
          <a:prstGeom prst="rect">
            <a:avLst/>
          </a:prstGeom>
          <a:noFill/>
          <a:ln/>
        </p:spPr>
        <p:txBody>
          <a:bodyPr wrap="square" lIns="0" tIns="0" rIns="0" bIns="0" rtlCol="0" anchor="ctr"/>
          <a:lstStyle/>
          <a:p>
            <a:pPr marL="0" indent="0" algn="ctr">
              <a:buNone/>
            </a:pPr>
            <a:r>
              <a:rPr lang="en-US" sz="1300" b="1" dirty="0">
                <a:solidFill>
                  <a:schemeClr val="bg1"/>
                </a:solidFill>
                <a:latin typeface="Arial" pitchFamily="34" charset="0"/>
                <a:ea typeface="Arial" pitchFamily="34" charset="-122"/>
                <a:cs typeface="Arial" pitchFamily="34" charset="-120"/>
              </a:rPr>
              <a:t>FORGOTTEN RESOURCES</a:t>
            </a:r>
            <a:endParaRPr lang="en-US" sz="1300" dirty="0"/>
          </a:p>
        </p:txBody>
      </p:sp>
      <p:sp>
        <p:nvSpPr>
          <p:cNvPr id="31" name="Text 29"/>
          <p:cNvSpPr txBox="1"/>
          <p:nvPr/>
        </p:nvSpPr>
        <p:spPr>
          <a:xfrm>
            <a:off x="8229600" y="4251960"/>
            <a:ext cx="3291840" cy="1645920"/>
          </a:xfrm>
          <a:prstGeom prst="rect">
            <a:avLst/>
          </a:prstGeom>
          <a:noFill/>
          <a:ln/>
        </p:spPr>
        <p:txBody>
          <a:bodyPr wrap="square" lIns="0" tIns="0" rIns="0" bIns="0" rtlCol="0" anchor="t"/>
          <a:lstStyle/>
          <a:p>
            <a:pPr marL="0" indent="0">
              <a:buNone/>
            </a:pPr>
            <a:r>
              <a:rPr lang="en-US" sz="1500" dirty="0">
                <a:solidFill>
                  <a:schemeClr val="bg2"/>
                </a:solidFill>
                <a:latin typeface="Arial" pitchFamily="34" charset="0"/>
                <a:ea typeface="Arial" pitchFamily="34" charset="-122"/>
                <a:cs typeface="Arial" pitchFamily="34" charset="-120"/>
              </a:rPr>
              <a:t>Orphaned public IPs, disks with no VM, NSGs attached to nothing. Nobody owns them, nobody patches them.</a:t>
            </a:r>
            <a:endParaRPr lang="en-US" sz="1500" dirty="0"/>
          </a:p>
        </p:txBody>
      </p:sp>
      <p:sp>
        <p:nvSpPr>
          <p:cNvPr id="32" name="Slide Number Placeholder 0"/>
          <p:cNvSpPr>
            <a:spLocks noGrp="1"/>
          </p:cNvSpPr>
          <p:nvPr>
            <p:ph type="sldNum" sz="quarter" idx="4294967295"/>
          </p:nvPr>
        </p:nvSpPr>
        <p:spPr>
          <a:xfrm>
            <a:off x="11155680" y="6382512"/>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latin typeface="Arial"/>
                <a:ea typeface="Arial"/>
                <a:cs typeface="Aria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1371600" y="365760"/>
            <a:ext cx="7315200" cy="274320"/>
          </a:xfrm>
          <a:prstGeom prst="rect">
            <a:avLst/>
          </a:prstGeom>
          <a:noFill/>
          <a:ln/>
        </p:spPr>
        <p:txBody>
          <a:bodyPr wrap="square" lIns="0" tIns="0" rIns="0" bIns="0" rtlCol="0" anchor="ctr"/>
          <a:lstStyle/>
          <a:p>
            <a:pPr marL="0" indent="0" algn="l">
              <a:buNone/>
            </a:pPr>
            <a:r>
              <a:rPr lang="en-US" sz="1200" b="1" kern="0" spc="200" dirty="0">
                <a:solidFill>
                  <a:schemeClr val="accent1"/>
                </a:solidFill>
                <a:latin typeface="Arial" pitchFamily="34" charset="0"/>
                <a:ea typeface="Arial" pitchFamily="34" charset="-122"/>
                <a:cs typeface="Arial" pitchFamily="34" charset="-120"/>
              </a:rPr>
              <a:t>09  ·  LIVE</a:t>
            </a:r>
            <a:endParaRPr lang="en-US" sz="1200" dirty="0"/>
          </a:p>
        </p:txBody>
      </p:sp>
      <p:sp>
        <p:nvSpPr>
          <p:cNvPr id="3" name="Text 1"/>
          <p:cNvSpPr>
            <a:spLocks noGrp="1"/>
          </p:cNvSpPr>
          <p:nvPr>
            <p:ph type="title" idx="103" hasCustomPrompt="1"/>
          </p:nvPr>
        </p:nvSpPr>
        <p:spPr>
          <a:xfrm>
            <a:off x="548640" y="777240"/>
            <a:ext cx="11064240" cy="822960"/>
          </a:xfrm>
          <a:prstGeom prst="rect">
            <a:avLst/>
          </a:prstGeom>
          <a:noFill/>
          <a:ln/>
        </p:spPr>
        <p:txBody>
          <a:bodyPr wrap="square" lIns="0" tIns="0" rIns="0" bIns="0" rtlCol="0" anchor="t"/>
          <a:lstStyle/>
          <a:p>
            <a:pPr marL="0" indent="0" algn="l">
              <a:buNone/>
            </a:pPr>
            <a:r>
              <a:rPr lang="en-US" sz="3000" b="1" dirty="0">
                <a:solidFill>
                  <a:schemeClr val="accent1"/>
                </a:solidFill>
              </a:rPr>
              <a:t>LIVE </a:t>
            </a:r>
            <a:r>
              <a:rPr lang="en-US" sz="3000" b="1" dirty="0">
                <a:solidFill>
                  <a:schemeClr val="bg1"/>
                </a:solidFill>
              </a:rPr>
              <a:t>DEMO</a:t>
            </a:r>
            <a:endParaRPr lang="en-US" sz="3000" dirty="0"/>
          </a:p>
        </p:txBody>
      </p:sp>
      <p:sp>
        <p:nvSpPr>
          <p:cNvPr id="4" name="Text 2"/>
          <p:cNvSpPr txBox="1"/>
          <p:nvPr/>
        </p:nvSpPr>
        <p:spPr>
          <a:xfrm>
            <a:off x="548640" y="1554480"/>
            <a:ext cx="8229600" cy="320040"/>
          </a:xfrm>
          <a:prstGeom prst="rect">
            <a:avLst/>
          </a:prstGeom>
          <a:noFill/>
          <a:ln/>
        </p:spPr>
        <p:txBody>
          <a:bodyPr wrap="square" lIns="0" tIns="0" rIns="0" bIns="0" rtlCol="0" anchor="t"/>
          <a:lstStyle/>
          <a:p>
            <a:pPr marL="0" indent="0">
              <a:buNone/>
            </a:pPr>
            <a:r>
              <a:rPr lang="en-US" sz="1400" b="1" kern="0" spc="100" dirty="0">
                <a:solidFill>
                  <a:schemeClr val="accent1"/>
                </a:solidFill>
                <a:latin typeface="Arial" pitchFamily="34" charset="0"/>
                <a:ea typeface="Arial" pitchFamily="34" charset="-122"/>
                <a:cs typeface="Arial" pitchFamily="34" charset="-120"/>
              </a:rPr>
              <a:t>3 TO 5 MINUTES  ·  LAB SUBSCRIPTION  ·  READ-ONLY</a:t>
            </a:r>
            <a:endParaRPr lang="en-US" sz="1400" dirty="0"/>
          </a:p>
        </p:txBody>
      </p:sp>
      <p:sp>
        <p:nvSpPr>
          <p:cNvPr id="5" name="Text 3"/>
          <p:cNvSpPr txBox="1"/>
          <p:nvPr/>
        </p:nvSpPr>
        <p:spPr>
          <a:xfrm>
            <a:off x="548640" y="2286000"/>
            <a:ext cx="1005840" cy="640080"/>
          </a:xfrm>
          <a:prstGeom prst="rect">
            <a:avLst/>
          </a:prstGeom>
          <a:noFill/>
          <a:ln/>
        </p:spPr>
        <p:txBody>
          <a:bodyPr wrap="square" lIns="0" tIns="0" rIns="0" bIns="0" rtlCol="0" anchor="t"/>
          <a:lstStyle/>
          <a:p>
            <a:pPr marL="0" indent="0">
              <a:buNone/>
            </a:pPr>
            <a:r>
              <a:rPr lang="en-US" sz="3000" b="1" dirty="0">
                <a:solidFill>
                  <a:schemeClr val="accent1"/>
                </a:solidFill>
                <a:latin typeface="Arial" pitchFamily="34" charset="0"/>
                <a:ea typeface="Arial" pitchFamily="34" charset="-122"/>
                <a:cs typeface="Arial" pitchFamily="34" charset="-120"/>
              </a:rPr>
              <a:t>01</a:t>
            </a:r>
            <a:endParaRPr lang="en-US" sz="3000" dirty="0"/>
          </a:p>
        </p:txBody>
      </p:sp>
      <p:sp>
        <p:nvSpPr>
          <p:cNvPr id="6" name="Text 4"/>
          <p:cNvSpPr txBox="1"/>
          <p:nvPr/>
        </p:nvSpPr>
        <p:spPr>
          <a:xfrm>
            <a:off x="1645920" y="2313432"/>
            <a:ext cx="2743200" cy="411480"/>
          </a:xfrm>
          <a:prstGeom prst="rect">
            <a:avLst/>
          </a:prstGeom>
          <a:noFill/>
          <a:ln/>
        </p:spPr>
        <p:txBody>
          <a:bodyPr wrap="square" lIns="0" tIns="0" rIns="0" bIns="0" rtlCol="0" anchor="t"/>
          <a:lstStyle/>
          <a:p>
            <a:pPr marL="0" indent="0">
              <a:buNone/>
            </a:pPr>
            <a:r>
              <a:rPr lang="en-US" sz="2200" b="1" dirty="0">
                <a:solidFill>
                  <a:schemeClr val="bg1"/>
                </a:solidFill>
                <a:latin typeface="Arial" pitchFamily="34" charset="0"/>
                <a:ea typeface="Arial" pitchFamily="34" charset="-122"/>
                <a:cs typeface="Arial" pitchFamily="34" charset="-120"/>
              </a:rPr>
              <a:t>Scan</a:t>
            </a:r>
            <a:endParaRPr lang="en-US" sz="2200" dirty="0"/>
          </a:p>
        </p:txBody>
      </p:sp>
      <p:sp>
        <p:nvSpPr>
          <p:cNvPr id="7" name="Text 5"/>
          <p:cNvSpPr txBox="1"/>
          <p:nvPr/>
        </p:nvSpPr>
        <p:spPr>
          <a:xfrm>
            <a:off x="1645920" y="2724912"/>
            <a:ext cx="4572000" cy="365760"/>
          </a:xfrm>
          <a:prstGeom prst="rect">
            <a:avLst/>
          </a:prstGeom>
          <a:noFill/>
          <a:ln/>
        </p:spPr>
        <p:txBody>
          <a:bodyPr wrap="square" lIns="0" tIns="0" rIns="0" bIns="0" rtlCol="0" anchor="t"/>
          <a:lstStyle/>
          <a:p>
            <a:pPr marL="0" indent="0">
              <a:buNone/>
            </a:pPr>
            <a:r>
              <a:rPr lang="en-US" sz="1500" dirty="0">
                <a:solidFill>
                  <a:schemeClr val="bg2"/>
                </a:solidFill>
                <a:latin typeface="Arial" pitchFamily="34" charset="0"/>
                <a:ea typeface="Arial" pitchFamily="34" charset="-122"/>
                <a:cs typeface="Arial" pitchFamily="34" charset="-120"/>
              </a:rPr>
              <a:t>The lab, mapped by a Reader-only identity</a:t>
            </a:r>
            <a:endParaRPr lang="en-US" sz="1500" dirty="0"/>
          </a:p>
        </p:txBody>
      </p:sp>
      <p:sp>
        <p:nvSpPr>
          <p:cNvPr id="8" name="Text 6"/>
          <p:cNvSpPr txBox="1"/>
          <p:nvPr/>
        </p:nvSpPr>
        <p:spPr>
          <a:xfrm>
            <a:off x="548640" y="3200400"/>
            <a:ext cx="1005840" cy="640080"/>
          </a:xfrm>
          <a:prstGeom prst="rect">
            <a:avLst/>
          </a:prstGeom>
          <a:noFill/>
          <a:ln/>
        </p:spPr>
        <p:txBody>
          <a:bodyPr wrap="square" lIns="0" tIns="0" rIns="0" bIns="0" rtlCol="0" anchor="t"/>
          <a:lstStyle/>
          <a:p>
            <a:pPr marL="0" indent="0">
              <a:buNone/>
            </a:pPr>
            <a:r>
              <a:rPr lang="en-US" sz="3000" b="1" dirty="0">
                <a:solidFill>
                  <a:schemeClr val="accent1"/>
                </a:solidFill>
                <a:latin typeface="Arial" pitchFamily="34" charset="0"/>
                <a:ea typeface="Arial" pitchFamily="34" charset="-122"/>
                <a:cs typeface="Arial" pitchFamily="34" charset="-120"/>
              </a:rPr>
              <a:t>02</a:t>
            </a:r>
            <a:endParaRPr lang="en-US" sz="3000" dirty="0"/>
          </a:p>
        </p:txBody>
      </p:sp>
      <p:sp>
        <p:nvSpPr>
          <p:cNvPr id="9" name="Text 7"/>
          <p:cNvSpPr txBox="1"/>
          <p:nvPr/>
        </p:nvSpPr>
        <p:spPr>
          <a:xfrm>
            <a:off x="1645920" y="3227832"/>
            <a:ext cx="2743200" cy="411480"/>
          </a:xfrm>
          <a:prstGeom prst="rect">
            <a:avLst/>
          </a:prstGeom>
          <a:noFill/>
          <a:ln/>
        </p:spPr>
        <p:txBody>
          <a:bodyPr wrap="square" lIns="0" tIns="0" rIns="0" bIns="0" rtlCol="0" anchor="t"/>
          <a:lstStyle/>
          <a:p>
            <a:pPr marL="0" indent="0">
              <a:buNone/>
            </a:pPr>
            <a:r>
              <a:rPr lang="en-US" sz="2200" b="1" dirty="0">
                <a:solidFill>
                  <a:schemeClr val="bg1"/>
                </a:solidFill>
                <a:latin typeface="Arial" pitchFamily="34" charset="0"/>
                <a:ea typeface="Arial" pitchFamily="34" charset="-122"/>
                <a:cs typeface="Arial" pitchFamily="34" charset="-120"/>
              </a:rPr>
              <a:t>Zoom out</a:t>
            </a:r>
            <a:endParaRPr lang="en-US" sz="2200" dirty="0"/>
          </a:p>
        </p:txBody>
      </p:sp>
      <p:sp>
        <p:nvSpPr>
          <p:cNvPr id="10" name="Text 8"/>
          <p:cNvSpPr txBox="1"/>
          <p:nvPr/>
        </p:nvSpPr>
        <p:spPr>
          <a:xfrm>
            <a:off x="1645920" y="3639312"/>
            <a:ext cx="4572000" cy="365760"/>
          </a:xfrm>
          <a:prstGeom prst="rect">
            <a:avLst/>
          </a:prstGeom>
          <a:noFill/>
          <a:ln/>
        </p:spPr>
        <p:txBody>
          <a:bodyPr wrap="square" lIns="0" tIns="0" rIns="0" bIns="0" rtlCol="0" anchor="t"/>
          <a:lstStyle/>
          <a:p>
            <a:pPr marL="0" indent="0">
              <a:buNone/>
            </a:pPr>
            <a:r>
              <a:rPr lang="en-US" sz="1500" dirty="0">
                <a:solidFill>
                  <a:schemeClr val="bg2"/>
                </a:solidFill>
                <a:latin typeface="Arial" pitchFamily="34" charset="0"/>
                <a:ea typeface="Arial" pitchFamily="34" charset="-122"/>
                <a:cs typeface="Arial" pitchFamily="34" charset="-120"/>
              </a:rPr>
              <a:t>See the whole environment as one graph</a:t>
            </a:r>
            <a:endParaRPr lang="en-US" sz="1500" dirty="0"/>
          </a:p>
        </p:txBody>
      </p:sp>
      <p:sp>
        <p:nvSpPr>
          <p:cNvPr id="11" name="Text 9"/>
          <p:cNvSpPr txBox="1"/>
          <p:nvPr/>
        </p:nvSpPr>
        <p:spPr>
          <a:xfrm>
            <a:off x="548640" y="4114800"/>
            <a:ext cx="1005840" cy="640080"/>
          </a:xfrm>
          <a:prstGeom prst="rect">
            <a:avLst/>
          </a:prstGeom>
          <a:noFill/>
          <a:ln/>
        </p:spPr>
        <p:txBody>
          <a:bodyPr wrap="square" lIns="0" tIns="0" rIns="0" bIns="0" rtlCol="0" anchor="t"/>
          <a:lstStyle/>
          <a:p>
            <a:pPr marL="0" indent="0">
              <a:buNone/>
            </a:pPr>
            <a:r>
              <a:rPr lang="en-US" sz="3000" b="1" dirty="0">
                <a:solidFill>
                  <a:schemeClr val="accent1"/>
                </a:solidFill>
                <a:latin typeface="Arial" pitchFamily="34" charset="0"/>
                <a:ea typeface="Arial" pitchFamily="34" charset="-122"/>
                <a:cs typeface="Arial" pitchFamily="34" charset="-120"/>
              </a:rPr>
              <a:t>03</a:t>
            </a:r>
            <a:endParaRPr lang="en-US" sz="3000" dirty="0"/>
          </a:p>
        </p:txBody>
      </p:sp>
      <p:sp>
        <p:nvSpPr>
          <p:cNvPr id="12" name="Text 10"/>
          <p:cNvSpPr txBox="1"/>
          <p:nvPr/>
        </p:nvSpPr>
        <p:spPr>
          <a:xfrm>
            <a:off x="1645920" y="4142232"/>
            <a:ext cx="2743200" cy="411480"/>
          </a:xfrm>
          <a:prstGeom prst="rect">
            <a:avLst/>
          </a:prstGeom>
          <a:noFill/>
          <a:ln/>
        </p:spPr>
        <p:txBody>
          <a:bodyPr wrap="square" lIns="0" tIns="0" rIns="0" bIns="0" rtlCol="0" anchor="t"/>
          <a:lstStyle/>
          <a:p>
            <a:pPr marL="0" indent="0">
              <a:buNone/>
            </a:pPr>
            <a:r>
              <a:rPr lang="en-US" sz="2200" b="1" dirty="0">
                <a:solidFill>
                  <a:schemeClr val="bg1"/>
                </a:solidFill>
                <a:latin typeface="Arial" pitchFamily="34" charset="0"/>
                <a:ea typeface="Arial" pitchFamily="34" charset="-122"/>
                <a:cs typeface="Arial" pitchFamily="34" charset="-120"/>
              </a:rPr>
              <a:t>Follow a path</a:t>
            </a:r>
            <a:endParaRPr lang="en-US" sz="2200" dirty="0"/>
          </a:p>
        </p:txBody>
      </p:sp>
      <p:sp>
        <p:nvSpPr>
          <p:cNvPr id="13" name="Text 11"/>
          <p:cNvSpPr txBox="1"/>
          <p:nvPr/>
        </p:nvSpPr>
        <p:spPr>
          <a:xfrm>
            <a:off x="1645920" y="4553712"/>
            <a:ext cx="4572000" cy="365760"/>
          </a:xfrm>
          <a:prstGeom prst="rect">
            <a:avLst/>
          </a:prstGeom>
          <a:noFill/>
          <a:ln/>
        </p:spPr>
        <p:txBody>
          <a:bodyPr wrap="square" lIns="0" tIns="0" rIns="0" bIns="0" rtlCol="0" anchor="t"/>
          <a:lstStyle/>
          <a:p>
            <a:pPr marL="0" indent="0">
              <a:buNone/>
            </a:pPr>
            <a:r>
              <a:rPr lang="en-US" sz="1500" dirty="0">
                <a:solidFill>
                  <a:schemeClr val="bg2"/>
                </a:solidFill>
                <a:latin typeface="Arial" pitchFamily="34" charset="0"/>
                <a:ea typeface="Arial" pitchFamily="34" charset="-122"/>
                <a:cs typeface="Arial" pitchFamily="34" charset="-120"/>
              </a:rPr>
              <a:t>Public IP to VM, and the rule that opens it</a:t>
            </a:r>
            <a:endParaRPr lang="en-US" sz="1500" dirty="0"/>
          </a:p>
        </p:txBody>
      </p:sp>
      <p:sp>
        <p:nvSpPr>
          <p:cNvPr id="14" name="Text 12"/>
          <p:cNvSpPr txBox="1"/>
          <p:nvPr/>
        </p:nvSpPr>
        <p:spPr>
          <a:xfrm>
            <a:off x="548640" y="5029200"/>
            <a:ext cx="1005840" cy="640080"/>
          </a:xfrm>
          <a:prstGeom prst="rect">
            <a:avLst/>
          </a:prstGeom>
          <a:noFill/>
          <a:ln/>
        </p:spPr>
        <p:txBody>
          <a:bodyPr wrap="square" lIns="0" tIns="0" rIns="0" bIns="0" rtlCol="0" anchor="t"/>
          <a:lstStyle/>
          <a:p>
            <a:pPr marL="0" indent="0">
              <a:buNone/>
            </a:pPr>
            <a:r>
              <a:rPr lang="en-US" sz="3000" b="1" dirty="0">
                <a:solidFill>
                  <a:schemeClr val="accent1"/>
                </a:solidFill>
                <a:latin typeface="Arial" pitchFamily="34" charset="0"/>
                <a:ea typeface="Arial" pitchFamily="34" charset="-122"/>
                <a:cs typeface="Arial" pitchFamily="34" charset="-120"/>
              </a:rPr>
              <a:t>04</a:t>
            </a:r>
            <a:endParaRPr lang="en-US" sz="3000" dirty="0"/>
          </a:p>
        </p:txBody>
      </p:sp>
      <p:sp>
        <p:nvSpPr>
          <p:cNvPr id="15" name="Text 13"/>
          <p:cNvSpPr txBox="1"/>
          <p:nvPr/>
        </p:nvSpPr>
        <p:spPr>
          <a:xfrm>
            <a:off x="1645920" y="5056632"/>
            <a:ext cx="2743200" cy="411480"/>
          </a:xfrm>
          <a:prstGeom prst="rect">
            <a:avLst/>
          </a:prstGeom>
          <a:noFill/>
          <a:ln/>
        </p:spPr>
        <p:txBody>
          <a:bodyPr wrap="square" lIns="0" tIns="0" rIns="0" bIns="0" rtlCol="0" anchor="t"/>
          <a:lstStyle/>
          <a:p>
            <a:pPr marL="0" indent="0">
              <a:buNone/>
            </a:pPr>
            <a:r>
              <a:rPr lang="en-US" sz="2200" b="1" dirty="0">
                <a:solidFill>
                  <a:schemeClr val="bg1"/>
                </a:solidFill>
                <a:latin typeface="Arial" pitchFamily="34" charset="0"/>
                <a:ea typeface="Arial" pitchFamily="34" charset="-122"/>
                <a:cs typeface="Arial" pitchFamily="34" charset="-120"/>
              </a:rPr>
              <a:t>Show the evidence</a:t>
            </a:r>
            <a:endParaRPr lang="en-US" sz="2200" dirty="0"/>
          </a:p>
        </p:txBody>
      </p:sp>
      <p:sp>
        <p:nvSpPr>
          <p:cNvPr id="16" name="Text 14"/>
          <p:cNvSpPr txBox="1"/>
          <p:nvPr/>
        </p:nvSpPr>
        <p:spPr>
          <a:xfrm>
            <a:off x="1645920" y="5468112"/>
            <a:ext cx="4572000" cy="365760"/>
          </a:xfrm>
          <a:prstGeom prst="rect">
            <a:avLst/>
          </a:prstGeom>
          <a:noFill/>
          <a:ln/>
        </p:spPr>
        <p:txBody>
          <a:bodyPr wrap="square" lIns="0" tIns="0" rIns="0" bIns="0" rtlCol="0" anchor="t"/>
          <a:lstStyle/>
          <a:p>
            <a:pPr marL="0" indent="0">
              <a:buNone/>
            </a:pPr>
            <a:r>
              <a:rPr lang="en-US" sz="1500" dirty="0">
                <a:solidFill>
                  <a:schemeClr val="bg2"/>
                </a:solidFill>
                <a:latin typeface="Arial" pitchFamily="34" charset="0"/>
                <a:ea typeface="Arial" pitchFamily="34" charset="-122"/>
                <a:cs typeface="Arial" pitchFamily="34" charset="-120"/>
              </a:rPr>
              <a:t>The precision rule, on screen</a:t>
            </a:r>
            <a:endParaRPr lang="en-US" sz="1500" dirty="0"/>
          </a:p>
        </p:txBody>
      </p:sp>
      <p:sp>
        <p:nvSpPr>
          <p:cNvPr id="17" name="motif edge 0"/>
          <p:cNvSpPr/>
          <p:nvPr/>
        </p:nvSpPr>
        <p:spPr>
          <a:xfrm flipV="1">
            <a:off x="7040880" y="2011680"/>
            <a:ext cx="1280160" cy="1005840"/>
          </a:xfrm>
          <a:prstGeom prst="line">
            <a:avLst/>
          </a:prstGeom>
          <a:noFill/>
          <a:ln w="15875">
            <a:solidFill>
              <a:schemeClr val="accent4"/>
            </a:solidFill>
            <a:prstDash val="solid"/>
          </a:ln>
        </p:spPr>
      </p:sp>
      <p:sp>
        <p:nvSpPr>
          <p:cNvPr id="18" name="motif edge 1"/>
          <p:cNvSpPr/>
          <p:nvPr/>
        </p:nvSpPr>
        <p:spPr>
          <a:xfrm>
            <a:off x="7040880" y="3017520"/>
            <a:ext cx="1371600" cy="640080"/>
          </a:xfrm>
          <a:prstGeom prst="line">
            <a:avLst/>
          </a:prstGeom>
          <a:noFill/>
          <a:ln w="38100">
            <a:solidFill>
              <a:schemeClr val="accent1"/>
            </a:solidFill>
            <a:prstDash val="solid"/>
          </a:ln>
        </p:spPr>
      </p:sp>
      <p:sp>
        <p:nvSpPr>
          <p:cNvPr id="19" name="motif edge 2"/>
          <p:cNvSpPr/>
          <p:nvPr/>
        </p:nvSpPr>
        <p:spPr>
          <a:xfrm>
            <a:off x="8321040" y="2011680"/>
            <a:ext cx="1371600" cy="731520"/>
          </a:xfrm>
          <a:prstGeom prst="line">
            <a:avLst/>
          </a:prstGeom>
          <a:noFill/>
          <a:ln w="15875">
            <a:solidFill>
              <a:schemeClr val="accent4"/>
            </a:solidFill>
            <a:prstDash val="solid"/>
          </a:ln>
        </p:spPr>
      </p:sp>
      <p:sp>
        <p:nvSpPr>
          <p:cNvPr id="20" name="motif edge 3"/>
          <p:cNvSpPr/>
          <p:nvPr/>
        </p:nvSpPr>
        <p:spPr>
          <a:xfrm flipV="1">
            <a:off x="8412480" y="2743200"/>
            <a:ext cx="1280160" cy="914400"/>
          </a:xfrm>
          <a:prstGeom prst="line">
            <a:avLst/>
          </a:prstGeom>
          <a:noFill/>
          <a:ln w="38100">
            <a:solidFill>
              <a:schemeClr val="accent1"/>
            </a:solidFill>
            <a:prstDash val="solid"/>
          </a:ln>
        </p:spPr>
      </p:sp>
      <p:sp>
        <p:nvSpPr>
          <p:cNvPr id="21" name="motif edge 4"/>
          <p:cNvSpPr/>
          <p:nvPr/>
        </p:nvSpPr>
        <p:spPr>
          <a:xfrm flipH="1">
            <a:off x="8229600" y="3657600"/>
            <a:ext cx="182880" cy="1280160"/>
          </a:xfrm>
          <a:prstGeom prst="line">
            <a:avLst/>
          </a:prstGeom>
          <a:noFill/>
          <a:ln w="15875">
            <a:solidFill>
              <a:schemeClr val="accent4"/>
            </a:solidFill>
            <a:prstDash val="solid"/>
          </a:ln>
        </p:spPr>
      </p:sp>
      <p:sp>
        <p:nvSpPr>
          <p:cNvPr id="22" name="motif edge 5"/>
          <p:cNvSpPr/>
          <p:nvPr/>
        </p:nvSpPr>
        <p:spPr>
          <a:xfrm flipV="1">
            <a:off x="9692640" y="1920240"/>
            <a:ext cx="1188720" cy="822960"/>
          </a:xfrm>
          <a:prstGeom prst="line">
            <a:avLst/>
          </a:prstGeom>
          <a:noFill/>
          <a:ln w="15875">
            <a:solidFill>
              <a:schemeClr val="accent4"/>
            </a:solidFill>
            <a:prstDash val="solid"/>
          </a:ln>
        </p:spPr>
      </p:sp>
      <p:sp>
        <p:nvSpPr>
          <p:cNvPr id="23" name="motif edge 6"/>
          <p:cNvSpPr/>
          <p:nvPr/>
        </p:nvSpPr>
        <p:spPr>
          <a:xfrm>
            <a:off x="9692640" y="2743200"/>
            <a:ext cx="1371600" cy="822960"/>
          </a:xfrm>
          <a:prstGeom prst="line">
            <a:avLst/>
          </a:prstGeom>
          <a:noFill/>
          <a:ln w="38100">
            <a:solidFill>
              <a:schemeClr val="accent1"/>
            </a:solidFill>
            <a:prstDash val="solid"/>
          </a:ln>
        </p:spPr>
      </p:sp>
      <p:sp>
        <p:nvSpPr>
          <p:cNvPr id="24" name="motif edge 7"/>
          <p:cNvSpPr/>
          <p:nvPr/>
        </p:nvSpPr>
        <p:spPr>
          <a:xfrm flipV="1">
            <a:off x="9784080" y="3566160"/>
            <a:ext cx="1280160" cy="822960"/>
          </a:xfrm>
          <a:prstGeom prst="line">
            <a:avLst/>
          </a:prstGeom>
          <a:noFill/>
          <a:ln w="15875">
            <a:solidFill>
              <a:schemeClr val="accent4"/>
            </a:solidFill>
            <a:prstDash val="solid"/>
          </a:ln>
        </p:spPr>
      </p:sp>
      <p:sp>
        <p:nvSpPr>
          <p:cNvPr id="25" name="motif edge 8"/>
          <p:cNvSpPr/>
          <p:nvPr/>
        </p:nvSpPr>
        <p:spPr>
          <a:xfrm>
            <a:off x="9784080" y="4389120"/>
            <a:ext cx="640080" cy="731520"/>
          </a:xfrm>
          <a:prstGeom prst="line">
            <a:avLst/>
          </a:prstGeom>
          <a:noFill/>
          <a:ln w="15875">
            <a:solidFill>
              <a:schemeClr val="accent4"/>
            </a:solidFill>
            <a:prstDash val="solid"/>
          </a:ln>
        </p:spPr>
      </p:sp>
      <p:sp>
        <p:nvSpPr>
          <p:cNvPr id="26" name="motif edge 9"/>
          <p:cNvSpPr/>
          <p:nvPr/>
        </p:nvSpPr>
        <p:spPr>
          <a:xfrm flipV="1">
            <a:off x="8229600" y="4389120"/>
            <a:ext cx="1554480" cy="548640"/>
          </a:xfrm>
          <a:prstGeom prst="line">
            <a:avLst/>
          </a:prstGeom>
          <a:noFill/>
          <a:ln w="15875">
            <a:solidFill>
              <a:schemeClr val="accent4"/>
            </a:solidFill>
            <a:prstDash val="solid"/>
          </a:ln>
        </p:spPr>
      </p:sp>
      <p:sp>
        <p:nvSpPr>
          <p:cNvPr id="27" name="motif edge 10"/>
          <p:cNvSpPr/>
          <p:nvPr/>
        </p:nvSpPr>
        <p:spPr>
          <a:xfrm flipV="1">
            <a:off x="8321040" y="1920240"/>
            <a:ext cx="2560320" cy="91440"/>
          </a:xfrm>
          <a:prstGeom prst="line">
            <a:avLst/>
          </a:prstGeom>
          <a:noFill/>
          <a:ln w="15875">
            <a:solidFill>
              <a:schemeClr val="accent4"/>
            </a:solidFill>
            <a:prstDash val="solid"/>
          </a:ln>
        </p:spPr>
      </p:sp>
      <p:sp>
        <p:nvSpPr>
          <p:cNvPr id="28" name="motif edge 11"/>
          <p:cNvSpPr/>
          <p:nvPr/>
        </p:nvSpPr>
        <p:spPr>
          <a:xfrm>
            <a:off x="11064240" y="3566160"/>
            <a:ext cx="182880" cy="1097280"/>
          </a:xfrm>
          <a:prstGeom prst="line">
            <a:avLst/>
          </a:prstGeom>
          <a:noFill/>
          <a:ln w="15875">
            <a:solidFill>
              <a:schemeClr val="accent4"/>
            </a:solidFill>
            <a:prstDash val="solid"/>
          </a:ln>
        </p:spPr>
      </p:sp>
      <p:sp>
        <p:nvSpPr>
          <p:cNvPr id="29" name="motif edge 12"/>
          <p:cNvSpPr/>
          <p:nvPr/>
        </p:nvSpPr>
        <p:spPr>
          <a:xfrm flipV="1">
            <a:off x="10424160" y="4663440"/>
            <a:ext cx="822960" cy="457200"/>
          </a:xfrm>
          <a:prstGeom prst="line">
            <a:avLst/>
          </a:prstGeom>
          <a:noFill/>
          <a:ln w="15875">
            <a:solidFill>
              <a:schemeClr val="accent4"/>
            </a:solidFill>
            <a:prstDash val="solid"/>
          </a:ln>
        </p:spPr>
      </p:sp>
      <p:sp>
        <p:nvSpPr>
          <p:cNvPr id="30" name="motif node 0"/>
          <p:cNvSpPr/>
          <p:nvPr/>
        </p:nvSpPr>
        <p:spPr>
          <a:xfrm>
            <a:off x="6858000" y="2834640"/>
            <a:ext cx="365760" cy="365760"/>
          </a:xfrm>
          <a:prstGeom prst="ellipse">
            <a:avLst/>
          </a:prstGeom>
          <a:solidFill>
            <a:schemeClr val="accent1"/>
          </a:solidFill>
          <a:ln w="25400">
            <a:solidFill>
              <a:schemeClr val="accent1"/>
            </a:solidFill>
            <a:prstDash val="solid"/>
          </a:ln>
        </p:spPr>
      </p:sp>
      <p:sp>
        <p:nvSpPr>
          <p:cNvPr id="31" name="motif node 1"/>
          <p:cNvSpPr/>
          <p:nvPr/>
        </p:nvSpPr>
        <p:spPr>
          <a:xfrm>
            <a:off x="8202168" y="1892808"/>
            <a:ext cx="237744" cy="237744"/>
          </a:xfrm>
          <a:prstGeom prst="ellipse">
            <a:avLst/>
          </a:prstGeom>
          <a:solidFill>
            <a:schemeClr val="tx1"/>
          </a:solidFill>
          <a:ln w="25400">
            <a:solidFill>
              <a:schemeClr val="accent3"/>
            </a:solidFill>
            <a:prstDash val="solid"/>
          </a:ln>
        </p:spPr>
      </p:sp>
      <p:sp>
        <p:nvSpPr>
          <p:cNvPr id="32" name="motif node 2"/>
          <p:cNvSpPr/>
          <p:nvPr/>
        </p:nvSpPr>
        <p:spPr>
          <a:xfrm>
            <a:off x="8293608" y="3538728"/>
            <a:ext cx="237744" cy="237744"/>
          </a:xfrm>
          <a:prstGeom prst="ellipse">
            <a:avLst/>
          </a:prstGeom>
          <a:solidFill>
            <a:schemeClr val="tx1"/>
          </a:solidFill>
          <a:ln w="25400">
            <a:solidFill>
              <a:schemeClr val="accent1"/>
            </a:solidFill>
            <a:prstDash val="solid"/>
          </a:ln>
        </p:spPr>
      </p:sp>
      <p:sp>
        <p:nvSpPr>
          <p:cNvPr id="33" name="motif node 3"/>
          <p:cNvSpPr/>
          <p:nvPr/>
        </p:nvSpPr>
        <p:spPr>
          <a:xfrm>
            <a:off x="9573768" y="2624328"/>
            <a:ext cx="237744" cy="237744"/>
          </a:xfrm>
          <a:prstGeom prst="ellipse">
            <a:avLst/>
          </a:prstGeom>
          <a:solidFill>
            <a:schemeClr val="tx1"/>
          </a:solidFill>
          <a:ln w="25400">
            <a:solidFill>
              <a:schemeClr val="accent1"/>
            </a:solidFill>
            <a:prstDash val="solid"/>
          </a:ln>
        </p:spPr>
      </p:sp>
      <p:sp>
        <p:nvSpPr>
          <p:cNvPr id="34" name="motif node 4"/>
          <p:cNvSpPr/>
          <p:nvPr/>
        </p:nvSpPr>
        <p:spPr>
          <a:xfrm>
            <a:off x="9665208" y="4270248"/>
            <a:ext cx="237744" cy="237744"/>
          </a:xfrm>
          <a:prstGeom prst="ellipse">
            <a:avLst/>
          </a:prstGeom>
          <a:solidFill>
            <a:schemeClr val="tx1"/>
          </a:solidFill>
          <a:ln w="25400">
            <a:solidFill>
              <a:schemeClr val="accent3"/>
            </a:solidFill>
            <a:prstDash val="solid"/>
          </a:ln>
        </p:spPr>
      </p:sp>
      <p:sp>
        <p:nvSpPr>
          <p:cNvPr id="35" name="motif node 5"/>
          <p:cNvSpPr/>
          <p:nvPr/>
        </p:nvSpPr>
        <p:spPr>
          <a:xfrm>
            <a:off x="10762488" y="1801368"/>
            <a:ext cx="237744" cy="237744"/>
          </a:xfrm>
          <a:prstGeom prst="ellipse">
            <a:avLst/>
          </a:prstGeom>
          <a:solidFill>
            <a:schemeClr val="tx1"/>
          </a:solidFill>
          <a:ln w="25400">
            <a:solidFill>
              <a:schemeClr val="accent3"/>
            </a:solidFill>
            <a:prstDash val="solid"/>
          </a:ln>
        </p:spPr>
      </p:sp>
      <p:sp>
        <p:nvSpPr>
          <p:cNvPr id="36" name="motif node 6"/>
          <p:cNvSpPr/>
          <p:nvPr/>
        </p:nvSpPr>
        <p:spPr>
          <a:xfrm>
            <a:off x="10945368" y="3447288"/>
            <a:ext cx="237744" cy="237744"/>
          </a:xfrm>
          <a:prstGeom prst="ellipse">
            <a:avLst/>
          </a:prstGeom>
          <a:solidFill>
            <a:schemeClr val="accent1"/>
          </a:solidFill>
          <a:ln w="25400">
            <a:solidFill>
              <a:schemeClr val="accent1"/>
            </a:solidFill>
            <a:prstDash val="solid"/>
          </a:ln>
        </p:spPr>
      </p:sp>
      <p:sp>
        <p:nvSpPr>
          <p:cNvPr id="37" name="motif node 7"/>
          <p:cNvSpPr/>
          <p:nvPr/>
        </p:nvSpPr>
        <p:spPr>
          <a:xfrm>
            <a:off x="10305288" y="5001768"/>
            <a:ext cx="237744" cy="237744"/>
          </a:xfrm>
          <a:prstGeom prst="ellipse">
            <a:avLst/>
          </a:prstGeom>
          <a:solidFill>
            <a:schemeClr val="tx1"/>
          </a:solidFill>
          <a:ln w="25400">
            <a:solidFill>
              <a:schemeClr val="accent3"/>
            </a:solidFill>
            <a:prstDash val="solid"/>
          </a:ln>
        </p:spPr>
      </p:sp>
      <p:sp>
        <p:nvSpPr>
          <p:cNvPr id="38" name="motif node 8"/>
          <p:cNvSpPr/>
          <p:nvPr/>
        </p:nvSpPr>
        <p:spPr>
          <a:xfrm>
            <a:off x="8110728" y="4818888"/>
            <a:ext cx="237744" cy="237744"/>
          </a:xfrm>
          <a:prstGeom prst="ellipse">
            <a:avLst/>
          </a:prstGeom>
          <a:solidFill>
            <a:schemeClr val="tx1"/>
          </a:solidFill>
          <a:ln w="25400">
            <a:solidFill>
              <a:schemeClr val="accent3"/>
            </a:solidFill>
            <a:prstDash val="solid"/>
          </a:ln>
        </p:spPr>
      </p:sp>
      <p:sp>
        <p:nvSpPr>
          <p:cNvPr id="39" name="motif node 9"/>
          <p:cNvSpPr/>
          <p:nvPr/>
        </p:nvSpPr>
        <p:spPr>
          <a:xfrm>
            <a:off x="11128248" y="4544568"/>
            <a:ext cx="237744" cy="237744"/>
          </a:xfrm>
          <a:prstGeom prst="ellipse">
            <a:avLst/>
          </a:prstGeom>
          <a:solidFill>
            <a:schemeClr val="tx1"/>
          </a:solidFill>
          <a:ln w="25400">
            <a:solidFill>
              <a:schemeClr val="accent3"/>
            </a:solidFill>
            <a:prstDash val="solid"/>
          </a:ln>
        </p:spPr>
      </p:sp>
      <p:sp>
        <p:nvSpPr>
          <p:cNvPr id="40" name="Slide Number Placeholder 0"/>
          <p:cNvSpPr>
            <a:spLocks noGrp="1"/>
          </p:cNvSpPr>
          <p:nvPr>
            <p:ph type="sldNum" sz="quarter" idx="4294967295"/>
          </p:nvPr>
        </p:nvSpPr>
        <p:spPr>
          <a:xfrm>
            <a:off x="11155680" y="6382512"/>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latin typeface="Arial"/>
                <a:ea typeface="Arial"/>
                <a:cs typeface="Aria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1371600" y="365760"/>
            <a:ext cx="7315200" cy="274320"/>
          </a:xfrm>
          <a:prstGeom prst="rect">
            <a:avLst/>
          </a:prstGeom>
          <a:noFill/>
          <a:ln/>
        </p:spPr>
        <p:txBody>
          <a:bodyPr wrap="square" lIns="0" tIns="0" rIns="0" bIns="0" rtlCol="0" anchor="ctr"/>
          <a:lstStyle/>
          <a:p>
            <a:pPr marL="0" indent="0" algn="l">
              <a:buNone/>
            </a:pPr>
            <a:r>
              <a:rPr lang="en-US" sz="1200" b="1" kern="0" spc="200" dirty="0">
                <a:solidFill>
                  <a:schemeClr val="accent1"/>
                </a:solidFill>
                <a:latin typeface="Arial" pitchFamily="34" charset="0"/>
                <a:ea typeface="Arial" pitchFamily="34" charset="-122"/>
                <a:cs typeface="Arial" pitchFamily="34" charset="-120"/>
              </a:rPr>
              <a:t>10  ·  SAFEGUARD ONE</a:t>
            </a:r>
            <a:endParaRPr lang="en-US" sz="1200" dirty="0"/>
          </a:p>
        </p:txBody>
      </p:sp>
      <p:sp>
        <p:nvSpPr>
          <p:cNvPr id="3" name="Text 1"/>
          <p:cNvSpPr>
            <a:spLocks noGrp="1"/>
          </p:cNvSpPr>
          <p:nvPr>
            <p:ph type="title" idx="103" hasCustomPrompt="1"/>
          </p:nvPr>
        </p:nvSpPr>
        <p:spPr>
          <a:xfrm>
            <a:off x="548640" y="777240"/>
            <a:ext cx="11064240" cy="822960"/>
          </a:xfrm>
          <a:prstGeom prst="rect">
            <a:avLst/>
          </a:prstGeom>
          <a:noFill/>
          <a:ln/>
        </p:spPr>
        <p:txBody>
          <a:bodyPr wrap="square" lIns="0" tIns="0" rIns="0" bIns="0" rtlCol="0" anchor="t"/>
          <a:lstStyle/>
          <a:p>
            <a:pPr marL="0" indent="0" algn="l">
              <a:buNone/>
            </a:pPr>
            <a:r>
              <a:rPr lang="en-US" sz="3000" b="1" dirty="0">
                <a:solidFill>
                  <a:schemeClr val="accent1"/>
                </a:solidFill>
              </a:rPr>
              <a:t>READ-ONLY </a:t>
            </a:r>
            <a:r>
              <a:rPr lang="en-US" sz="3000" b="1" dirty="0">
                <a:solidFill>
                  <a:schemeClr val="bg1"/>
                </a:solidFill>
              </a:rPr>
              <a:t>BY DESIGN</a:t>
            </a:r>
            <a:endParaRPr lang="en-US" sz="3000" dirty="0"/>
          </a:p>
        </p:txBody>
      </p:sp>
      <p:sp>
        <p:nvSpPr>
          <p:cNvPr id="4" name="Text 2"/>
          <p:cNvSpPr txBox="1"/>
          <p:nvPr/>
        </p:nvSpPr>
        <p:spPr>
          <a:xfrm>
            <a:off x="548640" y="1920240"/>
            <a:ext cx="4754880" cy="1828800"/>
          </a:xfrm>
          <a:prstGeom prst="rect">
            <a:avLst/>
          </a:prstGeom>
          <a:noFill/>
          <a:ln/>
        </p:spPr>
        <p:txBody>
          <a:bodyPr wrap="square" lIns="0" tIns="0" rIns="0" bIns="0" rtlCol="0" anchor="t"/>
          <a:lstStyle/>
          <a:p>
            <a:pPr marL="0" indent="0">
              <a:buNone/>
            </a:pPr>
            <a:r>
              <a:rPr lang="en-US" sz="4400" b="1" dirty="0">
                <a:solidFill>
                  <a:schemeClr val="bg1"/>
                </a:solidFill>
                <a:latin typeface="Arial" pitchFamily="34" charset="0"/>
                <a:ea typeface="Arial" pitchFamily="34" charset="-122"/>
                <a:cs typeface="Arial" pitchFamily="34" charset="-120"/>
              </a:rPr>
              <a:t>No tool,
</a:t>
            </a:r>
            <a:r>
              <a:rPr lang="en-US" sz="4400" b="1" dirty="0">
                <a:solidFill>
                  <a:schemeClr val="accent1"/>
                </a:solidFill>
                <a:latin typeface="Arial" pitchFamily="34" charset="0"/>
                <a:ea typeface="Arial" pitchFamily="34" charset="-122"/>
                <a:cs typeface="Arial" pitchFamily="34" charset="-120"/>
              </a:rPr>
              <a:t>no action.</a:t>
            </a:r>
            <a:endParaRPr lang="en-US" sz="4400" dirty="0"/>
          </a:p>
        </p:txBody>
      </p:sp>
      <p:sp>
        <p:nvSpPr>
          <p:cNvPr id="5" name="Text 3"/>
          <p:cNvSpPr txBox="1"/>
          <p:nvPr/>
        </p:nvSpPr>
        <p:spPr>
          <a:xfrm>
            <a:off x="548640" y="4023360"/>
            <a:ext cx="4480560" cy="914400"/>
          </a:xfrm>
          <a:prstGeom prst="rect">
            <a:avLst/>
          </a:prstGeom>
          <a:noFill/>
          <a:ln/>
        </p:spPr>
        <p:txBody>
          <a:bodyPr wrap="square" lIns="0" tIns="0" rIns="0" bIns="0" rtlCol="0" anchor="t"/>
          <a:lstStyle/>
          <a:p>
            <a:pPr marL="0" indent="0">
              <a:buNone/>
            </a:pPr>
            <a:r>
              <a:rPr lang="en-US" sz="1800" dirty="0">
                <a:solidFill>
                  <a:schemeClr val="bg2"/>
                </a:solidFill>
                <a:latin typeface="Arial" pitchFamily="34" charset="0"/>
                <a:ea typeface="Arial" pitchFamily="34" charset="-122"/>
                <a:cs typeface="Arial" pitchFamily="34" charset="-120"/>
              </a:rPr>
              <a:t>Don't rely on the model to behave. Rely on it not having the capability.</a:t>
            </a:r>
            <a:endParaRPr lang="en-US" sz="1800" dirty="0"/>
          </a:p>
        </p:txBody>
      </p:sp>
      <p:sp>
        <p:nvSpPr>
          <p:cNvPr id="6" name="layer tag 0"/>
          <p:cNvSpPr/>
          <p:nvPr/>
        </p:nvSpPr>
        <p:spPr>
          <a:xfrm>
            <a:off x="5852160" y="1920240"/>
            <a:ext cx="3474720" cy="411480"/>
          </a:xfrm>
          <a:prstGeom prst="roundRect">
            <a:avLst>
              <a:gd name="adj" fmla="val 11111"/>
            </a:avLst>
          </a:prstGeom>
          <a:solidFill>
            <a:schemeClr val="accent2"/>
          </a:solidFill>
          <a:ln w="12700">
            <a:solidFill>
              <a:schemeClr val="accent1"/>
            </a:solidFill>
            <a:prstDash val="solid"/>
          </a:ln>
        </p:spPr>
      </p:sp>
      <p:sp>
        <p:nvSpPr>
          <p:cNvPr id="7" name="layer tag 0 text"/>
          <p:cNvSpPr txBox="1"/>
          <p:nvPr/>
        </p:nvSpPr>
        <p:spPr>
          <a:xfrm>
            <a:off x="5852160" y="1920240"/>
            <a:ext cx="3474720" cy="411480"/>
          </a:xfrm>
          <a:prstGeom prst="rect">
            <a:avLst/>
          </a:prstGeom>
          <a:noFill/>
          <a:ln/>
        </p:spPr>
        <p:txBody>
          <a:bodyPr wrap="square" lIns="0" tIns="0" rIns="0" bIns="0" rtlCol="0" anchor="ctr"/>
          <a:lstStyle/>
          <a:p>
            <a:pPr marL="0" indent="0" algn="ctr">
              <a:buNone/>
            </a:pPr>
            <a:r>
              <a:rPr lang="en-US" sz="1300" b="1" dirty="0">
                <a:solidFill>
                  <a:schemeClr val="bg1"/>
                </a:solidFill>
                <a:latin typeface="Arial" pitchFamily="34" charset="0"/>
                <a:ea typeface="Arial" pitchFamily="34" charset="-122"/>
                <a:cs typeface="Arial" pitchFamily="34" charset="-120"/>
              </a:rPr>
              <a:t>LAYER 1  ·  AZURE RBAC</a:t>
            </a:r>
            <a:endParaRPr lang="en-US" sz="1300" dirty="0"/>
          </a:p>
        </p:txBody>
      </p:sp>
      <p:sp>
        <p:nvSpPr>
          <p:cNvPr id="8" name="Text 6"/>
          <p:cNvSpPr txBox="1"/>
          <p:nvPr/>
        </p:nvSpPr>
        <p:spPr>
          <a:xfrm>
            <a:off x="5852160" y="2450592"/>
            <a:ext cx="5760720" cy="457200"/>
          </a:xfrm>
          <a:prstGeom prst="rect">
            <a:avLst/>
          </a:prstGeom>
          <a:noFill/>
          <a:ln/>
        </p:spPr>
        <p:txBody>
          <a:bodyPr wrap="square" lIns="0" tIns="0" rIns="0" bIns="0" rtlCol="0" anchor="t"/>
          <a:lstStyle/>
          <a:p>
            <a:pPr marL="0" indent="0">
              <a:buNone/>
            </a:pPr>
            <a:r>
              <a:rPr lang="en-US" sz="1600" dirty="0">
                <a:solidFill>
                  <a:schemeClr val="bg1"/>
                </a:solidFill>
                <a:latin typeface="Arial" pitchFamily="34" charset="0"/>
                <a:ea typeface="Arial" pitchFamily="34" charset="-122"/>
                <a:cs typeface="Arial" pitchFamily="34" charset="-120"/>
              </a:rPr>
              <a:t>The server identity holds the Reader role only.</a:t>
            </a:r>
            <a:endParaRPr lang="en-US" sz="1600" dirty="0"/>
          </a:p>
        </p:txBody>
      </p:sp>
      <p:sp>
        <p:nvSpPr>
          <p:cNvPr id="9" name="layer tag 1"/>
          <p:cNvSpPr/>
          <p:nvPr/>
        </p:nvSpPr>
        <p:spPr>
          <a:xfrm>
            <a:off x="5852160" y="3154680"/>
            <a:ext cx="3474720" cy="411480"/>
          </a:xfrm>
          <a:prstGeom prst="roundRect">
            <a:avLst>
              <a:gd name="adj" fmla="val 11111"/>
            </a:avLst>
          </a:prstGeom>
          <a:solidFill>
            <a:schemeClr val="accent2"/>
          </a:solidFill>
          <a:ln w="12700">
            <a:solidFill>
              <a:schemeClr val="accent1"/>
            </a:solidFill>
            <a:prstDash val="solid"/>
          </a:ln>
        </p:spPr>
      </p:sp>
      <p:sp>
        <p:nvSpPr>
          <p:cNvPr id="10" name="layer tag 1 text"/>
          <p:cNvSpPr txBox="1"/>
          <p:nvPr/>
        </p:nvSpPr>
        <p:spPr>
          <a:xfrm>
            <a:off x="5852160" y="3154680"/>
            <a:ext cx="3474720" cy="411480"/>
          </a:xfrm>
          <a:prstGeom prst="rect">
            <a:avLst/>
          </a:prstGeom>
          <a:noFill/>
          <a:ln/>
        </p:spPr>
        <p:txBody>
          <a:bodyPr wrap="square" lIns="0" tIns="0" rIns="0" bIns="0" rtlCol="0" anchor="ctr"/>
          <a:lstStyle/>
          <a:p>
            <a:pPr marL="0" indent="0" algn="ctr">
              <a:buNone/>
            </a:pPr>
            <a:r>
              <a:rPr lang="en-US" sz="1300" b="1" dirty="0">
                <a:solidFill>
                  <a:schemeClr val="bg1"/>
                </a:solidFill>
                <a:latin typeface="Arial" pitchFamily="34" charset="0"/>
                <a:ea typeface="Arial" pitchFamily="34" charset="-122"/>
                <a:cs typeface="Arial" pitchFamily="34" charset="-120"/>
              </a:rPr>
              <a:t>LAYER 2  ·  THE TOOL LIST</a:t>
            </a:r>
            <a:endParaRPr lang="en-US" sz="1300" dirty="0"/>
          </a:p>
        </p:txBody>
      </p:sp>
      <p:sp>
        <p:nvSpPr>
          <p:cNvPr id="11" name="Text 9"/>
          <p:cNvSpPr txBox="1"/>
          <p:nvPr/>
        </p:nvSpPr>
        <p:spPr>
          <a:xfrm>
            <a:off x="5852160" y="3685032"/>
            <a:ext cx="5760720" cy="457200"/>
          </a:xfrm>
          <a:prstGeom prst="rect">
            <a:avLst/>
          </a:prstGeom>
          <a:noFill/>
          <a:ln/>
        </p:spPr>
        <p:txBody>
          <a:bodyPr wrap="square" lIns="0" tIns="0" rIns="0" bIns="0" rtlCol="0" anchor="t"/>
          <a:lstStyle/>
          <a:p>
            <a:pPr marL="0" indent="0">
              <a:buNone/>
            </a:pPr>
            <a:r>
              <a:rPr lang="en-US" sz="1600" dirty="0">
                <a:solidFill>
                  <a:schemeClr val="bg1"/>
                </a:solidFill>
                <a:latin typeface="Arial" pitchFamily="34" charset="0"/>
                <a:ea typeface="Arial" pitchFamily="34" charset="-122"/>
                <a:cs typeface="Arial" pitchFamily="34" charset="-120"/>
              </a:rPr>
              <a:t>Only read tools exist. Create, update and delete are not exposed.</a:t>
            </a:r>
            <a:endParaRPr lang="en-US" sz="1600" dirty="0"/>
          </a:p>
        </p:txBody>
      </p:sp>
      <p:sp>
        <p:nvSpPr>
          <p:cNvPr id="12" name="injection box"/>
          <p:cNvSpPr/>
          <p:nvPr/>
        </p:nvSpPr>
        <p:spPr>
          <a:xfrm>
            <a:off x="5852160" y="4526280"/>
            <a:ext cx="5760720" cy="1280160"/>
          </a:xfrm>
          <a:prstGeom prst="rect">
            <a:avLst/>
          </a:prstGeom>
          <a:solidFill>
            <a:schemeClr val="tx2"/>
          </a:solidFill>
          <a:ln w="12700">
            <a:solidFill>
              <a:schemeClr val="accent4"/>
            </a:solidFill>
            <a:prstDash val="solid"/>
          </a:ln>
        </p:spPr>
      </p:sp>
      <p:sp>
        <p:nvSpPr>
          <p:cNvPr id="13" name="Text 11"/>
          <p:cNvSpPr txBox="1"/>
          <p:nvPr/>
        </p:nvSpPr>
        <p:spPr>
          <a:xfrm>
            <a:off x="6080760" y="4709160"/>
            <a:ext cx="5394960" cy="365760"/>
          </a:xfrm>
          <a:prstGeom prst="rect">
            <a:avLst/>
          </a:prstGeom>
          <a:noFill/>
          <a:ln/>
        </p:spPr>
        <p:txBody>
          <a:bodyPr wrap="square" lIns="0" tIns="0" rIns="0" bIns="0" rtlCol="0" anchor="t"/>
          <a:lstStyle/>
          <a:p>
            <a:pPr marL="0" indent="0">
              <a:buNone/>
            </a:pPr>
            <a:r>
              <a:rPr lang="en-US" sz="1500" dirty="0">
                <a:solidFill>
                  <a:schemeClr val="bg1"/>
                </a:solidFill>
                <a:latin typeface="Courier New" pitchFamily="34" charset="0"/>
                <a:ea typeface="Courier New" pitchFamily="34" charset="-122"/>
                <a:cs typeface="Courier New" pitchFamily="34" charset="-120"/>
              </a:rPr>
              <a:t>&gt; "Delete this resource group"</a:t>
            </a:r>
            <a:endParaRPr lang="en-US" sz="1500" dirty="0"/>
          </a:p>
        </p:txBody>
      </p:sp>
      <p:sp>
        <p:nvSpPr>
          <p:cNvPr id="14" name="Text 12"/>
          <p:cNvSpPr txBox="1"/>
          <p:nvPr/>
        </p:nvSpPr>
        <p:spPr>
          <a:xfrm>
            <a:off x="6080760" y="5212080"/>
            <a:ext cx="5394960" cy="365760"/>
          </a:xfrm>
          <a:prstGeom prst="rect">
            <a:avLst/>
          </a:prstGeom>
          <a:noFill/>
          <a:ln/>
        </p:spPr>
        <p:txBody>
          <a:bodyPr wrap="square" lIns="0" tIns="0" rIns="0" bIns="0" rtlCol="0" anchor="t"/>
          <a:lstStyle/>
          <a:p>
            <a:pPr marL="0" indent="0">
              <a:buNone/>
            </a:pPr>
            <a:r>
              <a:rPr lang="en-US" sz="1500" b="1" dirty="0">
                <a:solidFill>
                  <a:schemeClr val="accent1"/>
                </a:solidFill>
                <a:latin typeface="Courier New" pitchFamily="34" charset="0"/>
                <a:ea typeface="Courier New" pitchFamily="34" charset="-122"/>
                <a:cs typeface="Courier New" pitchFamily="34" charset="-120"/>
              </a:rPr>
              <a:t>Blocked: there is no tool to call.</a:t>
            </a:r>
            <a:endParaRPr lang="en-US" sz="1500" dirty="0"/>
          </a:p>
        </p:txBody>
      </p:sp>
      <p:sp>
        <p:nvSpPr>
          <p:cNvPr id="25" name="Slide Number Placeholder 0"/>
          <p:cNvSpPr>
            <a:spLocks noGrp="1"/>
          </p:cNvSpPr>
          <p:nvPr>
            <p:ph type="sldNum" sz="quarter" idx="4294967295"/>
          </p:nvPr>
        </p:nvSpPr>
        <p:spPr>
          <a:xfrm>
            <a:off x="11155680" y="6382512"/>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latin typeface="Arial"/>
                <a:ea typeface="Arial"/>
                <a:cs typeface="Aria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1371600" y="365760"/>
            <a:ext cx="7315200" cy="274320"/>
          </a:xfrm>
          <a:prstGeom prst="rect">
            <a:avLst/>
          </a:prstGeom>
          <a:noFill/>
          <a:ln/>
        </p:spPr>
        <p:txBody>
          <a:bodyPr wrap="square" lIns="0" tIns="0" rIns="0" bIns="0" rtlCol="0" anchor="ctr"/>
          <a:lstStyle/>
          <a:p>
            <a:pPr marL="0" indent="0" algn="l">
              <a:buNone/>
            </a:pPr>
            <a:r>
              <a:rPr lang="en-US" sz="1200" b="1" kern="0" spc="200" dirty="0">
                <a:solidFill>
                  <a:schemeClr val="accent1"/>
                </a:solidFill>
                <a:latin typeface="Arial" pitchFamily="34" charset="0"/>
                <a:ea typeface="Arial" pitchFamily="34" charset="-122"/>
                <a:cs typeface="Arial" pitchFamily="34" charset="-120"/>
              </a:rPr>
              <a:t>11  ·  SAFEGUARD TWO</a:t>
            </a:r>
            <a:endParaRPr lang="en-US" sz="1200" dirty="0"/>
          </a:p>
        </p:txBody>
      </p:sp>
      <p:sp>
        <p:nvSpPr>
          <p:cNvPr id="3" name="Text 1"/>
          <p:cNvSpPr>
            <a:spLocks noGrp="1"/>
          </p:cNvSpPr>
          <p:nvPr>
            <p:ph type="title" idx="103" hasCustomPrompt="1"/>
          </p:nvPr>
        </p:nvSpPr>
        <p:spPr>
          <a:xfrm>
            <a:off x="548640" y="777240"/>
            <a:ext cx="11064240" cy="822960"/>
          </a:xfrm>
          <a:prstGeom prst="rect">
            <a:avLst/>
          </a:prstGeom>
          <a:noFill/>
          <a:ln/>
        </p:spPr>
        <p:txBody>
          <a:bodyPr wrap="square" lIns="0" tIns="0" rIns="0" bIns="0" rtlCol="0" anchor="t"/>
          <a:lstStyle/>
          <a:p>
            <a:pPr marL="0" indent="0" algn="l">
              <a:buNone/>
            </a:pPr>
            <a:r>
              <a:rPr lang="en-US" sz="3000" b="1" dirty="0">
                <a:solidFill>
                  <a:schemeClr val="accent1"/>
                </a:solidFill>
              </a:rPr>
              <a:t>LEAK </a:t>
            </a:r>
            <a:r>
              <a:rPr lang="en-US" sz="3000" b="1" dirty="0">
                <a:solidFill>
                  <a:schemeClr val="bg1"/>
                </a:solidFill>
              </a:rPr>
              <a:t>DETECTION</a:t>
            </a:r>
            <a:endParaRPr lang="en-US" sz="3000" dirty="0"/>
          </a:p>
        </p:txBody>
      </p:sp>
      <p:sp>
        <p:nvSpPr>
          <p:cNvPr id="4" name="flow scan"/>
          <p:cNvSpPr/>
          <p:nvPr/>
        </p:nvSpPr>
        <p:spPr>
          <a:xfrm>
            <a:off x="548640" y="2194560"/>
            <a:ext cx="2560320" cy="548640"/>
          </a:xfrm>
          <a:prstGeom prst="roundRect">
            <a:avLst>
              <a:gd name="adj" fmla="val 8333"/>
            </a:avLst>
          </a:prstGeom>
          <a:solidFill>
            <a:schemeClr val="accent2"/>
          </a:solidFill>
          <a:ln w="12700">
            <a:solidFill>
              <a:schemeClr val="accent1"/>
            </a:solidFill>
            <a:prstDash val="solid"/>
          </a:ln>
        </p:spPr>
      </p:sp>
      <p:sp>
        <p:nvSpPr>
          <p:cNvPr id="5" name="flow scan text"/>
          <p:cNvSpPr txBox="1"/>
          <p:nvPr/>
        </p:nvSpPr>
        <p:spPr>
          <a:xfrm>
            <a:off x="548640" y="2194560"/>
            <a:ext cx="2560320" cy="548640"/>
          </a:xfrm>
          <a:prstGeom prst="rect">
            <a:avLst/>
          </a:prstGeom>
          <a:noFill/>
          <a:ln/>
        </p:spPr>
        <p:txBody>
          <a:bodyPr wrap="square" lIns="0" tIns="0" rIns="0" bIns="0" rtlCol="0" anchor="ctr"/>
          <a:lstStyle/>
          <a:p>
            <a:pPr marL="0" indent="0" algn="ctr">
              <a:buNone/>
            </a:pPr>
            <a:r>
              <a:rPr lang="en-US" sz="1500" b="1" dirty="0">
                <a:solidFill>
                  <a:schemeClr val="bg1"/>
                </a:solidFill>
                <a:latin typeface="Arial" pitchFamily="34" charset="0"/>
                <a:ea typeface="Arial" pitchFamily="34" charset="-122"/>
                <a:cs typeface="Arial" pitchFamily="34" charset="-120"/>
              </a:rPr>
              <a:t>SCAN OUTPUT</a:t>
            </a:r>
            <a:endParaRPr lang="en-US" sz="1500" dirty="0"/>
          </a:p>
        </p:txBody>
      </p:sp>
      <p:sp>
        <p:nvSpPr>
          <p:cNvPr id="6" name="flow a1"/>
          <p:cNvSpPr/>
          <p:nvPr/>
        </p:nvSpPr>
        <p:spPr>
          <a:xfrm>
            <a:off x="3200400" y="2468880"/>
            <a:ext cx="731520" cy="914"/>
          </a:xfrm>
          <a:prstGeom prst="line">
            <a:avLst/>
          </a:prstGeom>
          <a:noFill/>
          <a:ln w="25400">
            <a:solidFill>
              <a:schemeClr val="accent1"/>
            </a:solidFill>
            <a:prstDash val="solid"/>
            <a:tailEnd type="triangle"/>
          </a:ln>
        </p:spPr>
      </p:sp>
      <p:sp>
        <p:nvSpPr>
          <p:cNvPr id="7" name="flow check"/>
          <p:cNvSpPr/>
          <p:nvPr/>
        </p:nvSpPr>
        <p:spPr>
          <a:xfrm>
            <a:off x="4023360" y="2194560"/>
            <a:ext cx="2560320" cy="548640"/>
          </a:xfrm>
          <a:prstGeom prst="roundRect">
            <a:avLst>
              <a:gd name="adj" fmla="val 8333"/>
            </a:avLst>
          </a:prstGeom>
          <a:solidFill>
            <a:schemeClr val="accent2"/>
          </a:solidFill>
          <a:ln w="12700">
            <a:solidFill>
              <a:schemeClr val="accent1"/>
            </a:solidFill>
            <a:prstDash val="solid"/>
          </a:ln>
        </p:spPr>
      </p:sp>
      <p:sp>
        <p:nvSpPr>
          <p:cNvPr id="8" name="flow check text"/>
          <p:cNvSpPr txBox="1"/>
          <p:nvPr/>
        </p:nvSpPr>
        <p:spPr>
          <a:xfrm>
            <a:off x="4023360" y="2194560"/>
            <a:ext cx="2560320" cy="548640"/>
          </a:xfrm>
          <a:prstGeom prst="rect">
            <a:avLst/>
          </a:prstGeom>
          <a:noFill/>
          <a:ln/>
        </p:spPr>
        <p:txBody>
          <a:bodyPr wrap="square" lIns="0" tIns="0" rIns="0" bIns="0" rtlCol="0" anchor="ctr"/>
          <a:lstStyle/>
          <a:p>
            <a:pPr marL="0" indent="0" algn="ctr">
              <a:buNone/>
            </a:pPr>
            <a:r>
              <a:rPr lang="en-US" sz="1500" b="1" dirty="0">
                <a:solidFill>
                  <a:schemeClr val="bg1"/>
                </a:solidFill>
                <a:latin typeface="Arial" pitchFamily="34" charset="0"/>
                <a:ea typeface="Arial" pitchFamily="34" charset="-122"/>
                <a:cs typeface="Arial" pitchFamily="34" charset="-120"/>
              </a:rPr>
              <a:t>LEAK CHECK</a:t>
            </a:r>
            <a:endParaRPr lang="en-US" sz="1500" dirty="0"/>
          </a:p>
        </p:txBody>
      </p:sp>
      <p:sp>
        <p:nvSpPr>
          <p:cNvPr id="9" name="flow a2"/>
          <p:cNvSpPr/>
          <p:nvPr/>
        </p:nvSpPr>
        <p:spPr>
          <a:xfrm flipV="1">
            <a:off x="6675120" y="2057400"/>
            <a:ext cx="914400" cy="411480"/>
          </a:xfrm>
          <a:prstGeom prst="line">
            <a:avLst/>
          </a:prstGeom>
          <a:noFill/>
          <a:ln w="25400">
            <a:solidFill>
              <a:schemeClr val="accent1"/>
            </a:solidFill>
            <a:prstDash val="solid"/>
            <a:tailEnd type="triangle"/>
          </a:ln>
        </p:spPr>
      </p:sp>
      <p:sp>
        <p:nvSpPr>
          <p:cNvPr id="10" name="flow a3"/>
          <p:cNvSpPr/>
          <p:nvPr/>
        </p:nvSpPr>
        <p:spPr>
          <a:xfrm>
            <a:off x="6675120" y="2468880"/>
            <a:ext cx="914400" cy="411480"/>
          </a:xfrm>
          <a:prstGeom prst="line">
            <a:avLst/>
          </a:prstGeom>
          <a:noFill/>
          <a:ln w="25400">
            <a:solidFill>
              <a:schemeClr val="accent1"/>
            </a:solidFill>
            <a:prstDash val="solid"/>
            <a:tailEnd type="triangle"/>
          </a:ln>
        </p:spPr>
      </p:sp>
      <p:sp>
        <p:nvSpPr>
          <p:cNvPr id="11" name="dest prompt"/>
          <p:cNvSpPr/>
          <p:nvPr/>
        </p:nvSpPr>
        <p:spPr>
          <a:xfrm>
            <a:off x="7680960" y="1783080"/>
            <a:ext cx="3931920" cy="548640"/>
          </a:xfrm>
          <a:prstGeom prst="rect">
            <a:avLst/>
          </a:prstGeom>
          <a:solidFill>
            <a:schemeClr val="tx2"/>
          </a:solidFill>
          <a:ln w="12700">
            <a:solidFill>
              <a:schemeClr val="accent4"/>
            </a:solidFill>
            <a:prstDash val="solid"/>
          </a:ln>
        </p:spPr>
      </p:sp>
      <p:sp>
        <p:nvSpPr>
          <p:cNvPr id="12" name="Text 10"/>
          <p:cNvSpPr txBox="1"/>
          <p:nvPr/>
        </p:nvSpPr>
        <p:spPr>
          <a:xfrm>
            <a:off x="7909560" y="1783080"/>
            <a:ext cx="3566160" cy="548640"/>
          </a:xfrm>
          <a:prstGeom prst="rect">
            <a:avLst/>
          </a:prstGeom>
          <a:noFill/>
          <a:ln/>
        </p:spPr>
        <p:txBody>
          <a:bodyPr wrap="square" lIns="0" tIns="0" rIns="0" bIns="0" rtlCol="0" anchor="ctr"/>
          <a:lstStyle/>
          <a:p>
            <a:pPr marL="0" indent="0">
              <a:buNone/>
            </a:pPr>
            <a:r>
              <a:rPr lang="en-US" sz="1700" b="1" dirty="0">
                <a:solidFill>
                  <a:schemeClr val="bg1"/>
                </a:solidFill>
                <a:latin typeface="Arial" pitchFamily="34" charset="0"/>
                <a:ea typeface="Arial" pitchFamily="34" charset="-122"/>
                <a:cs typeface="Arial" pitchFamily="34" charset="-120"/>
              </a:rPr>
              <a:t>Into a prompt</a:t>
            </a:r>
            <a:endParaRPr lang="en-US" sz="1700" dirty="0"/>
          </a:p>
        </p:txBody>
      </p:sp>
      <p:sp>
        <p:nvSpPr>
          <p:cNvPr id="13" name="dest repo"/>
          <p:cNvSpPr/>
          <p:nvPr/>
        </p:nvSpPr>
        <p:spPr>
          <a:xfrm>
            <a:off x="7680960" y="2606040"/>
            <a:ext cx="3931920" cy="548640"/>
          </a:xfrm>
          <a:prstGeom prst="rect">
            <a:avLst/>
          </a:prstGeom>
          <a:solidFill>
            <a:schemeClr val="tx2"/>
          </a:solidFill>
          <a:ln w="12700">
            <a:solidFill>
              <a:schemeClr val="accent4"/>
            </a:solidFill>
            <a:prstDash val="solid"/>
          </a:ln>
        </p:spPr>
      </p:sp>
      <p:sp>
        <p:nvSpPr>
          <p:cNvPr id="14" name="Text 12"/>
          <p:cNvSpPr txBox="1"/>
          <p:nvPr/>
        </p:nvSpPr>
        <p:spPr>
          <a:xfrm>
            <a:off x="7909560" y="2606040"/>
            <a:ext cx="3566160" cy="548640"/>
          </a:xfrm>
          <a:prstGeom prst="rect">
            <a:avLst/>
          </a:prstGeom>
          <a:noFill/>
          <a:ln/>
        </p:spPr>
        <p:txBody>
          <a:bodyPr wrap="square" lIns="0" tIns="0" rIns="0" bIns="0" rtlCol="0" anchor="ctr"/>
          <a:lstStyle/>
          <a:p>
            <a:pPr marL="0" indent="0">
              <a:buNone/>
            </a:pPr>
            <a:r>
              <a:rPr lang="en-US" sz="1700" b="1" dirty="0">
                <a:solidFill>
                  <a:schemeClr val="bg1"/>
                </a:solidFill>
                <a:latin typeface="Arial" pitchFamily="34" charset="0"/>
                <a:ea typeface="Arial" pitchFamily="34" charset="-122"/>
                <a:cs typeface="Arial" pitchFamily="34" charset="-120"/>
              </a:rPr>
              <a:t>Into a public repo</a:t>
            </a:r>
            <a:endParaRPr lang="en-US" sz="1700" dirty="0"/>
          </a:p>
        </p:txBody>
      </p:sp>
      <p:sp>
        <p:nvSpPr>
          <p:cNvPr id="15" name="Text 13"/>
          <p:cNvSpPr txBox="1"/>
          <p:nvPr/>
        </p:nvSpPr>
        <p:spPr>
          <a:xfrm>
            <a:off x="548640" y="3657600"/>
            <a:ext cx="7315200" cy="274320"/>
          </a:xfrm>
          <a:prstGeom prst="rect">
            <a:avLst/>
          </a:prstGeom>
          <a:noFill/>
          <a:ln/>
        </p:spPr>
        <p:txBody>
          <a:bodyPr wrap="square" lIns="0" tIns="0" rIns="0" bIns="0" rtlCol="0" anchor="t"/>
          <a:lstStyle/>
          <a:p>
            <a:pPr marL="0" indent="0">
              <a:buNone/>
            </a:pPr>
            <a:r>
              <a:rPr lang="en-US" sz="1200" b="1" kern="0" spc="100" dirty="0">
                <a:solidFill>
                  <a:schemeClr val="accent1"/>
                </a:solidFill>
                <a:latin typeface="Arial" pitchFamily="34" charset="0"/>
                <a:ea typeface="Arial" pitchFamily="34" charset="-122"/>
                <a:cs typeface="Arial" pitchFamily="34" charset="-120"/>
              </a:rPr>
              <a:t>WHAT IT CATCHES BEFORE ANYTHING LEAVES</a:t>
            </a:r>
            <a:endParaRPr lang="en-US" sz="1200" dirty="0"/>
          </a:p>
        </p:txBody>
      </p:sp>
      <p:sp>
        <p:nvSpPr>
          <p:cNvPr id="16" name="chip 0"/>
          <p:cNvSpPr/>
          <p:nvPr/>
        </p:nvSpPr>
        <p:spPr>
          <a:xfrm>
            <a:off x="548640" y="4069080"/>
            <a:ext cx="2121408" cy="502920"/>
          </a:xfrm>
          <a:prstGeom prst="rect">
            <a:avLst/>
          </a:prstGeom>
          <a:solidFill>
            <a:schemeClr val="tx2"/>
          </a:solidFill>
          <a:ln w="12700">
            <a:solidFill>
              <a:schemeClr val="accent4"/>
            </a:solidFill>
            <a:prstDash val="solid"/>
          </a:ln>
        </p:spPr>
      </p:sp>
      <p:sp>
        <p:nvSpPr>
          <p:cNvPr id="17" name="Text 15"/>
          <p:cNvSpPr txBox="1"/>
          <p:nvPr/>
        </p:nvSpPr>
        <p:spPr>
          <a:xfrm>
            <a:off x="548640" y="4069080"/>
            <a:ext cx="2121408" cy="502920"/>
          </a:xfrm>
          <a:prstGeom prst="rect">
            <a:avLst/>
          </a:prstGeom>
          <a:noFill/>
          <a:ln/>
        </p:spPr>
        <p:txBody>
          <a:bodyPr wrap="square" lIns="0" tIns="0" rIns="0" bIns="0" rtlCol="0" anchor="ctr"/>
          <a:lstStyle/>
          <a:p>
            <a:pPr marL="0" indent="0" algn="ctr">
              <a:buNone/>
            </a:pPr>
            <a:r>
              <a:rPr lang="en-US" sz="1500" dirty="0">
                <a:solidFill>
                  <a:schemeClr val="bg1"/>
                </a:solidFill>
                <a:latin typeface="Arial" pitchFamily="34" charset="0"/>
                <a:ea typeface="Arial" pitchFamily="34" charset="-122"/>
                <a:cs typeface="Arial" pitchFamily="34" charset="-120"/>
              </a:rPr>
              <a:t>Subscription IDs</a:t>
            </a:r>
            <a:endParaRPr lang="en-US" sz="1500" dirty="0"/>
          </a:p>
        </p:txBody>
      </p:sp>
      <p:sp>
        <p:nvSpPr>
          <p:cNvPr id="18" name="chip 1"/>
          <p:cNvSpPr/>
          <p:nvPr/>
        </p:nvSpPr>
        <p:spPr>
          <a:xfrm>
            <a:off x="2852928" y="4069080"/>
            <a:ext cx="1463040" cy="502920"/>
          </a:xfrm>
          <a:prstGeom prst="rect">
            <a:avLst/>
          </a:prstGeom>
          <a:solidFill>
            <a:schemeClr val="tx2"/>
          </a:solidFill>
          <a:ln w="12700">
            <a:solidFill>
              <a:schemeClr val="accent4"/>
            </a:solidFill>
            <a:prstDash val="solid"/>
          </a:ln>
        </p:spPr>
      </p:sp>
      <p:sp>
        <p:nvSpPr>
          <p:cNvPr id="19" name="Text 17"/>
          <p:cNvSpPr txBox="1"/>
          <p:nvPr/>
        </p:nvSpPr>
        <p:spPr>
          <a:xfrm>
            <a:off x="2852928" y="4069080"/>
            <a:ext cx="1463040" cy="502920"/>
          </a:xfrm>
          <a:prstGeom prst="rect">
            <a:avLst/>
          </a:prstGeom>
          <a:noFill/>
          <a:ln/>
        </p:spPr>
        <p:txBody>
          <a:bodyPr wrap="square" lIns="0" tIns="0" rIns="0" bIns="0" rtlCol="0" anchor="ctr"/>
          <a:lstStyle/>
          <a:p>
            <a:pPr marL="0" indent="0" algn="ctr">
              <a:buNone/>
            </a:pPr>
            <a:r>
              <a:rPr lang="en-US" sz="1500" dirty="0">
                <a:solidFill>
                  <a:schemeClr val="bg1"/>
                </a:solidFill>
                <a:latin typeface="Arial" pitchFamily="34" charset="0"/>
                <a:ea typeface="Arial" pitchFamily="34" charset="-122"/>
                <a:cs typeface="Arial" pitchFamily="34" charset="-120"/>
              </a:rPr>
              <a:t>Tenant IDs</a:t>
            </a:r>
            <a:endParaRPr lang="en-US" sz="1500" dirty="0"/>
          </a:p>
        </p:txBody>
      </p:sp>
      <p:sp>
        <p:nvSpPr>
          <p:cNvPr id="20" name="chip 2"/>
          <p:cNvSpPr/>
          <p:nvPr/>
        </p:nvSpPr>
        <p:spPr>
          <a:xfrm>
            <a:off x="4498848" y="4069080"/>
            <a:ext cx="1682496" cy="502920"/>
          </a:xfrm>
          <a:prstGeom prst="rect">
            <a:avLst/>
          </a:prstGeom>
          <a:solidFill>
            <a:schemeClr val="tx2"/>
          </a:solidFill>
          <a:ln w="12700">
            <a:solidFill>
              <a:schemeClr val="accent4"/>
            </a:solidFill>
            <a:prstDash val="solid"/>
          </a:ln>
        </p:spPr>
      </p:sp>
      <p:sp>
        <p:nvSpPr>
          <p:cNvPr id="21" name="Text 19"/>
          <p:cNvSpPr txBox="1"/>
          <p:nvPr/>
        </p:nvSpPr>
        <p:spPr>
          <a:xfrm>
            <a:off x="4498848" y="4069080"/>
            <a:ext cx="1682496" cy="502920"/>
          </a:xfrm>
          <a:prstGeom prst="rect">
            <a:avLst/>
          </a:prstGeom>
          <a:noFill/>
          <a:ln/>
        </p:spPr>
        <p:txBody>
          <a:bodyPr wrap="square" lIns="0" tIns="0" rIns="0" bIns="0" rtlCol="0" anchor="ctr"/>
          <a:lstStyle/>
          <a:p>
            <a:pPr marL="0" indent="0" algn="ctr">
              <a:buNone/>
            </a:pPr>
            <a:r>
              <a:rPr lang="en-US" sz="1500" dirty="0">
                <a:solidFill>
                  <a:schemeClr val="bg1"/>
                </a:solidFill>
                <a:latin typeface="Arial" pitchFamily="34" charset="0"/>
                <a:ea typeface="Arial" pitchFamily="34" charset="-122"/>
                <a:cs typeface="Arial" pitchFamily="34" charset="-120"/>
              </a:rPr>
              <a:t>IP addresses</a:t>
            </a:r>
            <a:endParaRPr lang="en-US" sz="1500" dirty="0"/>
          </a:p>
        </p:txBody>
      </p:sp>
      <p:sp>
        <p:nvSpPr>
          <p:cNvPr id="22" name="chip 3"/>
          <p:cNvSpPr/>
          <p:nvPr/>
        </p:nvSpPr>
        <p:spPr>
          <a:xfrm>
            <a:off x="6364224" y="4069080"/>
            <a:ext cx="2011680" cy="502920"/>
          </a:xfrm>
          <a:prstGeom prst="rect">
            <a:avLst/>
          </a:prstGeom>
          <a:solidFill>
            <a:schemeClr val="tx2"/>
          </a:solidFill>
          <a:ln w="12700">
            <a:solidFill>
              <a:schemeClr val="accent4"/>
            </a:solidFill>
            <a:prstDash val="solid"/>
          </a:ln>
        </p:spPr>
      </p:sp>
      <p:sp>
        <p:nvSpPr>
          <p:cNvPr id="23" name="Text 21"/>
          <p:cNvSpPr txBox="1"/>
          <p:nvPr/>
        </p:nvSpPr>
        <p:spPr>
          <a:xfrm>
            <a:off x="6364224" y="4069080"/>
            <a:ext cx="2011680" cy="502920"/>
          </a:xfrm>
          <a:prstGeom prst="rect">
            <a:avLst/>
          </a:prstGeom>
          <a:noFill/>
          <a:ln/>
        </p:spPr>
        <p:txBody>
          <a:bodyPr wrap="square" lIns="0" tIns="0" rIns="0" bIns="0" rtlCol="0" anchor="ctr"/>
          <a:lstStyle/>
          <a:p>
            <a:pPr marL="0" indent="0" algn="ctr">
              <a:buNone/>
            </a:pPr>
            <a:r>
              <a:rPr lang="en-US" sz="1500" dirty="0">
                <a:solidFill>
                  <a:schemeClr val="bg1"/>
                </a:solidFill>
                <a:latin typeface="Arial" pitchFamily="34" charset="0"/>
                <a:ea typeface="Arial" pitchFamily="34" charset="-122"/>
                <a:cs typeface="Arial" pitchFamily="34" charset="-120"/>
              </a:rPr>
              <a:t>Secrets in tags</a:t>
            </a:r>
            <a:endParaRPr lang="en-US" sz="1500" dirty="0"/>
          </a:p>
        </p:txBody>
      </p:sp>
      <p:sp>
        <p:nvSpPr>
          <p:cNvPr id="24" name="chip 4"/>
          <p:cNvSpPr/>
          <p:nvPr/>
        </p:nvSpPr>
        <p:spPr>
          <a:xfrm>
            <a:off x="8558784" y="4069080"/>
            <a:ext cx="2011680" cy="502920"/>
          </a:xfrm>
          <a:prstGeom prst="rect">
            <a:avLst/>
          </a:prstGeom>
          <a:solidFill>
            <a:schemeClr val="tx2"/>
          </a:solidFill>
          <a:ln w="12700">
            <a:solidFill>
              <a:schemeClr val="accent4"/>
            </a:solidFill>
            <a:prstDash val="solid"/>
          </a:ln>
        </p:spPr>
      </p:sp>
      <p:sp>
        <p:nvSpPr>
          <p:cNvPr id="25" name="Text 23"/>
          <p:cNvSpPr txBox="1"/>
          <p:nvPr/>
        </p:nvSpPr>
        <p:spPr>
          <a:xfrm>
            <a:off x="8558784" y="4069080"/>
            <a:ext cx="2011680" cy="502920"/>
          </a:xfrm>
          <a:prstGeom prst="rect">
            <a:avLst/>
          </a:prstGeom>
          <a:noFill/>
          <a:ln/>
        </p:spPr>
        <p:txBody>
          <a:bodyPr wrap="square" lIns="0" tIns="0" rIns="0" bIns="0" rtlCol="0" anchor="ctr"/>
          <a:lstStyle/>
          <a:p>
            <a:pPr marL="0" indent="0" algn="ctr">
              <a:buNone/>
            </a:pPr>
            <a:r>
              <a:rPr lang="en-US" sz="1500" dirty="0">
                <a:solidFill>
                  <a:schemeClr val="bg1"/>
                </a:solidFill>
                <a:latin typeface="Arial" pitchFamily="34" charset="0"/>
                <a:ea typeface="Arial" pitchFamily="34" charset="-122"/>
                <a:cs typeface="Arial" pitchFamily="34" charset="-120"/>
              </a:rPr>
              <a:t>Revealing names</a:t>
            </a:r>
            <a:endParaRPr lang="en-US" sz="1500" dirty="0"/>
          </a:p>
        </p:txBody>
      </p:sp>
      <p:sp>
        <p:nvSpPr>
          <p:cNvPr id="26" name="Text 24"/>
          <p:cNvSpPr txBox="1"/>
          <p:nvPr/>
        </p:nvSpPr>
        <p:spPr>
          <a:xfrm>
            <a:off x="548640" y="4983480"/>
            <a:ext cx="11064240" cy="822960"/>
          </a:xfrm>
          <a:prstGeom prst="rect">
            <a:avLst/>
          </a:prstGeom>
          <a:noFill/>
          <a:ln/>
        </p:spPr>
        <p:txBody>
          <a:bodyPr wrap="square" lIns="0" tIns="0" rIns="0" bIns="0" rtlCol="0" anchor="t"/>
          <a:lstStyle/>
          <a:p>
            <a:pPr marL="0" indent="0">
              <a:buNone/>
            </a:pPr>
            <a:r>
              <a:rPr lang="en-US" sz="2200" b="1" dirty="0">
                <a:solidFill>
                  <a:schemeClr val="bg1"/>
                </a:solidFill>
                <a:latin typeface="Arial" pitchFamily="34" charset="0"/>
                <a:ea typeface="Arial" pitchFamily="34" charset="-122"/>
                <a:cs typeface="Arial" pitchFamily="34" charset="-120"/>
              </a:rPr>
              <a:t>Treat your topology as sensitive data. </a:t>
            </a:r>
            <a:r>
              <a:rPr lang="en-US" sz="2200" b="1" dirty="0">
                <a:solidFill>
                  <a:schemeClr val="accent1"/>
                </a:solidFill>
                <a:latin typeface="Arial" pitchFamily="34" charset="0"/>
                <a:ea typeface="Arial" pitchFamily="34" charset="-122"/>
                <a:cs typeface="Arial" pitchFamily="34" charset="-120"/>
              </a:rPr>
              <a:t>To an attacker, it is a blueprint.</a:t>
            </a:r>
            <a:endParaRPr lang="en-US" sz="2200" dirty="0"/>
          </a:p>
        </p:txBody>
      </p:sp>
      <p:sp>
        <p:nvSpPr>
          <p:cNvPr id="27" name="Slide Number Placeholder 0"/>
          <p:cNvSpPr>
            <a:spLocks noGrp="1"/>
          </p:cNvSpPr>
          <p:nvPr>
            <p:ph type="sldNum" sz="quarter" idx="4294967295"/>
          </p:nvPr>
        </p:nvSpPr>
        <p:spPr>
          <a:xfrm>
            <a:off x="11155680" y="6382512"/>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latin typeface="Arial"/>
                <a:ea typeface="Arial"/>
                <a:cs typeface="Aria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1371600" y="365760"/>
            <a:ext cx="7315200" cy="274320"/>
          </a:xfrm>
          <a:prstGeom prst="rect">
            <a:avLst/>
          </a:prstGeom>
          <a:noFill/>
          <a:ln/>
        </p:spPr>
        <p:txBody>
          <a:bodyPr wrap="square" lIns="0" tIns="0" rIns="0" bIns="0" rtlCol="0" anchor="ctr"/>
          <a:lstStyle/>
          <a:p>
            <a:pPr marL="0" indent="0" algn="l">
              <a:buNone/>
            </a:pPr>
            <a:r>
              <a:rPr lang="en-US" sz="1200" b="1" kern="0" spc="200" dirty="0">
                <a:solidFill>
                  <a:schemeClr val="accent1"/>
                </a:solidFill>
                <a:latin typeface="Arial" pitchFamily="34" charset="0"/>
                <a:ea typeface="Arial" pitchFamily="34" charset="-122"/>
                <a:cs typeface="Arial" pitchFamily="34" charset="-120"/>
              </a:rPr>
              <a:t>12  ·  SAFEGUARD THREE</a:t>
            </a:r>
            <a:endParaRPr lang="en-US" sz="1200" dirty="0"/>
          </a:p>
        </p:txBody>
      </p:sp>
      <p:sp>
        <p:nvSpPr>
          <p:cNvPr id="3" name="Text 1"/>
          <p:cNvSpPr>
            <a:spLocks noGrp="1"/>
          </p:cNvSpPr>
          <p:nvPr>
            <p:ph type="title" idx="103" hasCustomPrompt="1"/>
          </p:nvPr>
        </p:nvSpPr>
        <p:spPr>
          <a:xfrm>
            <a:off x="548640" y="777240"/>
            <a:ext cx="11064240" cy="822960"/>
          </a:xfrm>
          <a:prstGeom prst="rect">
            <a:avLst/>
          </a:prstGeom>
          <a:noFill/>
          <a:ln/>
        </p:spPr>
        <p:txBody>
          <a:bodyPr wrap="square" lIns="0" tIns="0" rIns="0" bIns="0" rtlCol="0" anchor="t"/>
          <a:lstStyle/>
          <a:p>
            <a:pPr marL="0" indent="0" algn="l">
              <a:buNone/>
            </a:pPr>
            <a:r>
              <a:rPr lang="en-US" sz="3000" b="1" dirty="0">
                <a:solidFill>
                  <a:schemeClr val="accent1"/>
                </a:solidFill>
              </a:rPr>
              <a:t>THE PRECISION </a:t>
            </a:r>
            <a:r>
              <a:rPr lang="en-US" sz="3000" b="1" dirty="0">
                <a:solidFill>
                  <a:schemeClr val="bg1"/>
                </a:solidFill>
              </a:rPr>
              <a:t>RULE</a:t>
            </a:r>
            <a:endParaRPr lang="en-US" sz="3000" dirty="0"/>
          </a:p>
        </p:txBody>
      </p:sp>
      <p:sp>
        <p:nvSpPr>
          <p:cNvPr id="4" name="Text 2"/>
          <p:cNvSpPr txBox="1"/>
          <p:nvPr/>
        </p:nvSpPr>
        <p:spPr>
          <a:xfrm>
            <a:off x="548640" y="1554480"/>
            <a:ext cx="11064240" cy="365760"/>
          </a:xfrm>
          <a:prstGeom prst="rect">
            <a:avLst/>
          </a:prstGeom>
          <a:noFill/>
          <a:ln/>
        </p:spPr>
        <p:txBody>
          <a:bodyPr wrap="square" lIns="0" tIns="0" rIns="0" bIns="0" rtlCol="0" anchor="t"/>
          <a:lstStyle/>
          <a:p>
            <a:pPr marL="0" indent="0">
              <a:buNone/>
            </a:pPr>
            <a:r>
              <a:rPr lang="en-US" sz="1800" dirty="0">
                <a:solidFill>
                  <a:schemeClr val="bg2"/>
                </a:solidFill>
                <a:latin typeface="Arial" pitchFamily="34" charset="0"/>
                <a:ea typeface="Arial" pitchFamily="34" charset="-122"/>
                <a:cs typeface="Arial" pitchFamily="34" charset="-120"/>
              </a:rPr>
              <a:t>Every finding comes from scan data. If the scanner did not see it, the answer is unknown.</a:t>
            </a:r>
            <a:endParaRPr lang="en-US" sz="1800" dirty="0"/>
          </a:p>
        </p:txBody>
      </p:sp>
      <p:sp>
        <p:nvSpPr>
          <p:cNvPr id="5" name="Text 3"/>
          <p:cNvSpPr txBox="1"/>
          <p:nvPr/>
        </p:nvSpPr>
        <p:spPr>
          <a:xfrm>
            <a:off x="548640" y="2331720"/>
            <a:ext cx="3657600" cy="274320"/>
          </a:xfrm>
          <a:prstGeom prst="rect">
            <a:avLst/>
          </a:prstGeom>
          <a:noFill/>
          <a:ln/>
        </p:spPr>
        <p:txBody>
          <a:bodyPr wrap="square" lIns="0" tIns="0" rIns="0" bIns="0" rtlCol="0" anchor="t"/>
          <a:lstStyle/>
          <a:p>
            <a:pPr marL="0" indent="0">
              <a:buNone/>
            </a:pPr>
            <a:r>
              <a:rPr lang="en-US" sz="1200" b="1" kern="0" spc="100" dirty="0">
                <a:solidFill>
                  <a:schemeClr val="accent1"/>
                </a:solidFill>
                <a:latin typeface="Arial" pitchFamily="34" charset="0"/>
                <a:ea typeface="Arial" pitchFamily="34" charset="-122"/>
                <a:cs typeface="Arial" pitchFamily="34" charset="-120"/>
              </a:rPr>
              <a:t>STORAGE ACCOUNT</a:t>
            </a:r>
            <a:endParaRPr lang="en-US" sz="1200" dirty="0"/>
          </a:p>
        </p:txBody>
      </p:sp>
      <p:sp>
        <p:nvSpPr>
          <p:cNvPr id="6" name="resource name box"/>
          <p:cNvSpPr/>
          <p:nvPr/>
        </p:nvSpPr>
        <p:spPr>
          <a:xfrm>
            <a:off x="548640" y="2697480"/>
            <a:ext cx="3840480" cy="731520"/>
          </a:xfrm>
          <a:prstGeom prst="rect">
            <a:avLst/>
          </a:prstGeom>
          <a:solidFill>
            <a:schemeClr val="tx2"/>
          </a:solidFill>
          <a:ln w="12700">
            <a:solidFill>
              <a:schemeClr val="accent4"/>
            </a:solidFill>
            <a:prstDash val="solid"/>
          </a:ln>
        </p:spPr>
      </p:sp>
      <p:sp>
        <p:nvSpPr>
          <p:cNvPr id="7" name="Text 5"/>
          <p:cNvSpPr txBox="1"/>
          <p:nvPr/>
        </p:nvSpPr>
        <p:spPr>
          <a:xfrm>
            <a:off x="548640" y="2697480"/>
            <a:ext cx="3840480" cy="731520"/>
          </a:xfrm>
          <a:prstGeom prst="rect">
            <a:avLst/>
          </a:prstGeom>
          <a:noFill/>
          <a:ln/>
        </p:spPr>
        <p:txBody>
          <a:bodyPr wrap="square" lIns="0" tIns="0" rIns="0" bIns="0" rtlCol="0" anchor="ctr"/>
          <a:lstStyle/>
          <a:p>
            <a:pPr marL="0" indent="0" algn="ctr">
              <a:buNone/>
            </a:pPr>
            <a:r>
              <a:rPr lang="en-US" sz="1900" b="1" dirty="0">
                <a:solidFill>
                  <a:schemeClr val="bg1"/>
                </a:solidFill>
                <a:latin typeface="Courier New" pitchFamily="34" charset="0"/>
                <a:ea typeface="Courier New" pitchFamily="34" charset="-122"/>
                <a:cs typeface="Courier New" pitchFamily="34" charset="-120"/>
              </a:rPr>
              <a:t>prod-backup-private</a:t>
            </a:r>
            <a:endParaRPr lang="en-US" sz="1900" dirty="0"/>
          </a:p>
        </p:txBody>
      </p:sp>
      <p:sp>
        <p:nvSpPr>
          <p:cNvPr id="8" name="Text 6"/>
          <p:cNvSpPr txBox="1"/>
          <p:nvPr/>
        </p:nvSpPr>
        <p:spPr>
          <a:xfrm>
            <a:off x="548640" y="3657600"/>
            <a:ext cx="3840480" cy="1280160"/>
          </a:xfrm>
          <a:prstGeom prst="rect">
            <a:avLst/>
          </a:prstGeom>
          <a:noFill/>
          <a:ln/>
        </p:spPr>
        <p:txBody>
          <a:bodyPr wrap="square" lIns="0" tIns="0" rIns="0" bIns="0" rtlCol="0" anchor="t"/>
          <a:lstStyle/>
          <a:p>
            <a:pPr marL="0" indent="0">
              <a:buNone/>
            </a:pPr>
            <a:r>
              <a:rPr lang="en-US" sz="1600" i="1" dirty="0">
                <a:solidFill>
                  <a:schemeClr val="bg2"/>
                </a:solidFill>
                <a:latin typeface="Arial" pitchFamily="34" charset="0"/>
                <a:ea typeface="Arial" pitchFamily="34" charset="-122"/>
                <a:cs typeface="Arial" pitchFamily="34" charset="-120"/>
              </a:rPr>
              <a:t>Is it private? The name says so. The name is just a string someone typed.</a:t>
            </a:r>
            <a:endParaRPr lang="en-US" sz="1600" dirty="0"/>
          </a:p>
        </p:txBody>
      </p:sp>
      <p:graphicFrame>
        <p:nvGraphicFramePr>
          <p:cNvPr id="14" name="precision table"/>
          <p:cNvGraphicFramePr>
            <a:graphicFrameLocks noGrp="1"/>
          </p:cNvGraphicFramePr>
          <p:nvPr>
            <p:extLst>
              <p:ext uri="{D42A27DB-BD31-4B8C-83A1-F6EECF244321}">
                <p14:modId xmlns:p14="http://schemas.microsoft.com/office/powerpoint/2010/main" val="1579011935"/>
              </p:ext>
            </p:extLst>
          </p:nvPr>
        </p:nvGraphicFramePr>
        <p:xfrm>
          <a:off x="4937760" y="2331720"/>
          <a:ext cx="6675120" cy="914400"/>
        </p:xfrm>
        <a:graphic>
          <a:graphicData uri="http://schemas.openxmlformats.org/drawingml/2006/table">
            <a:tbl>
              <a:tblPr/>
              <a:tblGrid>
                <a:gridCol w="320040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tblGrid>
              <a:tr h="685800">
                <a:tc>
                  <a:txBody>
                    <a:bodyPr/>
                    <a:lstStyle/>
                    <a:p>
                      <a:pPr marL="0" indent="0">
                        <a:buNone/>
                      </a:pPr>
                      <a:r>
                        <a:rPr lang="en-US" sz="1400" b="1" dirty="0">
                          <a:solidFill>
                            <a:schemeClr val="bg1"/>
                          </a:solidFill>
                          <a:latin typeface="Arial" pitchFamily="34" charset="0"/>
                          <a:ea typeface="Arial" pitchFamily="34" charset="-122"/>
                          <a:cs typeface="Arial" pitchFamily="34" charset="-120"/>
                        </a:rPr>
                        <a:t>WHERE THE ANSWER COMES FROM</a:t>
                      </a:r>
                      <a:endParaRPr lang="en-US" sz="1400" dirty="0">
                        <a:latin typeface="Arial" charset="0"/>
                        <a:ea typeface="Arial" charset="0"/>
                        <a:cs typeface="Arial" charset="0"/>
                      </a:endParaRPr>
                    </a:p>
                  </a:txBody>
                  <a:tcPr marL="109728" marR="109728" marT="109728" marB="109728" anchor="ctr">
                    <a:lnL w="12700" cap="flat" cmpd="sng" algn="ctr">
                      <a:solidFill>
                        <a:srgbClr val="1E3A6E"/>
                      </a:solidFill>
                      <a:prstDash val="solid"/>
                      <a:round/>
                      <a:headEnd type="none" w="med" len="med"/>
                      <a:tailEnd type="none" w="med" len="med"/>
                    </a:lnL>
                    <a:lnR w="12700" cap="flat" cmpd="sng" algn="ctr">
                      <a:solidFill>
                        <a:srgbClr val="1E3A6E"/>
                      </a:solidFill>
                      <a:prstDash val="solid"/>
                      <a:round/>
                      <a:headEnd type="none" w="med" len="med"/>
                      <a:tailEnd type="none" w="med" len="med"/>
                    </a:lnR>
                    <a:lnT w="12700" cap="flat" cmpd="sng" algn="ctr">
                      <a:solidFill>
                        <a:srgbClr val="1E3A6E"/>
                      </a:solidFill>
                      <a:prstDash val="solid"/>
                      <a:round/>
                      <a:headEnd type="none" w="med" len="med"/>
                      <a:tailEnd type="none" w="med" len="med"/>
                    </a:lnT>
                    <a:lnB w="12700" cap="flat" cmpd="sng" algn="ctr">
                      <a:solidFill>
                        <a:srgbClr val="1E3A6E"/>
                      </a:solidFill>
                      <a:prstDash val="solid"/>
                      <a:round/>
                      <a:headEnd type="none" w="med" len="med"/>
                      <a:tailEnd type="none" w="med" len="med"/>
                    </a:lnB>
                    <a:solidFill>
                      <a:schemeClr val="accent2"/>
                    </a:solidFill>
                  </a:tcPr>
                </a:tc>
                <a:tc>
                  <a:txBody>
                    <a:bodyPr/>
                    <a:lstStyle/>
                    <a:p>
                      <a:pPr marL="0" indent="0">
                        <a:buNone/>
                      </a:pPr>
                      <a:r>
                        <a:rPr lang="en-US" sz="1400" b="1" dirty="0">
                          <a:solidFill>
                            <a:schemeClr val="bg1"/>
                          </a:solidFill>
                          <a:latin typeface="Arial" pitchFamily="34" charset="0"/>
                          <a:ea typeface="Arial" pitchFamily="34" charset="-122"/>
                          <a:cs typeface="Arial" pitchFamily="34" charset="-120"/>
                        </a:rPr>
                        <a:t>WHAT THE TOOL REPORTS</a:t>
                      </a:r>
                      <a:endParaRPr lang="en-US" sz="1400" dirty="0">
                        <a:latin typeface="Arial" charset="0"/>
                        <a:ea typeface="Arial" charset="0"/>
                        <a:cs typeface="Arial" charset="0"/>
                      </a:endParaRPr>
                    </a:p>
                  </a:txBody>
                  <a:tcPr marL="109728" marR="109728" marT="109728" marB="109728" anchor="ctr">
                    <a:lnL w="12700" cap="flat" cmpd="sng" algn="ctr">
                      <a:solidFill>
                        <a:srgbClr val="1E3A6E"/>
                      </a:solidFill>
                      <a:prstDash val="solid"/>
                      <a:round/>
                      <a:headEnd type="none" w="med" len="med"/>
                      <a:tailEnd type="none" w="med" len="med"/>
                    </a:lnL>
                    <a:lnR w="12700" cap="flat" cmpd="sng" algn="ctr">
                      <a:solidFill>
                        <a:srgbClr val="1E3A6E"/>
                      </a:solidFill>
                      <a:prstDash val="solid"/>
                      <a:round/>
                      <a:headEnd type="none" w="med" len="med"/>
                      <a:tailEnd type="none" w="med" len="med"/>
                    </a:lnR>
                    <a:lnT w="12700" cap="flat" cmpd="sng" algn="ctr">
                      <a:solidFill>
                        <a:srgbClr val="1E3A6E"/>
                      </a:solidFill>
                      <a:prstDash val="solid"/>
                      <a:round/>
                      <a:headEnd type="none" w="med" len="med"/>
                      <a:tailEnd type="none" w="med" len="med"/>
                    </a:lnT>
                    <a:lnB w="12700" cap="flat" cmpd="sng" algn="ctr">
                      <a:solidFill>
                        <a:srgbClr val="1E3A6E"/>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685800">
                <a:tc>
                  <a:txBody>
                    <a:bodyPr/>
                    <a:lstStyle/>
                    <a:p>
                      <a:pPr marL="0" indent="0">
                        <a:buNone/>
                      </a:pPr>
                      <a:r>
                        <a:rPr lang="en-US" sz="1500" dirty="0">
                          <a:solidFill>
                            <a:schemeClr val="bg1"/>
                          </a:solidFill>
                          <a:latin typeface="Arial" pitchFamily="34" charset="0"/>
                          <a:ea typeface="Arial" pitchFamily="34" charset="-122"/>
                          <a:cs typeface="Arial" pitchFamily="34" charset="-120"/>
                        </a:rPr>
                        <a:t>Guessed from the name</a:t>
                      </a:r>
                      <a:endParaRPr lang="en-US" sz="1500" dirty="0">
                        <a:latin typeface="Arial" charset="0"/>
                        <a:ea typeface="Arial" charset="0"/>
                        <a:cs typeface="Arial" charset="0"/>
                      </a:endParaRPr>
                    </a:p>
                  </a:txBody>
                  <a:tcPr marL="109728" marR="109728" marT="109728" marB="109728" anchor="ctr">
                    <a:lnL w="12700" cap="flat" cmpd="sng" algn="ctr">
                      <a:solidFill>
                        <a:srgbClr val="1E3A6E"/>
                      </a:solidFill>
                      <a:prstDash val="solid"/>
                      <a:round/>
                      <a:headEnd type="none" w="med" len="med"/>
                      <a:tailEnd type="none" w="med" len="med"/>
                    </a:lnL>
                    <a:lnR w="12700" cap="flat" cmpd="sng" algn="ctr">
                      <a:solidFill>
                        <a:srgbClr val="1E3A6E"/>
                      </a:solidFill>
                      <a:prstDash val="solid"/>
                      <a:round/>
                      <a:headEnd type="none" w="med" len="med"/>
                      <a:tailEnd type="none" w="med" len="med"/>
                    </a:lnR>
                    <a:lnT w="12700" cap="flat" cmpd="sng" algn="ctr">
                      <a:solidFill>
                        <a:srgbClr val="1E3A6E"/>
                      </a:solidFill>
                      <a:prstDash val="solid"/>
                      <a:round/>
                      <a:headEnd type="none" w="med" len="med"/>
                      <a:tailEnd type="none" w="med" len="med"/>
                    </a:lnT>
                    <a:lnB w="12700" cap="flat" cmpd="sng" algn="ctr">
                      <a:solidFill>
                        <a:srgbClr val="1E3A6E"/>
                      </a:solidFill>
                      <a:prstDash val="solid"/>
                      <a:round/>
                      <a:headEnd type="none" w="med" len="med"/>
                      <a:tailEnd type="none" w="med" len="med"/>
                    </a:lnB>
                    <a:solidFill>
                      <a:schemeClr val="tx2"/>
                    </a:solidFill>
                  </a:tcPr>
                </a:tc>
                <a:tc>
                  <a:txBody>
                    <a:bodyPr/>
                    <a:lstStyle/>
                    <a:p>
                      <a:pPr marL="0" indent="0">
                        <a:buNone/>
                      </a:pPr>
                      <a:r>
                        <a:rPr lang="en-US" sz="1500" dirty="0">
                          <a:solidFill>
                            <a:schemeClr val="bg2"/>
                          </a:solidFill>
                          <a:latin typeface="Arial" pitchFamily="34" charset="0"/>
                          <a:ea typeface="Arial" pitchFamily="34" charset="-122"/>
                          <a:cs typeface="Arial" pitchFamily="34" charset="-120"/>
                        </a:rPr>
                        <a:t>Nothing. Never used as evidence.</a:t>
                      </a:r>
                      <a:endParaRPr lang="en-US" sz="1500" dirty="0">
                        <a:latin typeface="Arial" charset="0"/>
                        <a:ea typeface="Arial" charset="0"/>
                        <a:cs typeface="Arial" charset="0"/>
                      </a:endParaRPr>
                    </a:p>
                  </a:txBody>
                  <a:tcPr marL="109728" marR="109728" marT="109728" marB="109728" anchor="ctr">
                    <a:lnL w="12700" cap="flat" cmpd="sng" algn="ctr">
                      <a:solidFill>
                        <a:srgbClr val="1E3A6E"/>
                      </a:solidFill>
                      <a:prstDash val="solid"/>
                      <a:round/>
                      <a:headEnd type="none" w="med" len="med"/>
                      <a:tailEnd type="none" w="med" len="med"/>
                    </a:lnL>
                    <a:lnR w="12700" cap="flat" cmpd="sng" algn="ctr">
                      <a:solidFill>
                        <a:srgbClr val="1E3A6E"/>
                      </a:solidFill>
                      <a:prstDash val="solid"/>
                      <a:round/>
                      <a:headEnd type="none" w="med" len="med"/>
                      <a:tailEnd type="none" w="med" len="med"/>
                    </a:lnR>
                    <a:lnT w="12700" cap="flat" cmpd="sng" algn="ctr">
                      <a:solidFill>
                        <a:srgbClr val="1E3A6E"/>
                      </a:solidFill>
                      <a:prstDash val="solid"/>
                      <a:round/>
                      <a:headEnd type="none" w="med" len="med"/>
                      <a:tailEnd type="none" w="med" len="med"/>
                    </a:lnT>
                    <a:lnB w="12700" cap="flat" cmpd="sng" algn="ctr">
                      <a:solidFill>
                        <a:srgbClr val="1E3A6E"/>
                      </a:solidFill>
                      <a:prstDash val="solid"/>
                      <a:round/>
                      <a:headEnd type="none" w="med" len="med"/>
                      <a:tailEnd type="none" w="med" len="med"/>
                    </a:lnB>
                    <a:solidFill>
                      <a:schemeClr val="tx2"/>
                    </a:solidFill>
                  </a:tcPr>
                </a:tc>
                <a:extLst>
                  <a:ext uri="{0D108BD9-81ED-4DB2-BD59-A6C34878D82A}">
                    <a16:rowId xmlns:a16="http://schemas.microsoft.com/office/drawing/2014/main" val="10001"/>
                  </a:ext>
                </a:extLst>
              </a:tr>
              <a:tr h="685800">
                <a:tc>
                  <a:txBody>
                    <a:bodyPr/>
                    <a:lstStyle/>
                    <a:p>
                      <a:pPr marL="0" indent="0">
                        <a:buNone/>
                      </a:pPr>
                      <a:r>
                        <a:rPr lang="en-US" sz="1500" dirty="0">
                          <a:solidFill>
                            <a:schemeClr val="bg1"/>
                          </a:solidFill>
                          <a:latin typeface="Arial" pitchFamily="34" charset="0"/>
                          <a:ea typeface="Arial" pitchFamily="34" charset="-122"/>
                          <a:cs typeface="Arial" pitchFamily="34" charset="-120"/>
                        </a:rPr>
                        <a:t>Read from the resource setting</a:t>
                      </a:r>
                      <a:endParaRPr lang="en-US" sz="1500" dirty="0">
                        <a:latin typeface="Arial" charset="0"/>
                        <a:ea typeface="Arial" charset="0"/>
                        <a:cs typeface="Arial" charset="0"/>
                      </a:endParaRPr>
                    </a:p>
                  </a:txBody>
                  <a:tcPr marL="109728" marR="109728" marT="109728" marB="109728" anchor="ctr">
                    <a:lnL w="12700" cap="flat" cmpd="sng" algn="ctr">
                      <a:solidFill>
                        <a:srgbClr val="1E3A6E"/>
                      </a:solidFill>
                      <a:prstDash val="solid"/>
                      <a:round/>
                      <a:headEnd type="none" w="med" len="med"/>
                      <a:tailEnd type="none" w="med" len="med"/>
                    </a:lnL>
                    <a:lnR w="12700" cap="flat" cmpd="sng" algn="ctr">
                      <a:solidFill>
                        <a:srgbClr val="1E3A6E"/>
                      </a:solidFill>
                      <a:prstDash val="solid"/>
                      <a:round/>
                      <a:headEnd type="none" w="med" len="med"/>
                      <a:tailEnd type="none" w="med" len="med"/>
                    </a:lnR>
                    <a:lnT w="12700" cap="flat" cmpd="sng" algn="ctr">
                      <a:solidFill>
                        <a:srgbClr val="1E3A6E"/>
                      </a:solidFill>
                      <a:prstDash val="solid"/>
                      <a:round/>
                      <a:headEnd type="none" w="med" len="med"/>
                      <a:tailEnd type="none" w="med" len="med"/>
                    </a:lnT>
                    <a:lnB w="12700" cap="flat" cmpd="sng" algn="ctr">
                      <a:solidFill>
                        <a:srgbClr val="1E3A6E"/>
                      </a:solidFill>
                      <a:prstDash val="solid"/>
                      <a:round/>
                      <a:headEnd type="none" w="med" len="med"/>
                      <a:tailEnd type="none" w="med" len="med"/>
                    </a:lnB>
                    <a:solidFill>
                      <a:schemeClr val="tx2"/>
                    </a:solidFill>
                  </a:tcPr>
                </a:tc>
                <a:tc>
                  <a:txBody>
                    <a:bodyPr/>
                    <a:lstStyle/>
                    <a:p>
                      <a:pPr marL="0" indent="0">
                        <a:buNone/>
                      </a:pPr>
                      <a:r>
                        <a:rPr lang="en-US" sz="1500" b="1" dirty="0">
                          <a:solidFill>
                            <a:schemeClr val="accent1"/>
                          </a:solidFill>
                          <a:latin typeface="Arial" pitchFamily="34" charset="0"/>
                          <a:ea typeface="Arial" pitchFamily="34" charset="-122"/>
                          <a:cs typeface="Arial" pitchFamily="34" charset="-120"/>
                        </a:rPr>
                        <a:t>Exactly what the setting says</a:t>
                      </a:r>
                      <a:endParaRPr lang="en-US" sz="1500" dirty="0">
                        <a:latin typeface="Arial" charset="0"/>
                        <a:ea typeface="Arial" charset="0"/>
                        <a:cs typeface="Arial" charset="0"/>
                      </a:endParaRPr>
                    </a:p>
                  </a:txBody>
                  <a:tcPr marL="109728" marR="109728" marT="109728" marB="109728" anchor="ctr">
                    <a:lnL w="12700" cap="flat" cmpd="sng" algn="ctr">
                      <a:solidFill>
                        <a:srgbClr val="1E3A6E"/>
                      </a:solidFill>
                      <a:prstDash val="solid"/>
                      <a:round/>
                      <a:headEnd type="none" w="med" len="med"/>
                      <a:tailEnd type="none" w="med" len="med"/>
                    </a:lnL>
                    <a:lnR w="12700" cap="flat" cmpd="sng" algn="ctr">
                      <a:solidFill>
                        <a:srgbClr val="1E3A6E"/>
                      </a:solidFill>
                      <a:prstDash val="solid"/>
                      <a:round/>
                      <a:headEnd type="none" w="med" len="med"/>
                      <a:tailEnd type="none" w="med" len="med"/>
                    </a:lnR>
                    <a:lnT w="12700" cap="flat" cmpd="sng" algn="ctr">
                      <a:solidFill>
                        <a:srgbClr val="1E3A6E"/>
                      </a:solidFill>
                      <a:prstDash val="solid"/>
                      <a:round/>
                      <a:headEnd type="none" w="med" len="med"/>
                      <a:tailEnd type="none" w="med" len="med"/>
                    </a:lnT>
                    <a:lnB w="12700" cap="flat" cmpd="sng" algn="ctr">
                      <a:solidFill>
                        <a:srgbClr val="1E3A6E"/>
                      </a:solidFill>
                      <a:prstDash val="solid"/>
                      <a:round/>
                      <a:headEnd type="none" w="med" len="med"/>
                      <a:tailEnd type="none" w="med" len="med"/>
                    </a:lnB>
                    <a:solidFill>
                      <a:schemeClr val="tx2"/>
                    </a:solidFill>
                  </a:tcPr>
                </a:tc>
                <a:extLst>
                  <a:ext uri="{0D108BD9-81ED-4DB2-BD59-A6C34878D82A}">
                    <a16:rowId xmlns:a16="http://schemas.microsoft.com/office/drawing/2014/main" val="10002"/>
                  </a:ext>
                </a:extLst>
              </a:tr>
              <a:tr h="685800">
                <a:tc>
                  <a:txBody>
                    <a:bodyPr/>
                    <a:lstStyle/>
                    <a:p>
                      <a:pPr marL="0" indent="0">
                        <a:buNone/>
                      </a:pPr>
                      <a:r>
                        <a:rPr lang="en-US" sz="1500" dirty="0">
                          <a:solidFill>
                            <a:schemeClr val="bg1"/>
                          </a:solidFill>
                          <a:latin typeface="Arial" pitchFamily="34" charset="0"/>
                          <a:ea typeface="Arial" pitchFamily="34" charset="-122"/>
                          <a:cs typeface="Arial" pitchFamily="34" charset="-120"/>
                        </a:rPr>
                        <a:t>Setting could not be read</a:t>
                      </a:r>
                      <a:endParaRPr lang="en-US" sz="1500" dirty="0">
                        <a:latin typeface="Arial" charset="0"/>
                        <a:ea typeface="Arial" charset="0"/>
                        <a:cs typeface="Arial" charset="0"/>
                      </a:endParaRPr>
                    </a:p>
                  </a:txBody>
                  <a:tcPr marL="109728" marR="109728" marT="109728" marB="109728" anchor="ctr">
                    <a:lnL w="12700" cap="flat" cmpd="sng" algn="ctr">
                      <a:solidFill>
                        <a:srgbClr val="1E3A6E"/>
                      </a:solidFill>
                      <a:prstDash val="solid"/>
                      <a:round/>
                      <a:headEnd type="none" w="med" len="med"/>
                      <a:tailEnd type="none" w="med" len="med"/>
                    </a:lnL>
                    <a:lnR w="12700" cap="flat" cmpd="sng" algn="ctr">
                      <a:solidFill>
                        <a:srgbClr val="1E3A6E"/>
                      </a:solidFill>
                      <a:prstDash val="solid"/>
                      <a:round/>
                      <a:headEnd type="none" w="med" len="med"/>
                      <a:tailEnd type="none" w="med" len="med"/>
                    </a:lnR>
                    <a:lnT w="12700" cap="flat" cmpd="sng" algn="ctr">
                      <a:solidFill>
                        <a:srgbClr val="1E3A6E"/>
                      </a:solidFill>
                      <a:prstDash val="solid"/>
                      <a:round/>
                      <a:headEnd type="none" w="med" len="med"/>
                      <a:tailEnd type="none" w="med" len="med"/>
                    </a:lnT>
                    <a:lnB w="12700" cap="flat" cmpd="sng" algn="ctr">
                      <a:solidFill>
                        <a:srgbClr val="1E3A6E"/>
                      </a:solidFill>
                      <a:prstDash val="solid"/>
                      <a:round/>
                      <a:headEnd type="none" w="med" len="med"/>
                      <a:tailEnd type="none" w="med" len="med"/>
                    </a:lnB>
                    <a:solidFill>
                      <a:schemeClr val="tx2"/>
                    </a:solidFill>
                  </a:tcPr>
                </a:tc>
                <a:tc>
                  <a:txBody>
                    <a:bodyPr/>
                    <a:lstStyle/>
                    <a:p>
                      <a:pPr marL="0" indent="0">
                        <a:buNone/>
                      </a:pPr>
                      <a:r>
                        <a:rPr lang="en-US" sz="1500" b="1" dirty="0">
                          <a:solidFill>
                            <a:schemeClr val="bg1"/>
                          </a:solidFill>
                          <a:latin typeface="Arial" pitchFamily="34" charset="0"/>
                          <a:ea typeface="Arial" pitchFamily="34" charset="-122"/>
                          <a:cs typeface="Arial" pitchFamily="34" charset="-120"/>
                        </a:rPr>
                        <a:t>UNKNOWN, so you go and check</a:t>
                      </a:r>
                      <a:endParaRPr lang="en-US" sz="1500" dirty="0">
                        <a:latin typeface="Arial" charset="0"/>
                        <a:ea typeface="Arial" charset="0"/>
                        <a:cs typeface="Arial" charset="0"/>
                      </a:endParaRPr>
                    </a:p>
                  </a:txBody>
                  <a:tcPr marL="109728" marR="109728" marT="109728" marB="109728" anchor="ctr">
                    <a:lnL w="12700" cap="flat" cmpd="sng" algn="ctr">
                      <a:solidFill>
                        <a:srgbClr val="1E3A6E"/>
                      </a:solidFill>
                      <a:prstDash val="solid"/>
                      <a:round/>
                      <a:headEnd type="none" w="med" len="med"/>
                      <a:tailEnd type="none" w="med" len="med"/>
                    </a:lnL>
                    <a:lnR w="12700" cap="flat" cmpd="sng" algn="ctr">
                      <a:solidFill>
                        <a:srgbClr val="1E3A6E"/>
                      </a:solidFill>
                      <a:prstDash val="solid"/>
                      <a:round/>
                      <a:headEnd type="none" w="med" len="med"/>
                      <a:tailEnd type="none" w="med" len="med"/>
                    </a:lnR>
                    <a:lnT w="12700" cap="flat" cmpd="sng" algn="ctr">
                      <a:solidFill>
                        <a:srgbClr val="1E3A6E"/>
                      </a:solidFill>
                      <a:prstDash val="solid"/>
                      <a:round/>
                      <a:headEnd type="none" w="med" len="med"/>
                      <a:tailEnd type="none" w="med" len="med"/>
                    </a:lnT>
                    <a:lnB w="12700" cap="flat" cmpd="sng" algn="ctr">
                      <a:solidFill>
                        <a:srgbClr val="1E3A6E"/>
                      </a:solidFill>
                      <a:prstDash val="solid"/>
                      <a:round/>
                      <a:headEnd type="none" w="med" len="med"/>
                      <a:tailEnd type="none" w="med" len="med"/>
                    </a:lnB>
                    <a:solidFill>
                      <a:schemeClr val="tx2"/>
                    </a:solidFill>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11155680" y="6382512"/>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latin typeface="Arial"/>
                <a:ea typeface="Arial"/>
                <a:cs typeface="Aria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1371600" y="365760"/>
            <a:ext cx="7315200" cy="274320"/>
          </a:xfrm>
          <a:prstGeom prst="rect">
            <a:avLst/>
          </a:prstGeom>
          <a:noFill/>
          <a:ln/>
        </p:spPr>
        <p:txBody>
          <a:bodyPr wrap="square" lIns="0" tIns="0" rIns="0" bIns="0" rtlCol="0" anchor="ctr"/>
          <a:lstStyle/>
          <a:p>
            <a:pPr marL="0" indent="0" algn="l">
              <a:buNone/>
            </a:pPr>
            <a:r>
              <a:rPr lang="en-US" sz="1200" b="1" kern="0" spc="200" dirty="0">
                <a:solidFill>
                  <a:schemeClr val="accent1"/>
                </a:solidFill>
                <a:latin typeface="Arial" pitchFamily="34" charset="0"/>
                <a:ea typeface="Arial" pitchFamily="34" charset="-122"/>
                <a:cs typeface="Arial" pitchFamily="34" charset="-120"/>
              </a:rPr>
              <a:t>13  ·  LESSONS</a:t>
            </a:r>
            <a:endParaRPr lang="en-US" sz="1200" dirty="0"/>
          </a:p>
        </p:txBody>
      </p:sp>
      <p:sp>
        <p:nvSpPr>
          <p:cNvPr id="3" name="Text 1"/>
          <p:cNvSpPr>
            <a:spLocks noGrp="1"/>
          </p:cNvSpPr>
          <p:nvPr>
            <p:ph type="title" idx="103" hasCustomPrompt="1"/>
          </p:nvPr>
        </p:nvSpPr>
        <p:spPr>
          <a:xfrm>
            <a:off x="548640" y="777240"/>
            <a:ext cx="11064240" cy="822960"/>
          </a:xfrm>
          <a:prstGeom prst="rect">
            <a:avLst/>
          </a:prstGeom>
          <a:noFill/>
          <a:ln/>
        </p:spPr>
        <p:txBody>
          <a:bodyPr wrap="square" lIns="0" tIns="0" rIns="0" bIns="0" rtlCol="0" anchor="t"/>
          <a:lstStyle/>
          <a:p>
            <a:pPr marL="0" indent="0" algn="l">
              <a:buNone/>
            </a:pPr>
            <a:r>
              <a:rPr lang="en-US" sz="3000" b="1" dirty="0">
                <a:solidFill>
                  <a:schemeClr val="accent1"/>
                </a:solidFill>
              </a:rPr>
              <a:t>LESSONS FROM A </a:t>
            </a:r>
            <a:r>
              <a:rPr lang="en-US" sz="3000" b="1" dirty="0">
                <a:solidFill>
                  <a:schemeClr val="bg1"/>
                </a:solidFill>
              </a:rPr>
              <a:t>LIVE SUBSCRIPTION</a:t>
            </a:r>
            <a:endParaRPr lang="en-US" sz="3000" dirty="0"/>
          </a:p>
        </p:txBody>
      </p:sp>
      <p:sp>
        <p:nvSpPr>
          <p:cNvPr id="4" name="Text 2"/>
          <p:cNvSpPr txBox="1"/>
          <p:nvPr/>
        </p:nvSpPr>
        <p:spPr>
          <a:xfrm>
            <a:off x="548640" y="1737360"/>
            <a:ext cx="3840480" cy="1645920"/>
          </a:xfrm>
          <a:prstGeom prst="rect">
            <a:avLst/>
          </a:prstGeom>
          <a:noFill/>
          <a:ln/>
        </p:spPr>
        <p:txBody>
          <a:bodyPr wrap="square" lIns="0" tIns="0" rIns="0" bIns="0" rtlCol="0" anchor="t"/>
          <a:lstStyle/>
          <a:p>
            <a:pPr marL="0" indent="0">
              <a:buNone/>
            </a:pPr>
            <a:r>
              <a:rPr lang="en-US" sz="9600" b="1" dirty="0">
                <a:solidFill>
                  <a:schemeClr val="accent1"/>
                </a:solidFill>
                <a:latin typeface="Arial" pitchFamily="34" charset="0"/>
                <a:ea typeface="Arial" pitchFamily="34" charset="-122"/>
                <a:cs typeface="Arial" pitchFamily="34" charset="-120"/>
              </a:rPr>
              <a:t>~15</a:t>
            </a:r>
            <a:endParaRPr lang="en-US" sz="9600" dirty="0"/>
          </a:p>
        </p:txBody>
      </p:sp>
      <p:sp>
        <p:nvSpPr>
          <p:cNvPr id="5" name="Text 3"/>
          <p:cNvSpPr txBox="1"/>
          <p:nvPr/>
        </p:nvSpPr>
        <p:spPr>
          <a:xfrm>
            <a:off x="548640" y="3566160"/>
            <a:ext cx="3657600" cy="1463040"/>
          </a:xfrm>
          <a:prstGeom prst="rect">
            <a:avLst/>
          </a:prstGeom>
          <a:noFill/>
          <a:ln/>
        </p:spPr>
        <p:txBody>
          <a:bodyPr wrap="square" lIns="0" tIns="0" rIns="0" bIns="0" rtlCol="0" anchor="t"/>
          <a:lstStyle/>
          <a:p>
            <a:pPr marL="0" indent="0">
              <a:buNone/>
            </a:pPr>
            <a:r>
              <a:rPr lang="en-US" sz="1700" dirty="0">
                <a:solidFill>
                  <a:schemeClr val="bg2"/>
                </a:solidFill>
                <a:latin typeface="Arial" pitchFamily="34" charset="0"/>
                <a:ea typeface="Arial" pitchFamily="34" charset="-122"/>
                <a:cs typeface="Arial" pitchFamily="34" charset="-120"/>
              </a:rPr>
              <a:t>rounds of bug fixes before I trusted the output. Every one found by comparing the graph to reality.</a:t>
            </a:r>
            <a:endParaRPr lang="en-US" sz="1700" dirty="0"/>
          </a:p>
        </p:txBody>
      </p:sp>
      <p:sp>
        <p:nvSpPr>
          <p:cNvPr id="6" name="Text 4"/>
          <p:cNvSpPr txBox="1"/>
          <p:nvPr/>
        </p:nvSpPr>
        <p:spPr>
          <a:xfrm>
            <a:off x="4937760" y="1828800"/>
            <a:ext cx="914400" cy="548640"/>
          </a:xfrm>
          <a:prstGeom prst="rect">
            <a:avLst/>
          </a:prstGeom>
          <a:noFill/>
          <a:ln/>
        </p:spPr>
        <p:txBody>
          <a:bodyPr wrap="square" lIns="0" tIns="0" rIns="0" bIns="0" rtlCol="0" anchor="t"/>
          <a:lstStyle/>
          <a:p>
            <a:pPr marL="0" indent="0">
              <a:buNone/>
            </a:pPr>
            <a:r>
              <a:rPr lang="en-US" sz="2400" b="1" dirty="0">
                <a:solidFill>
                  <a:schemeClr val="accent1"/>
                </a:solidFill>
                <a:latin typeface="Arial" pitchFamily="34" charset="0"/>
                <a:ea typeface="Arial" pitchFamily="34" charset="-122"/>
                <a:cs typeface="Arial" pitchFamily="34" charset="-120"/>
              </a:rPr>
              <a:t>01</a:t>
            </a:r>
            <a:endParaRPr lang="en-US" sz="2400" dirty="0"/>
          </a:p>
        </p:txBody>
      </p:sp>
      <p:sp>
        <p:nvSpPr>
          <p:cNvPr id="7" name="Text 5"/>
          <p:cNvSpPr txBox="1"/>
          <p:nvPr/>
        </p:nvSpPr>
        <p:spPr>
          <a:xfrm>
            <a:off x="5852160" y="1847088"/>
            <a:ext cx="5760720" cy="365760"/>
          </a:xfrm>
          <a:prstGeom prst="rect">
            <a:avLst/>
          </a:prstGeom>
          <a:noFill/>
          <a:ln/>
        </p:spPr>
        <p:txBody>
          <a:bodyPr wrap="square" lIns="0" tIns="0" rIns="0" bIns="0" rtlCol="0" anchor="t"/>
          <a:lstStyle/>
          <a:p>
            <a:pPr marL="0" indent="0">
              <a:buNone/>
            </a:pPr>
            <a:r>
              <a:rPr lang="en-US" sz="2000" b="1" dirty="0">
                <a:solidFill>
                  <a:schemeClr val="bg1"/>
                </a:solidFill>
                <a:latin typeface="Arial" pitchFamily="34" charset="0"/>
                <a:ea typeface="Arial" pitchFamily="34" charset="-122"/>
                <a:cs typeface="Arial" pitchFamily="34" charset="-120"/>
              </a:rPr>
              <a:t>Validate on real environments</a:t>
            </a:r>
            <a:endParaRPr lang="en-US" sz="2000" dirty="0"/>
          </a:p>
        </p:txBody>
      </p:sp>
      <p:sp>
        <p:nvSpPr>
          <p:cNvPr id="8" name="Text 6"/>
          <p:cNvSpPr txBox="1"/>
          <p:nvPr/>
        </p:nvSpPr>
        <p:spPr>
          <a:xfrm>
            <a:off x="5852160" y="2267712"/>
            <a:ext cx="5760720" cy="640080"/>
          </a:xfrm>
          <a:prstGeom prst="rect">
            <a:avLst/>
          </a:prstGeom>
          <a:noFill/>
          <a:ln/>
        </p:spPr>
        <p:txBody>
          <a:bodyPr wrap="square" lIns="0" tIns="0" rIns="0" bIns="0" rtlCol="0" anchor="t"/>
          <a:lstStyle/>
          <a:p>
            <a:pPr marL="0" indent="0">
              <a:buNone/>
            </a:pPr>
            <a:r>
              <a:rPr lang="en-US" sz="1500" dirty="0">
                <a:solidFill>
                  <a:schemeClr val="bg2"/>
                </a:solidFill>
                <a:latin typeface="Arial" pitchFamily="34" charset="0"/>
                <a:ea typeface="Arial" pitchFamily="34" charset="-122"/>
                <a:cs typeface="Arial" pitchFamily="34" charset="-120"/>
              </a:rPr>
              <a:t>Synthetic data would never have found these bugs.</a:t>
            </a:r>
            <a:endParaRPr lang="en-US" sz="1500" dirty="0"/>
          </a:p>
        </p:txBody>
      </p:sp>
      <p:sp>
        <p:nvSpPr>
          <p:cNvPr id="9" name="Text 7"/>
          <p:cNvSpPr txBox="1"/>
          <p:nvPr/>
        </p:nvSpPr>
        <p:spPr>
          <a:xfrm>
            <a:off x="4937760" y="3154680"/>
            <a:ext cx="914400" cy="548640"/>
          </a:xfrm>
          <a:prstGeom prst="rect">
            <a:avLst/>
          </a:prstGeom>
          <a:noFill/>
          <a:ln/>
        </p:spPr>
        <p:txBody>
          <a:bodyPr wrap="square" lIns="0" tIns="0" rIns="0" bIns="0" rtlCol="0" anchor="t"/>
          <a:lstStyle/>
          <a:p>
            <a:pPr marL="0" indent="0">
              <a:buNone/>
            </a:pPr>
            <a:r>
              <a:rPr lang="en-US" sz="2400" b="1" dirty="0">
                <a:solidFill>
                  <a:schemeClr val="accent1"/>
                </a:solidFill>
                <a:latin typeface="Arial" pitchFamily="34" charset="0"/>
                <a:ea typeface="Arial" pitchFamily="34" charset="-122"/>
                <a:cs typeface="Arial" pitchFamily="34" charset="-120"/>
              </a:rPr>
              <a:t>02</a:t>
            </a:r>
            <a:endParaRPr lang="en-US" sz="2400" dirty="0"/>
          </a:p>
        </p:txBody>
      </p:sp>
      <p:sp>
        <p:nvSpPr>
          <p:cNvPr id="10" name="Text 8"/>
          <p:cNvSpPr txBox="1"/>
          <p:nvPr/>
        </p:nvSpPr>
        <p:spPr>
          <a:xfrm>
            <a:off x="5852160" y="3172968"/>
            <a:ext cx="5760720" cy="365760"/>
          </a:xfrm>
          <a:prstGeom prst="rect">
            <a:avLst/>
          </a:prstGeom>
          <a:noFill/>
          <a:ln/>
        </p:spPr>
        <p:txBody>
          <a:bodyPr wrap="square" lIns="0" tIns="0" rIns="0" bIns="0" rtlCol="0" anchor="t"/>
          <a:lstStyle/>
          <a:p>
            <a:pPr marL="0" indent="0">
              <a:buNone/>
            </a:pPr>
            <a:r>
              <a:rPr lang="en-US" sz="2000" b="1" dirty="0">
                <a:solidFill>
                  <a:schemeClr val="bg1"/>
                </a:solidFill>
                <a:latin typeface="Arial" pitchFamily="34" charset="0"/>
                <a:ea typeface="Arial" pitchFamily="34" charset="-122"/>
                <a:cs typeface="Arial" pitchFamily="34" charset="-120"/>
              </a:rPr>
              <a:t>Follow the paging token</a:t>
            </a:r>
            <a:endParaRPr lang="en-US" sz="2000" dirty="0"/>
          </a:p>
        </p:txBody>
      </p:sp>
      <p:sp>
        <p:nvSpPr>
          <p:cNvPr id="11" name="Text 9"/>
          <p:cNvSpPr txBox="1"/>
          <p:nvPr/>
        </p:nvSpPr>
        <p:spPr>
          <a:xfrm>
            <a:off x="5852160" y="3593592"/>
            <a:ext cx="5760720" cy="640080"/>
          </a:xfrm>
          <a:prstGeom prst="rect">
            <a:avLst/>
          </a:prstGeom>
          <a:noFill/>
          <a:ln/>
        </p:spPr>
        <p:txBody>
          <a:bodyPr wrap="square" lIns="0" tIns="0" rIns="0" bIns="0" rtlCol="0" anchor="t"/>
          <a:lstStyle/>
          <a:p>
            <a:pPr marL="0" indent="0">
              <a:buNone/>
            </a:pPr>
            <a:r>
              <a:rPr lang="en-US" sz="1500" dirty="0">
                <a:solidFill>
                  <a:schemeClr val="bg2"/>
                </a:solidFill>
                <a:latin typeface="Arial" pitchFamily="34" charset="0"/>
                <a:ea typeface="Arial" pitchFamily="34" charset="-122"/>
                <a:cs typeface="Arial" pitchFamily="34" charset="-120"/>
              </a:rPr>
              <a:t>Resource Graph pages its results. Skip the token and you silently miss resources.</a:t>
            </a:r>
            <a:endParaRPr lang="en-US" sz="1500" dirty="0"/>
          </a:p>
        </p:txBody>
      </p:sp>
      <p:sp>
        <p:nvSpPr>
          <p:cNvPr id="12" name="Text 10"/>
          <p:cNvSpPr txBox="1"/>
          <p:nvPr/>
        </p:nvSpPr>
        <p:spPr>
          <a:xfrm>
            <a:off x="4937760" y="4480560"/>
            <a:ext cx="914400" cy="548640"/>
          </a:xfrm>
          <a:prstGeom prst="rect">
            <a:avLst/>
          </a:prstGeom>
          <a:noFill/>
          <a:ln/>
        </p:spPr>
        <p:txBody>
          <a:bodyPr wrap="square" lIns="0" tIns="0" rIns="0" bIns="0" rtlCol="0" anchor="t"/>
          <a:lstStyle/>
          <a:p>
            <a:pPr marL="0" indent="0">
              <a:buNone/>
            </a:pPr>
            <a:r>
              <a:rPr lang="en-US" sz="2400" b="1" dirty="0">
                <a:solidFill>
                  <a:schemeClr val="accent1"/>
                </a:solidFill>
                <a:latin typeface="Arial" pitchFamily="34" charset="0"/>
                <a:ea typeface="Arial" pitchFamily="34" charset="-122"/>
                <a:cs typeface="Arial" pitchFamily="34" charset="-120"/>
              </a:rPr>
              <a:t>03</a:t>
            </a:r>
            <a:endParaRPr lang="en-US" sz="2400" dirty="0"/>
          </a:p>
        </p:txBody>
      </p:sp>
      <p:sp>
        <p:nvSpPr>
          <p:cNvPr id="13" name="Text 11"/>
          <p:cNvSpPr txBox="1"/>
          <p:nvPr/>
        </p:nvSpPr>
        <p:spPr>
          <a:xfrm>
            <a:off x="5852160" y="4498848"/>
            <a:ext cx="5760720" cy="365760"/>
          </a:xfrm>
          <a:prstGeom prst="rect">
            <a:avLst/>
          </a:prstGeom>
          <a:noFill/>
          <a:ln/>
        </p:spPr>
        <p:txBody>
          <a:bodyPr wrap="square" lIns="0" tIns="0" rIns="0" bIns="0" rtlCol="0" anchor="t"/>
          <a:lstStyle/>
          <a:p>
            <a:pPr marL="0" indent="0">
              <a:buNone/>
            </a:pPr>
            <a:r>
              <a:rPr lang="en-US" sz="2000" b="1" dirty="0">
                <a:solidFill>
                  <a:schemeClr val="bg1"/>
                </a:solidFill>
                <a:latin typeface="Arial" pitchFamily="34" charset="0"/>
                <a:ea typeface="Arial" pitchFamily="34" charset="-122"/>
                <a:cs typeface="Arial" pitchFamily="34" charset="-120"/>
              </a:rPr>
              <a:t>Tame the noise</a:t>
            </a:r>
            <a:endParaRPr lang="en-US" sz="2000" dirty="0"/>
          </a:p>
        </p:txBody>
      </p:sp>
      <p:sp>
        <p:nvSpPr>
          <p:cNvPr id="14" name="Text 12"/>
          <p:cNvSpPr txBox="1"/>
          <p:nvPr/>
        </p:nvSpPr>
        <p:spPr>
          <a:xfrm>
            <a:off x="5852160" y="4919472"/>
            <a:ext cx="5760720" cy="640080"/>
          </a:xfrm>
          <a:prstGeom prst="rect">
            <a:avLst/>
          </a:prstGeom>
          <a:noFill/>
          <a:ln/>
        </p:spPr>
        <p:txBody>
          <a:bodyPr wrap="square" lIns="0" tIns="0" rIns="0" bIns="0" rtlCol="0" anchor="t"/>
          <a:lstStyle/>
          <a:p>
            <a:pPr marL="0" indent="0">
              <a:buNone/>
            </a:pPr>
            <a:r>
              <a:rPr lang="en-US" sz="1500" dirty="0">
                <a:solidFill>
                  <a:schemeClr val="bg2"/>
                </a:solidFill>
                <a:latin typeface="Arial" pitchFamily="34" charset="0"/>
                <a:ea typeface="Arial" pitchFamily="34" charset="-122"/>
                <a:cs typeface="Arial" pitchFamily="34" charset="-120"/>
              </a:rPr>
              <a:t>A raw graph of a big subscription is a hairball. Grouping and filtering matter.</a:t>
            </a:r>
            <a:endParaRPr lang="en-US" sz="1500" dirty="0"/>
          </a:p>
        </p:txBody>
      </p:sp>
      <p:sp>
        <p:nvSpPr>
          <p:cNvPr id="25" name="Slide Number Placeholder 0"/>
          <p:cNvSpPr>
            <a:spLocks noGrp="1"/>
          </p:cNvSpPr>
          <p:nvPr>
            <p:ph type="sldNum" sz="quarter" idx="4294967295"/>
          </p:nvPr>
        </p:nvSpPr>
        <p:spPr>
          <a:xfrm>
            <a:off x="11155680" y="6382512"/>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latin typeface="Arial"/>
                <a:ea typeface="Arial"/>
                <a:cs typeface="Aria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1371600" y="365760"/>
            <a:ext cx="7315200" cy="274320"/>
          </a:xfrm>
          <a:prstGeom prst="rect">
            <a:avLst/>
          </a:prstGeom>
          <a:noFill/>
          <a:ln/>
        </p:spPr>
        <p:txBody>
          <a:bodyPr wrap="square" lIns="0" tIns="0" rIns="0" bIns="0" rtlCol="0" anchor="ctr"/>
          <a:lstStyle/>
          <a:p>
            <a:pPr marL="0" indent="0" algn="l">
              <a:buNone/>
            </a:pPr>
            <a:r>
              <a:rPr lang="en-US" sz="1200" b="1" kern="0" spc="200" dirty="0">
                <a:solidFill>
                  <a:schemeClr val="accent1"/>
                </a:solidFill>
                <a:latin typeface="Arial" pitchFamily="34" charset="0"/>
                <a:ea typeface="Arial" pitchFamily="34" charset="-122"/>
                <a:cs typeface="Arial" pitchFamily="34" charset="-120"/>
              </a:rPr>
              <a:t>14  ·  ROADMAP</a:t>
            </a:r>
            <a:endParaRPr lang="en-US" sz="1200" dirty="0"/>
          </a:p>
        </p:txBody>
      </p:sp>
      <p:sp>
        <p:nvSpPr>
          <p:cNvPr id="3" name="Text 1"/>
          <p:cNvSpPr>
            <a:spLocks noGrp="1"/>
          </p:cNvSpPr>
          <p:nvPr>
            <p:ph type="title" idx="103" hasCustomPrompt="1"/>
          </p:nvPr>
        </p:nvSpPr>
        <p:spPr>
          <a:xfrm>
            <a:off x="548640" y="777240"/>
            <a:ext cx="11064240" cy="822960"/>
          </a:xfrm>
          <a:prstGeom prst="rect">
            <a:avLst/>
          </a:prstGeom>
          <a:noFill/>
          <a:ln/>
        </p:spPr>
        <p:txBody>
          <a:bodyPr wrap="square" lIns="0" tIns="0" rIns="0" bIns="0" rtlCol="0" anchor="t"/>
          <a:lstStyle/>
          <a:p>
            <a:pPr marL="0" indent="0" algn="l">
              <a:buNone/>
            </a:pPr>
            <a:r>
              <a:rPr lang="en-US" sz="3000" b="1" dirty="0">
                <a:solidFill>
                  <a:schemeClr val="accent1"/>
                </a:solidFill>
              </a:rPr>
              <a:t>THE SAME MAP, </a:t>
            </a:r>
            <a:r>
              <a:rPr lang="en-US" sz="3000" b="1" dirty="0">
                <a:solidFill>
                  <a:schemeClr val="bg1"/>
                </a:solidFill>
              </a:rPr>
              <a:t>TWO MORE QUESTIONS</a:t>
            </a:r>
            <a:endParaRPr lang="en-US" sz="3000" dirty="0"/>
          </a:p>
        </p:txBody>
      </p:sp>
      <p:sp>
        <p:nvSpPr>
          <p:cNvPr id="4" name="roadmap line"/>
          <p:cNvSpPr/>
          <p:nvPr/>
        </p:nvSpPr>
        <p:spPr>
          <a:xfrm>
            <a:off x="914400" y="2651760"/>
            <a:ext cx="10332720" cy="914"/>
          </a:xfrm>
          <a:prstGeom prst="line">
            <a:avLst/>
          </a:prstGeom>
          <a:noFill/>
          <a:ln w="25400">
            <a:solidFill>
              <a:schemeClr val="accent4"/>
            </a:solidFill>
            <a:prstDash val="solid"/>
          </a:ln>
        </p:spPr>
      </p:sp>
      <p:sp>
        <p:nvSpPr>
          <p:cNvPr id="5" name="roadmap node 0"/>
          <p:cNvSpPr/>
          <p:nvPr/>
        </p:nvSpPr>
        <p:spPr>
          <a:xfrm>
            <a:off x="740664" y="2478024"/>
            <a:ext cx="347472" cy="347472"/>
          </a:xfrm>
          <a:prstGeom prst="ellipse">
            <a:avLst/>
          </a:prstGeom>
          <a:solidFill>
            <a:schemeClr val="accent1"/>
          </a:solidFill>
          <a:ln w="25400">
            <a:solidFill>
              <a:schemeClr val="accent1"/>
            </a:solidFill>
            <a:prstDash val="solid"/>
          </a:ln>
        </p:spPr>
      </p:sp>
      <p:sp>
        <p:nvSpPr>
          <p:cNvPr id="6" name="Text 4"/>
          <p:cNvSpPr txBox="1"/>
          <p:nvPr/>
        </p:nvSpPr>
        <p:spPr>
          <a:xfrm>
            <a:off x="731520" y="1920240"/>
            <a:ext cx="1828800" cy="274320"/>
          </a:xfrm>
          <a:prstGeom prst="rect">
            <a:avLst/>
          </a:prstGeom>
          <a:noFill/>
          <a:ln/>
        </p:spPr>
        <p:txBody>
          <a:bodyPr wrap="square" lIns="0" tIns="0" rIns="0" bIns="0" rtlCol="0" anchor="t"/>
          <a:lstStyle/>
          <a:p>
            <a:pPr marL="0" indent="0">
              <a:buNone/>
            </a:pPr>
            <a:r>
              <a:rPr lang="en-US" sz="1200" b="1" kern="0" spc="100" dirty="0">
                <a:solidFill>
                  <a:schemeClr val="accent1"/>
                </a:solidFill>
                <a:latin typeface="Arial" pitchFamily="34" charset="0"/>
                <a:ea typeface="Arial" pitchFamily="34" charset="-122"/>
                <a:cs typeface="Arial" pitchFamily="34" charset="-120"/>
              </a:rPr>
              <a:t>TODAY</a:t>
            </a:r>
            <a:endParaRPr lang="en-US" sz="1200" dirty="0"/>
          </a:p>
        </p:txBody>
      </p:sp>
      <p:sp>
        <p:nvSpPr>
          <p:cNvPr id="7" name="Text 5"/>
          <p:cNvSpPr txBox="1"/>
          <p:nvPr/>
        </p:nvSpPr>
        <p:spPr>
          <a:xfrm>
            <a:off x="731520" y="3108960"/>
            <a:ext cx="3474720" cy="731520"/>
          </a:xfrm>
          <a:prstGeom prst="rect">
            <a:avLst/>
          </a:prstGeom>
          <a:noFill/>
          <a:ln/>
        </p:spPr>
        <p:txBody>
          <a:bodyPr wrap="square" lIns="0" tIns="0" rIns="0" bIns="0" rtlCol="0" anchor="t"/>
          <a:lstStyle/>
          <a:p>
            <a:pPr marL="0" indent="0">
              <a:buNone/>
            </a:pPr>
            <a:r>
              <a:rPr lang="en-US" sz="2000" b="1" dirty="0">
                <a:solidFill>
                  <a:schemeClr val="bg1"/>
                </a:solidFill>
                <a:latin typeface="Arial" pitchFamily="34" charset="0"/>
                <a:ea typeface="Arial" pitchFamily="34" charset="-122"/>
                <a:cs typeface="Arial" pitchFamily="34" charset="-120"/>
              </a:rPr>
              <a:t>Map and exposure</a:t>
            </a:r>
            <a:endParaRPr lang="en-US" sz="2000" dirty="0"/>
          </a:p>
        </p:txBody>
      </p:sp>
      <p:sp>
        <p:nvSpPr>
          <p:cNvPr id="8" name="Text 6"/>
          <p:cNvSpPr txBox="1"/>
          <p:nvPr/>
        </p:nvSpPr>
        <p:spPr>
          <a:xfrm>
            <a:off x="731520" y="3886200"/>
            <a:ext cx="3383280" cy="1280160"/>
          </a:xfrm>
          <a:prstGeom prst="rect">
            <a:avLst/>
          </a:prstGeom>
          <a:noFill/>
          <a:ln/>
        </p:spPr>
        <p:txBody>
          <a:bodyPr wrap="square" lIns="0" tIns="0" rIns="0" bIns="0" rtlCol="0" anchor="t"/>
          <a:lstStyle/>
          <a:p>
            <a:pPr marL="0" indent="0">
              <a:buNone/>
            </a:pPr>
            <a:r>
              <a:rPr lang="en-US" sz="1500" dirty="0">
                <a:solidFill>
                  <a:schemeClr val="bg2"/>
                </a:solidFill>
                <a:latin typeface="Arial" pitchFamily="34" charset="0"/>
                <a:ea typeface="Arial" pitchFamily="34" charset="-122"/>
                <a:cs typeface="Arial" pitchFamily="34" charset="-120"/>
              </a:rPr>
              <a:t>Interactive graph, exposed edges, blast radius</a:t>
            </a:r>
            <a:endParaRPr lang="en-US" sz="1500" dirty="0"/>
          </a:p>
        </p:txBody>
      </p:sp>
      <p:sp>
        <p:nvSpPr>
          <p:cNvPr id="9" name="roadmap node 1"/>
          <p:cNvSpPr/>
          <p:nvPr/>
        </p:nvSpPr>
        <p:spPr>
          <a:xfrm>
            <a:off x="4535424" y="2478024"/>
            <a:ext cx="347472" cy="347472"/>
          </a:xfrm>
          <a:prstGeom prst="ellipse">
            <a:avLst/>
          </a:prstGeom>
          <a:solidFill>
            <a:schemeClr val="tx1"/>
          </a:solidFill>
          <a:ln w="25400">
            <a:solidFill>
              <a:schemeClr val="accent1"/>
            </a:solidFill>
            <a:prstDash val="solid"/>
          </a:ln>
        </p:spPr>
      </p:sp>
      <p:sp>
        <p:nvSpPr>
          <p:cNvPr id="10" name="Text 8"/>
          <p:cNvSpPr txBox="1"/>
          <p:nvPr/>
        </p:nvSpPr>
        <p:spPr>
          <a:xfrm>
            <a:off x="4526280" y="1920240"/>
            <a:ext cx="1828800" cy="274320"/>
          </a:xfrm>
          <a:prstGeom prst="rect">
            <a:avLst/>
          </a:prstGeom>
          <a:noFill/>
          <a:ln/>
        </p:spPr>
        <p:txBody>
          <a:bodyPr wrap="square" lIns="0" tIns="0" rIns="0" bIns="0" rtlCol="0" anchor="t"/>
          <a:lstStyle/>
          <a:p>
            <a:pPr marL="0" indent="0">
              <a:buNone/>
            </a:pPr>
            <a:r>
              <a:rPr lang="en-US" sz="1200" b="1" kern="0" spc="100" dirty="0">
                <a:solidFill>
                  <a:schemeClr val="accent1"/>
                </a:solidFill>
                <a:latin typeface="Arial" pitchFamily="34" charset="0"/>
                <a:ea typeface="Arial" pitchFamily="34" charset="-122"/>
                <a:cs typeface="Arial" pitchFamily="34" charset="-120"/>
              </a:rPr>
              <a:t>NEXT</a:t>
            </a:r>
            <a:endParaRPr lang="en-US" sz="1200" dirty="0"/>
          </a:p>
        </p:txBody>
      </p:sp>
      <p:sp>
        <p:nvSpPr>
          <p:cNvPr id="11" name="Text 9"/>
          <p:cNvSpPr txBox="1"/>
          <p:nvPr/>
        </p:nvSpPr>
        <p:spPr>
          <a:xfrm>
            <a:off x="4526280" y="3108960"/>
            <a:ext cx="3474720" cy="731520"/>
          </a:xfrm>
          <a:prstGeom prst="rect">
            <a:avLst/>
          </a:prstGeom>
          <a:noFill/>
          <a:ln/>
        </p:spPr>
        <p:txBody>
          <a:bodyPr wrap="square" lIns="0" tIns="0" rIns="0" bIns="0" rtlCol="0" anchor="t"/>
          <a:lstStyle/>
          <a:p>
            <a:pPr marL="0" indent="0">
              <a:buNone/>
            </a:pPr>
            <a:r>
              <a:rPr lang="en-US" sz="2000" b="1" dirty="0">
                <a:solidFill>
                  <a:schemeClr val="bg1"/>
                </a:solidFill>
                <a:latin typeface="Arial" pitchFamily="34" charset="0"/>
                <a:ea typeface="Arial" pitchFamily="34" charset="-122"/>
                <a:cs typeface="Arial" pitchFamily="34" charset="-120"/>
              </a:rPr>
              <a:t>Defender for Cloud coverage</a:t>
            </a:r>
            <a:endParaRPr lang="en-US" sz="2000" dirty="0"/>
          </a:p>
        </p:txBody>
      </p:sp>
      <p:sp>
        <p:nvSpPr>
          <p:cNvPr id="12" name="Text 10"/>
          <p:cNvSpPr txBox="1"/>
          <p:nvPr/>
        </p:nvSpPr>
        <p:spPr>
          <a:xfrm>
            <a:off x="4526280" y="3886200"/>
            <a:ext cx="3383280" cy="1280160"/>
          </a:xfrm>
          <a:prstGeom prst="rect">
            <a:avLst/>
          </a:prstGeom>
          <a:noFill/>
          <a:ln/>
        </p:spPr>
        <p:txBody>
          <a:bodyPr wrap="square" lIns="0" tIns="0" rIns="0" bIns="0" rtlCol="0" anchor="t"/>
          <a:lstStyle/>
          <a:p>
            <a:pPr marL="0" indent="0">
              <a:buNone/>
            </a:pPr>
            <a:r>
              <a:rPr lang="en-US" sz="1500" dirty="0">
                <a:solidFill>
                  <a:schemeClr val="bg2"/>
                </a:solidFill>
                <a:latin typeface="Arial" pitchFamily="34" charset="0"/>
                <a:ea typeface="Arial" pitchFamily="34" charset="-122"/>
                <a:cs typeface="Arial" pitchFamily="34" charset="-120"/>
              </a:rPr>
              <a:t>Which Defender plans protect which resources. Gaps in protection become gaps in the graph.</a:t>
            </a:r>
            <a:endParaRPr lang="en-US" sz="1500" dirty="0"/>
          </a:p>
        </p:txBody>
      </p:sp>
      <p:sp>
        <p:nvSpPr>
          <p:cNvPr id="13" name="roadmap node 2"/>
          <p:cNvSpPr/>
          <p:nvPr/>
        </p:nvSpPr>
        <p:spPr>
          <a:xfrm>
            <a:off x="8330184" y="2478024"/>
            <a:ext cx="347472" cy="347472"/>
          </a:xfrm>
          <a:prstGeom prst="ellipse">
            <a:avLst/>
          </a:prstGeom>
          <a:solidFill>
            <a:schemeClr val="tx1"/>
          </a:solidFill>
          <a:ln w="25400">
            <a:solidFill>
              <a:schemeClr val="accent1"/>
            </a:solidFill>
            <a:prstDash val="solid"/>
          </a:ln>
        </p:spPr>
      </p:sp>
      <p:sp>
        <p:nvSpPr>
          <p:cNvPr id="14" name="Text 12"/>
          <p:cNvSpPr txBox="1"/>
          <p:nvPr/>
        </p:nvSpPr>
        <p:spPr>
          <a:xfrm>
            <a:off x="8321040" y="1920240"/>
            <a:ext cx="1828800" cy="274320"/>
          </a:xfrm>
          <a:prstGeom prst="rect">
            <a:avLst/>
          </a:prstGeom>
          <a:noFill/>
          <a:ln/>
        </p:spPr>
        <p:txBody>
          <a:bodyPr wrap="square" lIns="0" tIns="0" rIns="0" bIns="0" rtlCol="0" anchor="t"/>
          <a:lstStyle/>
          <a:p>
            <a:pPr marL="0" indent="0">
              <a:buNone/>
            </a:pPr>
            <a:r>
              <a:rPr lang="en-US" sz="1200" b="1" kern="0" spc="100" dirty="0">
                <a:solidFill>
                  <a:schemeClr val="accent1"/>
                </a:solidFill>
                <a:latin typeface="Arial" pitchFamily="34" charset="0"/>
                <a:ea typeface="Arial" pitchFamily="34" charset="-122"/>
                <a:cs typeface="Arial" pitchFamily="34" charset="-120"/>
              </a:rPr>
              <a:t>NEXT</a:t>
            </a:r>
            <a:endParaRPr lang="en-US" sz="1200" dirty="0"/>
          </a:p>
        </p:txBody>
      </p:sp>
      <p:sp>
        <p:nvSpPr>
          <p:cNvPr id="15" name="Text 13"/>
          <p:cNvSpPr txBox="1"/>
          <p:nvPr/>
        </p:nvSpPr>
        <p:spPr>
          <a:xfrm>
            <a:off x="8321040" y="3108960"/>
            <a:ext cx="3474720" cy="731520"/>
          </a:xfrm>
          <a:prstGeom prst="rect">
            <a:avLst/>
          </a:prstGeom>
          <a:noFill/>
          <a:ln/>
        </p:spPr>
        <p:txBody>
          <a:bodyPr wrap="square" lIns="0" tIns="0" rIns="0" bIns="0" rtlCol="0" anchor="t"/>
          <a:lstStyle/>
          <a:p>
            <a:pPr marL="0" indent="0">
              <a:buNone/>
            </a:pPr>
            <a:r>
              <a:rPr lang="en-US" sz="2000" b="1" dirty="0">
                <a:solidFill>
                  <a:schemeClr val="bg1"/>
                </a:solidFill>
                <a:latin typeface="Arial" pitchFamily="34" charset="0"/>
                <a:ea typeface="Arial" pitchFamily="34" charset="-122"/>
                <a:cs typeface="Arial" pitchFamily="34" charset="-120"/>
              </a:rPr>
              <a:t>Log flow into Sentinel</a:t>
            </a:r>
            <a:endParaRPr lang="en-US" sz="2000" dirty="0"/>
          </a:p>
        </p:txBody>
      </p:sp>
      <p:sp>
        <p:nvSpPr>
          <p:cNvPr id="16" name="Text 14"/>
          <p:cNvSpPr txBox="1"/>
          <p:nvPr/>
        </p:nvSpPr>
        <p:spPr>
          <a:xfrm>
            <a:off x="8321040" y="3886200"/>
            <a:ext cx="3383280" cy="1280160"/>
          </a:xfrm>
          <a:prstGeom prst="rect">
            <a:avLst/>
          </a:prstGeom>
          <a:noFill/>
          <a:ln/>
        </p:spPr>
        <p:txBody>
          <a:bodyPr wrap="square" lIns="0" tIns="0" rIns="0" bIns="0" rtlCol="0" anchor="t"/>
          <a:lstStyle/>
          <a:p>
            <a:pPr marL="0" indent="0">
              <a:buNone/>
            </a:pPr>
            <a:r>
              <a:rPr lang="en-US" sz="1500" dirty="0">
                <a:solidFill>
                  <a:schemeClr val="bg2"/>
                </a:solidFill>
                <a:latin typeface="Arial" pitchFamily="34" charset="0"/>
                <a:ea typeface="Arial" pitchFamily="34" charset="-122"/>
                <a:cs typeface="Arial" pitchFamily="34" charset="-120"/>
              </a:rPr>
              <a:t>Which resources actually send logs to your workspace. See where your SOC is blind.</a:t>
            </a:r>
            <a:endParaRPr lang="en-US" sz="1500" dirty="0"/>
          </a:p>
        </p:txBody>
      </p:sp>
      <p:sp>
        <p:nvSpPr>
          <p:cNvPr id="17" name="status tag"/>
          <p:cNvSpPr/>
          <p:nvPr/>
        </p:nvSpPr>
        <p:spPr>
          <a:xfrm>
            <a:off x="731520" y="5257800"/>
            <a:ext cx="4572000" cy="438912"/>
          </a:xfrm>
          <a:prstGeom prst="roundRect">
            <a:avLst>
              <a:gd name="adj" fmla="val 10417"/>
            </a:avLst>
          </a:prstGeom>
          <a:solidFill>
            <a:schemeClr val="accent2"/>
          </a:solidFill>
          <a:ln w="12700">
            <a:solidFill>
              <a:schemeClr val="accent1"/>
            </a:solidFill>
            <a:prstDash val="solid"/>
          </a:ln>
        </p:spPr>
      </p:sp>
      <p:sp>
        <p:nvSpPr>
          <p:cNvPr id="18" name="status tag text"/>
          <p:cNvSpPr txBox="1"/>
          <p:nvPr/>
        </p:nvSpPr>
        <p:spPr>
          <a:xfrm>
            <a:off x="731520" y="5257800"/>
            <a:ext cx="4572000" cy="438912"/>
          </a:xfrm>
          <a:prstGeom prst="rect">
            <a:avLst/>
          </a:prstGeom>
          <a:noFill/>
          <a:ln/>
        </p:spPr>
        <p:txBody>
          <a:bodyPr wrap="square" lIns="0" tIns="0" rIns="0" bIns="0" rtlCol="0" anchor="ctr"/>
          <a:lstStyle/>
          <a:p>
            <a:pPr marL="0" indent="0" algn="ctr">
              <a:buNone/>
            </a:pPr>
            <a:r>
              <a:rPr lang="en-US" sz="1300" b="1" dirty="0">
                <a:solidFill>
                  <a:schemeClr val="bg1"/>
                </a:solidFill>
                <a:latin typeface="Arial" pitchFamily="34" charset="0"/>
                <a:ea typeface="Arial" pitchFamily="34" charset="-122"/>
                <a:cs typeface="Arial" pitchFamily="34" charset="-120"/>
              </a:rPr>
              <a:t>NEXT PHASE: DESIGNED, NOT BUILT YET</a:t>
            </a:r>
            <a:endParaRPr lang="en-US" sz="1300" dirty="0"/>
          </a:p>
        </p:txBody>
      </p:sp>
      <p:sp>
        <p:nvSpPr>
          <p:cNvPr id="25" name="Slide Number Placeholder 0"/>
          <p:cNvSpPr>
            <a:spLocks noGrp="1"/>
          </p:cNvSpPr>
          <p:nvPr>
            <p:ph type="sldNum" sz="quarter" idx="4294967295"/>
          </p:nvPr>
        </p:nvSpPr>
        <p:spPr>
          <a:xfrm>
            <a:off x="11155680" y="6382512"/>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latin typeface="Arial"/>
                <a:ea typeface="Arial"/>
                <a:cs typeface="Aria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a:spLocks noGrp="1"/>
          </p:cNvSpPr>
          <p:nvPr>
            <p:ph type="body" idx="102" hasCustomPrompt="1"/>
          </p:nvPr>
        </p:nvSpPr>
        <p:spPr>
          <a:xfrm>
            <a:off x="1371600" y="365760"/>
            <a:ext cx="7315200" cy="274320"/>
          </a:xfrm>
          <a:prstGeom prst="rect">
            <a:avLst/>
          </a:prstGeom>
          <a:noFill/>
          <a:ln/>
        </p:spPr>
        <p:txBody>
          <a:bodyPr wrap="square" lIns="0" tIns="0" rIns="0" bIns="0" rtlCol="0" anchor="ctr"/>
          <a:lstStyle/>
          <a:p>
            <a:pPr marL="0" indent="0" algn="l">
              <a:buNone/>
            </a:pPr>
            <a:r>
              <a:rPr lang="en-US" sz="1200" b="1" kern="0" spc="200" dirty="0">
                <a:solidFill>
                  <a:schemeClr val="accent1"/>
                </a:solidFill>
                <a:latin typeface="Arial" pitchFamily="34" charset="0"/>
                <a:ea typeface="Arial" pitchFamily="34" charset="-122"/>
                <a:cs typeface="Arial" pitchFamily="34" charset="-120"/>
              </a:rPr>
              <a:t>15  ·  TAKEAWAYS</a:t>
            </a:r>
            <a:endParaRPr lang="en-US" sz="1200" dirty="0"/>
          </a:p>
        </p:txBody>
      </p:sp>
      <p:sp>
        <p:nvSpPr>
          <p:cNvPr id="3" name="Text 1"/>
          <p:cNvSpPr>
            <a:spLocks noGrp="1"/>
          </p:cNvSpPr>
          <p:nvPr>
            <p:ph type="title" idx="103" hasCustomPrompt="1"/>
          </p:nvPr>
        </p:nvSpPr>
        <p:spPr>
          <a:xfrm>
            <a:off x="548640" y="777240"/>
            <a:ext cx="11064240" cy="822960"/>
          </a:xfrm>
          <a:prstGeom prst="rect">
            <a:avLst/>
          </a:prstGeom>
          <a:noFill/>
          <a:ln/>
        </p:spPr>
        <p:txBody>
          <a:bodyPr wrap="square" lIns="0" tIns="0" rIns="0" bIns="0" rtlCol="0" anchor="t"/>
          <a:lstStyle/>
          <a:p>
            <a:pPr marL="0" indent="0" algn="l">
              <a:buNone/>
            </a:pPr>
            <a:r>
              <a:rPr lang="en-US" sz="3000" b="1" dirty="0">
                <a:solidFill>
                  <a:schemeClr val="accent1"/>
                </a:solidFill>
              </a:rPr>
              <a:t>THREE THINGS </a:t>
            </a:r>
            <a:r>
              <a:rPr lang="en-US" sz="3000" b="1" dirty="0">
                <a:solidFill>
                  <a:schemeClr val="bg1"/>
                </a:solidFill>
              </a:rPr>
              <a:t>TO TAKE HOME</a:t>
            </a:r>
            <a:endParaRPr lang="en-US" sz="3000" dirty="0"/>
          </a:p>
        </p:txBody>
      </p:sp>
      <p:sp>
        <p:nvSpPr>
          <p:cNvPr id="4" name="Text 2"/>
          <p:cNvSpPr txBox="1"/>
          <p:nvPr/>
        </p:nvSpPr>
        <p:spPr>
          <a:xfrm>
            <a:off x="548640" y="1828800"/>
            <a:ext cx="1188720" cy="822960"/>
          </a:xfrm>
          <a:prstGeom prst="rect">
            <a:avLst/>
          </a:prstGeom>
          <a:noFill/>
          <a:ln/>
        </p:spPr>
        <p:txBody>
          <a:bodyPr wrap="square" lIns="0" tIns="0" rIns="0" bIns="0" rtlCol="0" anchor="t"/>
          <a:lstStyle/>
          <a:p>
            <a:pPr marL="0" indent="0">
              <a:buNone/>
            </a:pPr>
            <a:r>
              <a:rPr lang="en-US" sz="4000" b="1" dirty="0">
                <a:solidFill>
                  <a:schemeClr val="accent1"/>
                </a:solidFill>
                <a:latin typeface="Arial" pitchFamily="34" charset="0"/>
                <a:ea typeface="Arial" pitchFamily="34" charset="-122"/>
                <a:cs typeface="Arial" pitchFamily="34" charset="-120"/>
              </a:rPr>
              <a:t>01</a:t>
            </a:r>
            <a:endParaRPr lang="en-US" sz="4000" dirty="0"/>
          </a:p>
        </p:txBody>
      </p:sp>
      <p:sp>
        <p:nvSpPr>
          <p:cNvPr id="5" name="Text 3"/>
          <p:cNvSpPr txBox="1"/>
          <p:nvPr/>
        </p:nvSpPr>
        <p:spPr>
          <a:xfrm>
            <a:off x="1920240" y="1874520"/>
            <a:ext cx="9692640" cy="457200"/>
          </a:xfrm>
          <a:prstGeom prst="rect">
            <a:avLst/>
          </a:prstGeom>
          <a:noFill/>
          <a:ln/>
        </p:spPr>
        <p:txBody>
          <a:bodyPr wrap="square" lIns="0" tIns="0" rIns="0" bIns="0" rtlCol="0" anchor="t"/>
          <a:lstStyle/>
          <a:p>
            <a:pPr marL="0" indent="0">
              <a:buNone/>
            </a:pPr>
            <a:r>
              <a:rPr lang="en-US" sz="2400" b="1" dirty="0">
                <a:solidFill>
                  <a:schemeClr val="bg1"/>
                </a:solidFill>
                <a:latin typeface="Arial" pitchFamily="34" charset="0"/>
                <a:ea typeface="Arial" pitchFamily="34" charset="-122"/>
                <a:cs typeface="Arial" pitchFamily="34" charset="-120"/>
              </a:rPr>
              <a:t>Attackers think in graphs.</a:t>
            </a:r>
            <a:endParaRPr lang="en-US" sz="2400" dirty="0"/>
          </a:p>
        </p:txBody>
      </p:sp>
      <p:sp>
        <p:nvSpPr>
          <p:cNvPr id="6" name="Text 4"/>
          <p:cNvSpPr txBox="1"/>
          <p:nvPr/>
        </p:nvSpPr>
        <p:spPr>
          <a:xfrm>
            <a:off x="1920240" y="2377440"/>
            <a:ext cx="9692640" cy="411480"/>
          </a:xfrm>
          <a:prstGeom prst="rect">
            <a:avLst/>
          </a:prstGeom>
          <a:noFill/>
          <a:ln/>
        </p:spPr>
        <p:txBody>
          <a:bodyPr wrap="square" lIns="0" tIns="0" rIns="0" bIns="0" rtlCol="0" anchor="t"/>
          <a:lstStyle/>
          <a:p>
            <a:pPr marL="0" indent="0">
              <a:buNone/>
            </a:pPr>
            <a:r>
              <a:rPr lang="en-US" sz="1800" dirty="0">
                <a:solidFill>
                  <a:schemeClr val="bg2"/>
                </a:solidFill>
                <a:latin typeface="Arial" pitchFamily="34" charset="0"/>
                <a:ea typeface="Arial" pitchFamily="34" charset="-122"/>
                <a:cs typeface="Arial" pitchFamily="34" charset="-120"/>
              </a:rPr>
              <a:t>Give your defenders a graph.</a:t>
            </a:r>
            <a:endParaRPr lang="en-US" sz="1800" dirty="0"/>
          </a:p>
        </p:txBody>
      </p:sp>
      <p:sp>
        <p:nvSpPr>
          <p:cNvPr id="7" name="Text 5"/>
          <p:cNvSpPr txBox="1"/>
          <p:nvPr/>
        </p:nvSpPr>
        <p:spPr>
          <a:xfrm>
            <a:off x="548640" y="3200400"/>
            <a:ext cx="1188720" cy="822960"/>
          </a:xfrm>
          <a:prstGeom prst="rect">
            <a:avLst/>
          </a:prstGeom>
          <a:noFill/>
          <a:ln/>
        </p:spPr>
        <p:txBody>
          <a:bodyPr wrap="square" lIns="0" tIns="0" rIns="0" bIns="0" rtlCol="0" anchor="t"/>
          <a:lstStyle/>
          <a:p>
            <a:pPr marL="0" indent="0">
              <a:buNone/>
            </a:pPr>
            <a:r>
              <a:rPr lang="en-US" sz="4000" b="1" dirty="0">
                <a:solidFill>
                  <a:schemeClr val="accent1"/>
                </a:solidFill>
                <a:latin typeface="Arial" pitchFamily="34" charset="0"/>
                <a:ea typeface="Arial" pitchFamily="34" charset="-122"/>
                <a:cs typeface="Arial" pitchFamily="34" charset="-120"/>
              </a:rPr>
              <a:t>02</a:t>
            </a:r>
            <a:endParaRPr lang="en-US" sz="4000" dirty="0"/>
          </a:p>
        </p:txBody>
      </p:sp>
      <p:sp>
        <p:nvSpPr>
          <p:cNvPr id="8" name="Text 6"/>
          <p:cNvSpPr txBox="1"/>
          <p:nvPr/>
        </p:nvSpPr>
        <p:spPr>
          <a:xfrm>
            <a:off x="1920240" y="3246120"/>
            <a:ext cx="9692640" cy="457200"/>
          </a:xfrm>
          <a:prstGeom prst="rect">
            <a:avLst/>
          </a:prstGeom>
          <a:noFill/>
          <a:ln/>
        </p:spPr>
        <p:txBody>
          <a:bodyPr wrap="square" lIns="0" tIns="0" rIns="0" bIns="0" rtlCol="0" anchor="t"/>
          <a:lstStyle/>
          <a:p>
            <a:pPr marL="0" indent="0">
              <a:buNone/>
            </a:pPr>
            <a:r>
              <a:rPr lang="en-US" sz="2400" b="1" dirty="0">
                <a:solidFill>
                  <a:schemeClr val="bg1"/>
                </a:solidFill>
                <a:latin typeface="Arial" pitchFamily="34" charset="0"/>
                <a:ea typeface="Arial" pitchFamily="34" charset="-122"/>
                <a:cs typeface="Arial" pitchFamily="34" charset="-120"/>
              </a:rPr>
              <a:t>MCP puts AI on your environment</a:t>
            </a:r>
            <a:endParaRPr lang="en-US" sz="2400" dirty="0"/>
          </a:p>
        </p:txBody>
      </p:sp>
      <p:sp>
        <p:nvSpPr>
          <p:cNvPr id="9" name="Text 7"/>
          <p:cNvSpPr txBox="1"/>
          <p:nvPr/>
        </p:nvSpPr>
        <p:spPr>
          <a:xfrm>
            <a:off x="1920240" y="3749040"/>
            <a:ext cx="9692640" cy="411480"/>
          </a:xfrm>
          <a:prstGeom prst="rect">
            <a:avLst/>
          </a:prstGeom>
          <a:noFill/>
          <a:ln/>
        </p:spPr>
        <p:txBody>
          <a:bodyPr wrap="square" lIns="0" tIns="0" rIns="0" bIns="0" rtlCol="0" anchor="t"/>
          <a:lstStyle/>
          <a:p>
            <a:pPr marL="0" indent="0">
              <a:buNone/>
            </a:pPr>
            <a:r>
              <a:rPr lang="en-US" sz="1800" dirty="0">
                <a:solidFill>
                  <a:schemeClr val="bg2"/>
                </a:solidFill>
                <a:latin typeface="Arial" pitchFamily="34" charset="0"/>
                <a:ea typeface="Arial" pitchFamily="34" charset="-122"/>
                <a:cs typeface="Arial" pitchFamily="34" charset="-120"/>
              </a:rPr>
              <a:t>with guardrails written in code, not prompts.</a:t>
            </a:r>
            <a:endParaRPr lang="en-US" sz="1800" dirty="0"/>
          </a:p>
        </p:txBody>
      </p:sp>
      <p:sp>
        <p:nvSpPr>
          <p:cNvPr id="10" name="Text 8"/>
          <p:cNvSpPr txBox="1"/>
          <p:nvPr/>
        </p:nvSpPr>
        <p:spPr>
          <a:xfrm>
            <a:off x="548640" y="4572000"/>
            <a:ext cx="1188720" cy="822960"/>
          </a:xfrm>
          <a:prstGeom prst="rect">
            <a:avLst/>
          </a:prstGeom>
          <a:noFill/>
          <a:ln/>
        </p:spPr>
        <p:txBody>
          <a:bodyPr wrap="square" lIns="0" tIns="0" rIns="0" bIns="0" rtlCol="0" anchor="t"/>
          <a:lstStyle/>
          <a:p>
            <a:pPr marL="0" indent="0">
              <a:buNone/>
            </a:pPr>
            <a:r>
              <a:rPr lang="en-US" sz="4000" b="1" dirty="0">
                <a:solidFill>
                  <a:schemeClr val="accent1"/>
                </a:solidFill>
                <a:latin typeface="Arial" pitchFamily="34" charset="0"/>
                <a:ea typeface="Arial" pitchFamily="34" charset="-122"/>
                <a:cs typeface="Arial" pitchFamily="34" charset="-120"/>
              </a:rPr>
              <a:t>03</a:t>
            </a:r>
            <a:endParaRPr lang="en-US" sz="4000" dirty="0"/>
          </a:p>
        </p:txBody>
      </p:sp>
      <p:sp>
        <p:nvSpPr>
          <p:cNvPr id="11" name="Text 9"/>
          <p:cNvSpPr txBox="1"/>
          <p:nvPr/>
        </p:nvSpPr>
        <p:spPr>
          <a:xfrm>
            <a:off x="1920240" y="4617720"/>
            <a:ext cx="9692640" cy="457200"/>
          </a:xfrm>
          <a:prstGeom prst="rect">
            <a:avLst/>
          </a:prstGeom>
          <a:noFill/>
          <a:ln/>
        </p:spPr>
        <p:txBody>
          <a:bodyPr wrap="square" lIns="0" tIns="0" rIns="0" bIns="0" rtlCol="0" anchor="t"/>
          <a:lstStyle/>
          <a:p>
            <a:pPr marL="0" indent="0">
              <a:buNone/>
            </a:pPr>
            <a:r>
              <a:rPr lang="en-US" sz="2400" b="1" dirty="0">
                <a:solidFill>
                  <a:schemeClr val="bg1"/>
                </a:solidFill>
                <a:latin typeface="Arial" pitchFamily="34" charset="0"/>
                <a:ea typeface="Arial" pitchFamily="34" charset="-122"/>
                <a:cs typeface="Arial" pitchFamily="34" charset="-120"/>
              </a:rPr>
              <a:t>Read-only, leak detection, precision.</a:t>
            </a:r>
            <a:endParaRPr lang="en-US" sz="2400" dirty="0"/>
          </a:p>
        </p:txBody>
      </p:sp>
      <p:sp>
        <p:nvSpPr>
          <p:cNvPr id="12" name="Text 10"/>
          <p:cNvSpPr txBox="1"/>
          <p:nvPr/>
        </p:nvSpPr>
        <p:spPr>
          <a:xfrm>
            <a:off x="1920240" y="5120640"/>
            <a:ext cx="9692640" cy="411480"/>
          </a:xfrm>
          <a:prstGeom prst="rect">
            <a:avLst/>
          </a:prstGeom>
          <a:noFill/>
          <a:ln/>
        </p:spPr>
        <p:txBody>
          <a:bodyPr wrap="square" lIns="0" tIns="0" rIns="0" bIns="0" rtlCol="0" anchor="t"/>
          <a:lstStyle/>
          <a:p>
            <a:pPr marL="0" indent="0">
              <a:buNone/>
            </a:pPr>
            <a:r>
              <a:rPr lang="en-US" sz="1800" dirty="0">
                <a:solidFill>
                  <a:schemeClr val="bg2"/>
                </a:solidFill>
                <a:latin typeface="Arial" pitchFamily="34" charset="0"/>
                <a:ea typeface="Arial" pitchFamily="34" charset="-122"/>
                <a:cs typeface="Arial" pitchFamily="34" charset="-120"/>
              </a:rPr>
              <a:t>Not extras. They are what makes the tool trustworthy.</a:t>
            </a:r>
            <a:endParaRPr lang="en-US" sz="1800" dirty="0"/>
          </a:p>
        </p:txBody>
      </p:sp>
      <p:sp>
        <p:nvSpPr>
          <p:cNvPr id="25" name="Slide Number Placeholder 0"/>
          <p:cNvSpPr>
            <a:spLocks noGrp="1"/>
          </p:cNvSpPr>
          <p:nvPr>
            <p:ph type="sldNum" sz="quarter" idx="4294967295"/>
          </p:nvPr>
        </p:nvSpPr>
        <p:spPr>
          <a:xfrm>
            <a:off x="11155680" y="6382512"/>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latin typeface="Arial"/>
                <a:ea typeface="Arial"/>
                <a:cs typeface="Aria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640080" y="1280160"/>
            <a:ext cx="6583680" cy="914400"/>
          </a:xfrm>
          <a:prstGeom prst="rect">
            <a:avLst/>
          </a:prstGeom>
          <a:noFill/>
          <a:ln/>
        </p:spPr>
        <p:txBody>
          <a:bodyPr wrap="square" lIns="0" tIns="0" rIns="0" bIns="0" rtlCol="0" anchor="t"/>
          <a:lstStyle/>
          <a:p>
            <a:pPr marL="0" indent="0" algn="l">
              <a:buNone/>
            </a:pPr>
            <a:r>
              <a:rPr lang="en-US" sz="5400" b="1" dirty="0">
                <a:solidFill>
                  <a:schemeClr val="accent1"/>
                </a:solidFill>
              </a:rPr>
              <a:t>THANK </a:t>
            </a:r>
            <a:r>
              <a:rPr lang="en-US" sz="5400" b="1" dirty="0">
                <a:solidFill>
                  <a:schemeClr val="bg1"/>
                </a:solidFill>
              </a:rPr>
              <a:t>YOU</a:t>
            </a:r>
            <a:endParaRPr lang="en-US" sz="5400" dirty="0"/>
          </a:p>
        </p:txBody>
      </p:sp>
      <p:sp>
        <p:nvSpPr>
          <p:cNvPr id="3" name="Text 1"/>
          <p:cNvSpPr>
            <a:spLocks noGrp="1"/>
          </p:cNvSpPr>
          <p:nvPr>
            <p:ph type="body" idx="102" hasCustomPrompt="1"/>
          </p:nvPr>
        </p:nvSpPr>
        <p:spPr>
          <a:xfrm>
            <a:off x="640080" y="2468880"/>
            <a:ext cx="6217920" cy="1097280"/>
          </a:xfrm>
          <a:prstGeom prst="rect">
            <a:avLst/>
          </a:prstGeom>
          <a:noFill/>
          <a:ln/>
        </p:spPr>
        <p:txBody>
          <a:bodyPr wrap="square" lIns="0" tIns="0" rIns="0" bIns="0" rtlCol="0" anchor="t"/>
          <a:lstStyle/>
          <a:p>
            <a:pPr marL="0" indent="0" algn="l">
              <a:buNone/>
            </a:pPr>
            <a:r>
              <a:rPr lang="en-US" sz="2400" b="1" dirty="0">
                <a:solidFill>
                  <a:schemeClr val="bg1"/>
                </a:solidFill>
                <a:latin typeface="Arial" pitchFamily="34" charset="0"/>
                <a:ea typeface="Arial" pitchFamily="34" charset="-122"/>
                <a:cs typeface="Arial" pitchFamily="34" charset="-120"/>
              </a:rPr>
              <a:t>Questions?</a:t>
            </a:r>
            <a:endParaRPr lang="en-US" sz="2400" dirty="0"/>
          </a:p>
        </p:txBody>
      </p:sp>
      <p:sp>
        <p:nvSpPr>
          <p:cNvPr id="4" name="Text 2"/>
          <p:cNvSpPr txBox="1"/>
          <p:nvPr/>
        </p:nvSpPr>
        <p:spPr>
          <a:xfrm>
            <a:off x="640080" y="3108960"/>
            <a:ext cx="6217920" cy="731520"/>
          </a:xfrm>
          <a:prstGeom prst="rect">
            <a:avLst/>
          </a:prstGeom>
          <a:noFill/>
          <a:ln/>
        </p:spPr>
        <p:txBody>
          <a:bodyPr wrap="square" lIns="0" tIns="0" rIns="0" bIns="0" rtlCol="0" anchor="t"/>
          <a:lstStyle/>
          <a:p>
            <a:pPr marL="0" indent="0">
              <a:buNone/>
            </a:pPr>
            <a:r>
              <a:rPr lang="en-US" sz="1600" dirty="0">
                <a:solidFill>
                  <a:schemeClr val="bg2"/>
                </a:solidFill>
                <a:latin typeface="Arial" pitchFamily="34" charset="0"/>
                <a:ea typeface="Arial" pitchFamily="34" charset="-122"/>
                <a:cs typeface="Arial" pitchFamily="34" charset="-120"/>
              </a:rPr>
              <a:t>Thank you to Nicholas and the Microsoft Azure Community User Group for the opportunity.</a:t>
            </a:r>
            <a:endParaRPr lang="en-US" sz="1600" dirty="0"/>
          </a:p>
        </p:txBody>
      </p:sp>
      <p:sp>
        <p:nvSpPr>
          <p:cNvPr id="5" name="end tag"/>
          <p:cNvSpPr/>
          <p:nvPr/>
        </p:nvSpPr>
        <p:spPr>
          <a:xfrm>
            <a:off x="640080" y="4160520"/>
            <a:ext cx="3108960" cy="457200"/>
          </a:xfrm>
          <a:prstGeom prst="roundRect">
            <a:avLst>
              <a:gd name="adj" fmla="val 10000"/>
            </a:avLst>
          </a:prstGeom>
          <a:solidFill>
            <a:schemeClr val="accent2"/>
          </a:solidFill>
          <a:ln w="12700">
            <a:solidFill>
              <a:schemeClr val="accent1"/>
            </a:solidFill>
            <a:prstDash val="solid"/>
          </a:ln>
        </p:spPr>
      </p:sp>
      <p:sp>
        <p:nvSpPr>
          <p:cNvPr id="6" name="end tag text"/>
          <p:cNvSpPr txBox="1"/>
          <p:nvPr/>
        </p:nvSpPr>
        <p:spPr>
          <a:xfrm>
            <a:off x="640080" y="4160520"/>
            <a:ext cx="3108960" cy="457200"/>
          </a:xfrm>
          <a:prstGeom prst="rect">
            <a:avLst/>
          </a:prstGeom>
          <a:noFill/>
          <a:ln/>
        </p:spPr>
        <p:txBody>
          <a:bodyPr wrap="square" lIns="0" tIns="0" rIns="0" bIns="0" rtlCol="0" anchor="ctr"/>
          <a:lstStyle/>
          <a:p>
            <a:pPr marL="0" indent="0" algn="ctr">
              <a:buNone/>
            </a:pPr>
            <a:r>
              <a:rPr lang="en-US" sz="1600" b="1" dirty="0">
                <a:solidFill>
                  <a:schemeClr val="bg1"/>
                </a:solidFill>
                <a:latin typeface="Arial" pitchFamily="34" charset="0"/>
                <a:ea typeface="Arial" pitchFamily="34" charset="-122"/>
                <a:cs typeface="Arial" pitchFamily="34" charset="-120"/>
              </a:rPr>
              <a:t>Konstantinos Lianos</a:t>
            </a:r>
            <a:endParaRPr lang="en-US" sz="1600" dirty="0"/>
          </a:p>
        </p:txBody>
      </p:sp>
      <p:sp>
        <p:nvSpPr>
          <p:cNvPr id="7" name="Text 5"/>
          <p:cNvSpPr txBox="1"/>
          <p:nvPr/>
        </p:nvSpPr>
        <p:spPr>
          <a:xfrm>
            <a:off x="3977640" y="4160520"/>
            <a:ext cx="3657600" cy="457200"/>
          </a:xfrm>
          <a:prstGeom prst="rect">
            <a:avLst/>
          </a:prstGeom>
          <a:noFill/>
          <a:ln/>
        </p:spPr>
        <p:txBody>
          <a:bodyPr wrap="square" lIns="0" tIns="0" rIns="0" bIns="0" rtlCol="0" anchor="ctr"/>
          <a:lstStyle/>
          <a:p>
            <a:pPr marL="0" indent="0">
              <a:buNone/>
            </a:pPr>
            <a:r>
              <a:rPr lang="en-US" sz="1500" b="1" dirty="0">
                <a:solidFill>
                  <a:schemeClr val="bg1"/>
                </a:solidFill>
                <a:latin typeface="Arial" pitchFamily="34" charset="0"/>
                <a:ea typeface="Arial" pitchFamily="34" charset="-122"/>
                <a:cs typeface="Arial" pitchFamily="34" charset="-120"/>
              </a:rPr>
              <a:t>LinkedIn  ·  GitHub: KanenasCS</a:t>
            </a:r>
            <a:endParaRPr lang="en-US" sz="1500" dirty="0"/>
          </a:p>
        </p:txBody>
      </p:sp>
      <p:sp>
        <p:nvSpPr>
          <p:cNvPr id="8" name="motif edge 0"/>
          <p:cNvSpPr/>
          <p:nvPr/>
        </p:nvSpPr>
        <p:spPr>
          <a:xfrm flipV="1">
            <a:off x="7223760" y="1476756"/>
            <a:ext cx="1344168" cy="1056132"/>
          </a:xfrm>
          <a:prstGeom prst="line">
            <a:avLst/>
          </a:prstGeom>
          <a:noFill/>
          <a:ln w="15875">
            <a:solidFill>
              <a:schemeClr val="accent4"/>
            </a:solidFill>
            <a:prstDash val="solid"/>
          </a:ln>
        </p:spPr>
      </p:sp>
      <p:sp>
        <p:nvSpPr>
          <p:cNvPr id="9" name="motif edge 1"/>
          <p:cNvSpPr/>
          <p:nvPr/>
        </p:nvSpPr>
        <p:spPr>
          <a:xfrm>
            <a:off x="7223760" y="2532888"/>
            <a:ext cx="1440180" cy="672084"/>
          </a:xfrm>
          <a:prstGeom prst="line">
            <a:avLst/>
          </a:prstGeom>
          <a:noFill/>
          <a:ln w="15875">
            <a:solidFill>
              <a:schemeClr val="accent4"/>
            </a:solidFill>
            <a:prstDash val="solid"/>
          </a:ln>
        </p:spPr>
      </p:sp>
      <p:sp>
        <p:nvSpPr>
          <p:cNvPr id="10" name="motif edge 2"/>
          <p:cNvSpPr/>
          <p:nvPr/>
        </p:nvSpPr>
        <p:spPr>
          <a:xfrm>
            <a:off x="8567928" y="1476756"/>
            <a:ext cx="1440180" cy="768096"/>
          </a:xfrm>
          <a:prstGeom prst="line">
            <a:avLst/>
          </a:prstGeom>
          <a:noFill/>
          <a:ln w="15875">
            <a:solidFill>
              <a:schemeClr val="accent4"/>
            </a:solidFill>
            <a:prstDash val="solid"/>
          </a:ln>
        </p:spPr>
      </p:sp>
      <p:sp>
        <p:nvSpPr>
          <p:cNvPr id="11" name="motif edge 3"/>
          <p:cNvSpPr/>
          <p:nvPr/>
        </p:nvSpPr>
        <p:spPr>
          <a:xfrm flipV="1">
            <a:off x="8663940" y="2244852"/>
            <a:ext cx="1344168" cy="960120"/>
          </a:xfrm>
          <a:prstGeom prst="line">
            <a:avLst/>
          </a:prstGeom>
          <a:noFill/>
          <a:ln w="15875">
            <a:solidFill>
              <a:schemeClr val="accent4"/>
            </a:solidFill>
            <a:prstDash val="solid"/>
          </a:ln>
        </p:spPr>
      </p:sp>
      <p:sp>
        <p:nvSpPr>
          <p:cNvPr id="12" name="motif edge 4"/>
          <p:cNvSpPr/>
          <p:nvPr/>
        </p:nvSpPr>
        <p:spPr>
          <a:xfrm flipH="1">
            <a:off x="8471916" y="3204972"/>
            <a:ext cx="192024" cy="1344168"/>
          </a:xfrm>
          <a:prstGeom prst="line">
            <a:avLst/>
          </a:prstGeom>
          <a:noFill/>
          <a:ln w="15875">
            <a:solidFill>
              <a:schemeClr val="accent4"/>
            </a:solidFill>
            <a:prstDash val="solid"/>
          </a:ln>
        </p:spPr>
      </p:sp>
      <p:sp>
        <p:nvSpPr>
          <p:cNvPr id="13" name="motif edge 5"/>
          <p:cNvSpPr/>
          <p:nvPr/>
        </p:nvSpPr>
        <p:spPr>
          <a:xfrm flipV="1">
            <a:off x="10008108" y="1380744"/>
            <a:ext cx="1248156" cy="864108"/>
          </a:xfrm>
          <a:prstGeom prst="line">
            <a:avLst/>
          </a:prstGeom>
          <a:noFill/>
          <a:ln w="15875">
            <a:solidFill>
              <a:schemeClr val="accent4"/>
            </a:solidFill>
            <a:prstDash val="solid"/>
          </a:ln>
        </p:spPr>
      </p:sp>
      <p:sp>
        <p:nvSpPr>
          <p:cNvPr id="14" name="motif edge 6"/>
          <p:cNvSpPr/>
          <p:nvPr/>
        </p:nvSpPr>
        <p:spPr>
          <a:xfrm>
            <a:off x="10008108" y="2244852"/>
            <a:ext cx="1440180" cy="864108"/>
          </a:xfrm>
          <a:prstGeom prst="line">
            <a:avLst/>
          </a:prstGeom>
          <a:noFill/>
          <a:ln w="15875">
            <a:solidFill>
              <a:schemeClr val="accent4"/>
            </a:solidFill>
            <a:prstDash val="solid"/>
          </a:ln>
        </p:spPr>
      </p:sp>
      <p:sp>
        <p:nvSpPr>
          <p:cNvPr id="15" name="motif edge 7"/>
          <p:cNvSpPr/>
          <p:nvPr/>
        </p:nvSpPr>
        <p:spPr>
          <a:xfrm flipV="1">
            <a:off x="10104120" y="3108960"/>
            <a:ext cx="1344168" cy="864108"/>
          </a:xfrm>
          <a:prstGeom prst="line">
            <a:avLst/>
          </a:prstGeom>
          <a:noFill/>
          <a:ln w="15875">
            <a:solidFill>
              <a:schemeClr val="accent4"/>
            </a:solidFill>
            <a:prstDash val="solid"/>
          </a:ln>
        </p:spPr>
      </p:sp>
      <p:sp>
        <p:nvSpPr>
          <p:cNvPr id="16" name="motif edge 8"/>
          <p:cNvSpPr/>
          <p:nvPr/>
        </p:nvSpPr>
        <p:spPr>
          <a:xfrm>
            <a:off x="10104120" y="3973068"/>
            <a:ext cx="672084" cy="768096"/>
          </a:xfrm>
          <a:prstGeom prst="line">
            <a:avLst/>
          </a:prstGeom>
          <a:noFill/>
          <a:ln w="15875">
            <a:solidFill>
              <a:schemeClr val="accent4"/>
            </a:solidFill>
            <a:prstDash val="solid"/>
          </a:ln>
        </p:spPr>
      </p:sp>
      <p:sp>
        <p:nvSpPr>
          <p:cNvPr id="17" name="motif edge 9"/>
          <p:cNvSpPr/>
          <p:nvPr/>
        </p:nvSpPr>
        <p:spPr>
          <a:xfrm flipV="1">
            <a:off x="8471916" y="3973068"/>
            <a:ext cx="1632204" cy="576072"/>
          </a:xfrm>
          <a:prstGeom prst="line">
            <a:avLst/>
          </a:prstGeom>
          <a:noFill/>
          <a:ln w="15875">
            <a:solidFill>
              <a:schemeClr val="accent4"/>
            </a:solidFill>
            <a:prstDash val="solid"/>
          </a:ln>
        </p:spPr>
      </p:sp>
      <p:sp>
        <p:nvSpPr>
          <p:cNvPr id="18" name="motif edge 10"/>
          <p:cNvSpPr/>
          <p:nvPr/>
        </p:nvSpPr>
        <p:spPr>
          <a:xfrm flipV="1">
            <a:off x="8567928" y="1380744"/>
            <a:ext cx="2688336" cy="96012"/>
          </a:xfrm>
          <a:prstGeom prst="line">
            <a:avLst/>
          </a:prstGeom>
          <a:noFill/>
          <a:ln w="15875">
            <a:solidFill>
              <a:schemeClr val="accent4"/>
            </a:solidFill>
            <a:prstDash val="solid"/>
          </a:ln>
        </p:spPr>
      </p:sp>
      <p:sp>
        <p:nvSpPr>
          <p:cNvPr id="19" name="motif edge 11"/>
          <p:cNvSpPr/>
          <p:nvPr/>
        </p:nvSpPr>
        <p:spPr>
          <a:xfrm>
            <a:off x="11448288" y="3108960"/>
            <a:ext cx="192024" cy="1152144"/>
          </a:xfrm>
          <a:prstGeom prst="line">
            <a:avLst/>
          </a:prstGeom>
          <a:noFill/>
          <a:ln w="15875">
            <a:solidFill>
              <a:schemeClr val="accent4"/>
            </a:solidFill>
            <a:prstDash val="solid"/>
          </a:ln>
        </p:spPr>
      </p:sp>
      <p:sp>
        <p:nvSpPr>
          <p:cNvPr id="20" name="motif edge 12"/>
          <p:cNvSpPr/>
          <p:nvPr/>
        </p:nvSpPr>
        <p:spPr>
          <a:xfrm flipV="1">
            <a:off x="10776204" y="4261104"/>
            <a:ext cx="864108" cy="480060"/>
          </a:xfrm>
          <a:prstGeom prst="line">
            <a:avLst/>
          </a:prstGeom>
          <a:noFill/>
          <a:ln w="15875">
            <a:solidFill>
              <a:schemeClr val="accent4"/>
            </a:solidFill>
            <a:prstDash val="solid"/>
          </a:ln>
        </p:spPr>
      </p:sp>
      <p:sp>
        <p:nvSpPr>
          <p:cNvPr id="21" name="motif node 0"/>
          <p:cNvSpPr/>
          <p:nvPr/>
        </p:nvSpPr>
        <p:spPr>
          <a:xfrm>
            <a:off x="7031736" y="2340864"/>
            <a:ext cx="384048" cy="384048"/>
          </a:xfrm>
          <a:prstGeom prst="ellipse">
            <a:avLst/>
          </a:prstGeom>
          <a:solidFill>
            <a:schemeClr val="tx1"/>
          </a:solidFill>
          <a:ln w="25400">
            <a:solidFill>
              <a:schemeClr val="accent3"/>
            </a:solidFill>
            <a:prstDash val="solid"/>
          </a:ln>
        </p:spPr>
      </p:sp>
      <p:sp>
        <p:nvSpPr>
          <p:cNvPr id="22" name="motif node 1"/>
          <p:cNvSpPr/>
          <p:nvPr/>
        </p:nvSpPr>
        <p:spPr>
          <a:xfrm>
            <a:off x="8443112" y="1351940"/>
            <a:ext cx="249631" cy="249631"/>
          </a:xfrm>
          <a:prstGeom prst="ellipse">
            <a:avLst/>
          </a:prstGeom>
          <a:solidFill>
            <a:schemeClr val="tx1"/>
          </a:solidFill>
          <a:ln w="25400">
            <a:solidFill>
              <a:schemeClr val="accent3"/>
            </a:solidFill>
            <a:prstDash val="solid"/>
          </a:ln>
        </p:spPr>
      </p:sp>
      <p:sp>
        <p:nvSpPr>
          <p:cNvPr id="23" name="motif node 2"/>
          <p:cNvSpPr/>
          <p:nvPr/>
        </p:nvSpPr>
        <p:spPr>
          <a:xfrm>
            <a:off x="8539124" y="3080156"/>
            <a:ext cx="249631" cy="249631"/>
          </a:xfrm>
          <a:prstGeom prst="ellipse">
            <a:avLst/>
          </a:prstGeom>
          <a:solidFill>
            <a:schemeClr val="tx1"/>
          </a:solidFill>
          <a:ln w="25400">
            <a:solidFill>
              <a:schemeClr val="accent3"/>
            </a:solidFill>
            <a:prstDash val="solid"/>
          </a:ln>
        </p:spPr>
      </p:sp>
      <p:sp>
        <p:nvSpPr>
          <p:cNvPr id="24" name="motif node 3"/>
          <p:cNvSpPr/>
          <p:nvPr/>
        </p:nvSpPr>
        <p:spPr>
          <a:xfrm>
            <a:off x="9883292" y="2120036"/>
            <a:ext cx="249631" cy="249631"/>
          </a:xfrm>
          <a:prstGeom prst="ellipse">
            <a:avLst/>
          </a:prstGeom>
          <a:solidFill>
            <a:schemeClr val="tx1"/>
          </a:solidFill>
          <a:ln w="25400">
            <a:solidFill>
              <a:schemeClr val="accent3"/>
            </a:solidFill>
            <a:prstDash val="solid"/>
          </a:ln>
        </p:spPr>
      </p:sp>
      <p:sp>
        <p:nvSpPr>
          <p:cNvPr id="25" name="motif node 4"/>
          <p:cNvSpPr/>
          <p:nvPr/>
        </p:nvSpPr>
        <p:spPr>
          <a:xfrm>
            <a:off x="9979304" y="3848252"/>
            <a:ext cx="249631" cy="249631"/>
          </a:xfrm>
          <a:prstGeom prst="ellipse">
            <a:avLst/>
          </a:prstGeom>
          <a:solidFill>
            <a:schemeClr val="tx1"/>
          </a:solidFill>
          <a:ln w="25400">
            <a:solidFill>
              <a:schemeClr val="accent3"/>
            </a:solidFill>
            <a:prstDash val="solid"/>
          </a:ln>
        </p:spPr>
      </p:sp>
      <p:sp>
        <p:nvSpPr>
          <p:cNvPr id="26" name="motif node 5"/>
          <p:cNvSpPr/>
          <p:nvPr/>
        </p:nvSpPr>
        <p:spPr>
          <a:xfrm>
            <a:off x="11131448" y="1255928"/>
            <a:ext cx="249631" cy="249631"/>
          </a:xfrm>
          <a:prstGeom prst="ellipse">
            <a:avLst/>
          </a:prstGeom>
          <a:solidFill>
            <a:schemeClr val="tx1"/>
          </a:solidFill>
          <a:ln w="25400">
            <a:solidFill>
              <a:schemeClr val="accent3"/>
            </a:solidFill>
            <a:prstDash val="solid"/>
          </a:ln>
        </p:spPr>
      </p:sp>
      <p:sp>
        <p:nvSpPr>
          <p:cNvPr id="27" name="motif node 6"/>
          <p:cNvSpPr/>
          <p:nvPr/>
        </p:nvSpPr>
        <p:spPr>
          <a:xfrm>
            <a:off x="11323472" y="2984144"/>
            <a:ext cx="249631" cy="249631"/>
          </a:xfrm>
          <a:prstGeom prst="ellipse">
            <a:avLst/>
          </a:prstGeom>
          <a:solidFill>
            <a:schemeClr val="tx1"/>
          </a:solidFill>
          <a:ln w="25400">
            <a:solidFill>
              <a:schemeClr val="accent3"/>
            </a:solidFill>
            <a:prstDash val="solid"/>
          </a:ln>
        </p:spPr>
      </p:sp>
      <p:sp>
        <p:nvSpPr>
          <p:cNvPr id="28" name="motif node 7"/>
          <p:cNvSpPr/>
          <p:nvPr/>
        </p:nvSpPr>
        <p:spPr>
          <a:xfrm>
            <a:off x="10651388" y="4616348"/>
            <a:ext cx="249631" cy="249631"/>
          </a:xfrm>
          <a:prstGeom prst="ellipse">
            <a:avLst/>
          </a:prstGeom>
          <a:solidFill>
            <a:schemeClr val="tx1"/>
          </a:solidFill>
          <a:ln w="25400">
            <a:solidFill>
              <a:schemeClr val="accent3"/>
            </a:solidFill>
            <a:prstDash val="solid"/>
          </a:ln>
        </p:spPr>
      </p:sp>
      <p:sp>
        <p:nvSpPr>
          <p:cNvPr id="29" name="motif node 8"/>
          <p:cNvSpPr/>
          <p:nvPr/>
        </p:nvSpPr>
        <p:spPr>
          <a:xfrm>
            <a:off x="8347100" y="4424324"/>
            <a:ext cx="249631" cy="249631"/>
          </a:xfrm>
          <a:prstGeom prst="ellipse">
            <a:avLst/>
          </a:prstGeom>
          <a:solidFill>
            <a:schemeClr val="tx1"/>
          </a:solidFill>
          <a:ln w="25400">
            <a:solidFill>
              <a:schemeClr val="accent3"/>
            </a:solidFill>
            <a:prstDash val="solid"/>
          </a:ln>
        </p:spPr>
      </p:sp>
      <p:sp>
        <p:nvSpPr>
          <p:cNvPr id="30" name="motif node 9"/>
          <p:cNvSpPr/>
          <p:nvPr/>
        </p:nvSpPr>
        <p:spPr>
          <a:xfrm>
            <a:off x="11515496" y="4136288"/>
            <a:ext cx="249631" cy="249631"/>
          </a:xfrm>
          <a:prstGeom prst="ellipse">
            <a:avLst/>
          </a:prstGeom>
          <a:solidFill>
            <a:schemeClr val="tx1"/>
          </a:solidFill>
          <a:ln w="25400">
            <a:solidFill>
              <a:schemeClr val="accent3"/>
            </a:solidFill>
            <a:prstDash val="solid"/>
          </a:ln>
        </p:spPr>
      </p:sp>
    </p:spTree>
  </p:cSld>
  <p:clrMapOvr>
    <a:masterClrMapping/>
  </p:clrMapOvr>
</p:sld>
</file>

<file path=ppt/theme/theme1.xml><?xml version="1.0" encoding="utf-8"?>
<a:theme xmlns:a="http://schemas.openxmlformats.org/drawingml/2006/main" name="MACUG Security and AI">
  <a:themeElements>
    <a:clrScheme name="MACUG Security and AI">
      <a:dk1>
        <a:srgbClr val="000C25"/>
      </a:dk1>
      <a:lt1>
        <a:srgbClr val="FFFFFF"/>
      </a:lt1>
      <a:dk2>
        <a:srgbClr val="0A1B3D"/>
      </a:dk2>
      <a:lt2>
        <a:srgbClr val="B7C3D6"/>
      </a:lt2>
      <a:accent1>
        <a:srgbClr val="1AA7F0"/>
      </a:accent1>
      <a:accent2>
        <a:srgbClr val="0B3DB5"/>
      </a:accent2>
      <a:accent3>
        <a:srgbClr val="5CC6F2"/>
      </a:accent3>
      <a:accent4>
        <a:srgbClr val="1E3A6E"/>
      </a:accent4>
      <a:accent5>
        <a:srgbClr val="6B7A93"/>
      </a:accent5>
      <a:accent6>
        <a:srgbClr val="E8EEF6"/>
      </a:accent6>
      <a:hlink>
        <a:srgbClr val="1AA7F0"/>
      </a:hlink>
      <a:folHlink>
        <a:srgbClr val="5CC6F2"/>
      </a:folHlink>
    </a:clrScheme>
    <a:fontScheme name="MACUG Security and AI">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3537</Words>
  <Application>Microsoft Office PowerPoint</Application>
  <PresentationFormat>Widescreen</PresentationFormat>
  <Paragraphs>259</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Courier New</vt:lpstr>
      <vt:lpstr>MACUG Security and AI</vt:lpstr>
      <vt:lpstr>SECURITY AND AI</vt:lpstr>
      <vt:lpstr>ABOUT ME</vt:lpstr>
      <vt:lpstr>LISTS VS GRAPHS</vt:lpstr>
      <vt:lpstr>TONIGHT </vt:lpstr>
      <vt:lpstr>MCP: A USB PORT FOR AI</vt:lpstr>
      <vt:lpstr>WHY MCP FITS SECURITY TOOLING</vt:lpstr>
      <vt:lpstr>HOW THE MAP IS BUILT</vt:lpstr>
      <vt:lpstr>EVERY REFERENCE BECOMES AN EDGE</vt:lpstr>
      <vt:lpstr>READ THE GRAPH LIKE AN ATTACKER</vt:lpstr>
      <vt:lpstr>LIVE DEMO</vt:lpstr>
      <vt:lpstr>READ-ONLY BY DESIGN</vt:lpstr>
      <vt:lpstr>LEAK DETECTION</vt:lpstr>
      <vt:lpstr>THE PRECISION RULE</vt:lpstr>
      <vt:lpstr>LESSONS FROM A LIVE SUBSCRIPTION</vt:lpstr>
      <vt:lpstr>THE SAME MAP, TWO MORE QUESTIONS</vt:lpstr>
      <vt:lpstr>THREE THINGS TO TAKE HOME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See Your Attack Surface: Mapping Azure with an MCP Server</dc:title>
  <dc:subject>TOMVP</dc:subject>
  <dc:creator>Konstantinos Lianos</dc:creator>
  <cp:lastModifiedBy>Konstantinos Lianos</cp:lastModifiedBy>
  <cp:revision>2</cp:revision>
  <dcterms:created xsi:type="dcterms:W3CDTF">2026-10-12T18:59:11Z</dcterms:created>
  <dcterms:modified xsi:type="dcterms:W3CDTF">2026-10-12T18:59:46Z</dcterms:modified>
</cp:coreProperties>
</file>